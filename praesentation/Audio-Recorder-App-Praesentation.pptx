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Wir haben eine App zum Aufnehmen von Sprachnotizen gebaut. Der Vortrag geht nicht durch den Code, sondern durch unser Vorgehen, die Probleme unterwegs und das, was wir daraus mitnehmen.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Elf funktionale Anforderungen, dazu die Rahmenbedingungen. Wichtig für später: Die Aufgabe nennt fünf konkrete Plugins beim Namen — das ist keine Empfehlung, sondern eine Vorgabe.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Blick auf das fertige Ergebnis. Alle elf Anforderungen sind umgesetzt. Bemerkenswert: Die gesamte App-Logik steckt in einer einzigen JavaScript-Datei — dazu später mehr beim Thema Dateistruktur. Direkt im Anschluss folgt die Live-Demo - hier also nicht zu lange aufhalten.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Programmpunkt Live-Demo. Reihenfolge bewusst so gewaehlt, dass jede der elf Anforderungen einmal vorkommt und die Persistenz am Ende sichtbar wird. Das Geraet vorher entsperrt und mit einer Beispielaufnahme vorbereitet halten, falls die Aufnahme live nicht klappt.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die drei Ansätze gegenübergestellt. Entschieden hat am Ende nicht die Abwägung, sondern die Aufgabenstellung: Die fünf vorgegebenen Plugins existieren ausschließlich für Capacitor. Damit war hybrid gesetzt.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fuenf Plugins links, der Mechanismus rechts. Kernaussage: Ein Plugin ist nativer Android-Code mit einer JavaScript-Schnittstelle davor. Wir schreiben AudioRecorder.startRecording(), die Bridge reicht das durch, und unten laeuft ganz gewoehnlicher Kotlin-Code gegen die Android-Schnittstellen. Ohne Plugin gibt es keinen Zugriff - genau das ist der Preis des hybriden Ansatzes.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Fünf Phasen. Der dritte Schritt ist der interessante: Wir mussten einen fertigen, funktionierenden Stand wegwerfen, weil er die Aufgabe nicht erfüllt hat. Warum, das kommt auf der übernächsten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Claude und Gemini als Agenten eingesetzt — also nicht nur zum Fragen, sondern zum Arbeiten am Projekt. Der größte Nutzen lag beim Überblick: Ein Android-Projekt erzeugt auf einen Schlag sechzig Dateien, und ohne Vorwissen sieht man nicht, welche fünf davon zählen. Die Kehrseite steht rechts — und die hat uns tatsächlich getroffen, siehe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war unser größtes Problem — und es sah lange wie gar keines aus. Die App lief, die Liste funktionierte, Aufnehmen und Abspielen ging. Nur war es eine native Kotlin-App, in der die geforderten Plugins nachgebaut statt benutzt wurden. Im Quelltext standen sogar Kommentare wie "ahmt das Filesystem-Plugin nach". Aufgefallen ist es erst beim Abgleich mit der Aufgabenstellung — nicht beim Testen.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Blocker lagen außerhalb unseres Codes. Das erste kostet besonders viel Zeit, weil die Fehlermeldung in die Irre führt: Sie klingt nach einem Sicherheitsproblem auf unserer Seite, tatsächlich war die Adresse schlicht veraltet. Das zweite Problem haben wir nicht nur bei uns gelöst, sondern im Projekt festgeschrieben — damit es niemand sonst noch einmal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Dinge, die man einer Plattform nicht ansieht, bis man dagegen läuft. Gemeinsamer Nenner: Alle drei sind in der Dokumentation beschrieben — zwei davon sogar in den Tipps der Aufgabenstellung. Wir haben sie erst verstanden, nachdem wir den Fehler hatten.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Schlüssel lag im Quelltext, weil eine frühere Fassung ihn dort brauchte. Der eigentliche Fehler war nicht das Hinschreiben, sondern dass es niemandem auffiel, bevor das Repository öffentlich war. Wichtig zu verstehen: Eine Datei zu löschen reicht nicht — die Versionsverwaltung hebt jede frühere Fassung auf. Es musste die komplette Historie umgeschrieben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Punkt, der uns am meisten geärgert hat. Der ganze Sinn eines hybriden Ansatzes ist, dass man einmal schreibt und auf beiden Systemen ausliefert. Genau das konnten wir nicht zeigen — nicht weil der Code es nicht hergäbe, sondern weil ein iOS-Build zwingend einen Mac voraussetzt. Die Plattformunabhängigkeit der Software hilft nichts gegen die Geräteabhängigkeit der Werkzeuge.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Sechs Punkte, die über dieses Projekt hinaus gelten. Der erste ist für uns der wichtigste: Wir hatten eine funktionierende App, die die Aufgabe verfehlt hat — und haben das nicht beim Testen gemerkt, sondern erst beim Abgleich mit dem Aufgabenblatt.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Wichtigste Botschaft: Der schwierige Teil lag nicht im Code, sondern drumherum — und die entscheidende Entscheidung war, einen funktionierenden Stand aufzugeben. Danach Raum für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640080" y="1783080"/>
            <a:ext cx="457200" cy="457200"/>
          </a:xfrm>
          <a:prstGeom prst="ellipse">
            <a:avLst/>
          </a:prstGeom>
          <a:solidFill>
            <a:srgbClr val="E23E3E"/>
          </a:solidFill>
          <a:ln/>
        </p:spPr>
      </p:sp>
      <p:sp>
        <p:nvSpPr>
          <p:cNvPr id="3" name="Text 1"/>
          <p:cNvSpPr/>
          <p:nvPr/>
        </p:nvSpPr>
        <p:spPr>
          <a:xfrm>
            <a:off x="640080" y="2377440"/>
            <a:ext cx="10911535"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Audio Recorder App</a:t>
            </a:r>
            <a:endParaRPr lang="en-US" sz="4800" dirty="0"/>
          </a:p>
        </p:txBody>
      </p:sp>
      <p:sp>
        <p:nvSpPr>
          <p:cNvPr id="4" name="Text 2"/>
          <p:cNvSpPr/>
          <p:nvPr/>
        </p:nvSpPr>
        <p:spPr>
          <a:xfrm>
            <a:off x="640080" y="3291840"/>
            <a:ext cx="10911535" cy="457200"/>
          </a:xfrm>
          <a:prstGeom prst="rect">
            <a:avLst/>
          </a:prstGeom>
          <a:noFill/>
          <a:ln/>
        </p:spPr>
        <p:txBody>
          <a:bodyPr wrap="square" lIns="0" tIns="0" rIns="0" bIns="0" rtlCol="0" anchor="ctr"/>
          <a:lstStyle/>
          <a:p>
            <a:pPr indent="0" marL="0">
              <a:buNone/>
            </a:pPr>
            <a:r>
              <a:rPr lang="en-US" sz="2000" dirty="0">
                <a:solidFill>
                  <a:srgbClr val="9AA4B2"/>
                </a:solidFill>
                <a:latin typeface="Calibri" pitchFamily="34" charset="0"/>
                <a:ea typeface="Calibri" pitchFamily="34" charset="-122"/>
                <a:cs typeface="Calibri" pitchFamily="34" charset="-120"/>
              </a:rPr>
              <a:t>Eine hybride Android-App mit Ionic Capacitor</a:t>
            </a:r>
            <a:endParaRPr lang="en-US" sz="2000" dirty="0"/>
          </a:p>
        </p:txBody>
      </p:sp>
      <p:sp>
        <p:nvSpPr>
          <p:cNvPr id="5" name="Text 3"/>
          <p:cNvSpPr/>
          <p:nvPr/>
        </p:nvSpPr>
        <p:spPr>
          <a:xfrm>
            <a:off x="640080" y="5760720"/>
            <a:ext cx="10911535" cy="365760"/>
          </a:xfrm>
          <a:prstGeom prst="rect">
            <a:avLst/>
          </a:prstGeom>
          <a:noFill/>
          <a:ln/>
        </p:spPr>
        <p:txBody>
          <a:bodyPr wrap="square" lIns="0" tIns="0" rIns="0" bIns="0" rtlCol="0" anchor="ctr"/>
          <a:lstStyle/>
          <a:p>
            <a:pPr indent="0" marL="0">
              <a:buNone/>
            </a:pPr>
            <a:r>
              <a:rPr lang="en-US" sz="1300" dirty="0">
                <a:solidFill>
                  <a:srgbClr val="6B7683"/>
                </a:solidFill>
                <a:latin typeface="Calibri" pitchFamily="34" charset="0"/>
                <a:ea typeface="Calibri" pitchFamily="34" charset="-122"/>
                <a:cs typeface="Calibri" pitchFamily="34" charset="-120"/>
              </a:rPr>
              <a:t>Fallstudie Hybride App-Entwicklung  ·  Gruppe [Namen ergänzen]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Die Aufgabe</a:t>
            </a:r>
            <a:endParaRPr lang="en-US" sz="3200" dirty="0"/>
          </a:p>
        </p:txBody>
      </p:sp>
      <p:sp>
        <p:nvSpPr>
          <p:cNvPr id="4" name="Shape 2"/>
          <p:cNvSpPr/>
          <p:nvPr/>
        </p:nvSpPr>
        <p:spPr>
          <a:xfrm>
            <a:off x="640080" y="1463040"/>
            <a:ext cx="5227168" cy="4480560"/>
          </a:xfrm>
          <a:prstGeom prst="roundRect">
            <a:avLst>
              <a:gd name="adj" fmla="val 1633"/>
            </a:avLst>
          </a:prstGeom>
          <a:solidFill>
            <a:srgbClr val="F4F5F7"/>
          </a:solidFill>
          <a:ln/>
        </p:spPr>
      </p:sp>
      <p:sp>
        <p:nvSpPr>
          <p:cNvPr id="5" name="Text 3"/>
          <p:cNvSpPr/>
          <p:nvPr/>
        </p:nvSpPr>
        <p:spPr>
          <a:xfrm>
            <a:off x="960120" y="1691640"/>
            <a:ext cx="4587088" cy="32004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Funktionale Anforderungen</a:t>
            </a:r>
            <a:endParaRPr lang="en-US" sz="1600" dirty="0"/>
          </a:p>
        </p:txBody>
      </p:sp>
      <p:sp>
        <p:nvSpPr>
          <p:cNvPr id="6" name="Text 4"/>
          <p:cNvSpPr/>
          <p:nvPr/>
        </p:nvSpPr>
        <p:spPr>
          <a:xfrm>
            <a:off x="960120" y="2148840"/>
            <a:ext cx="4587088"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Aufnehmen, pausieren, fortsetzen</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Listenansicht mit allen Dateinamen</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Neue Aufnahme sofort in der Liste</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Abspielen und Wiedergabe stoppen</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Teilen über den System-Dialog</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Löschen einzelner Aufnahmen</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Aufnahmen überleben den Neustart</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Berechtigungen selbst anfragen</a:t>
            </a:r>
            <a:endParaRPr lang="en-US" sz="1400" dirty="0"/>
          </a:p>
        </p:txBody>
      </p:sp>
      <p:sp>
        <p:nvSpPr>
          <p:cNvPr id="7" name="Shape 5"/>
          <p:cNvSpPr/>
          <p:nvPr/>
        </p:nvSpPr>
        <p:spPr>
          <a:xfrm>
            <a:off x="6324448" y="1463040"/>
            <a:ext cx="5227168" cy="4480560"/>
          </a:xfrm>
          <a:prstGeom prst="roundRect">
            <a:avLst>
              <a:gd name="adj" fmla="val 1633"/>
            </a:avLst>
          </a:prstGeom>
          <a:solidFill>
            <a:srgbClr val="F4F5F7"/>
          </a:solidFill>
          <a:ln/>
        </p:spPr>
      </p:sp>
      <p:sp>
        <p:nvSpPr>
          <p:cNvPr id="8" name="Text 6"/>
          <p:cNvSpPr/>
          <p:nvPr/>
        </p:nvSpPr>
        <p:spPr>
          <a:xfrm>
            <a:off x="6644488" y="1691640"/>
            <a:ext cx="4587088" cy="32004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Rahmenbedingungen</a:t>
            </a:r>
            <a:endParaRPr lang="en-US" sz="1600" dirty="0"/>
          </a:p>
        </p:txBody>
      </p:sp>
      <p:sp>
        <p:nvSpPr>
          <p:cNvPr id="9" name="Text 7"/>
          <p:cNvSpPr/>
          <p:nvPr/>
        </p:nvSpPr>
        <p:spPr>
          <a:xfrm>
            <a:off x="6644488" y="2148840"/>
            <a:ext cx="4587088"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Fünf vorgegebene Capacitor-Plugins</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Zwei davon kostenpflichtig, mit Lizenzschlüssel</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Lizenzschlüssel darf nicht veröffentlicht werden</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Physisches Gerät mit Mikrofon nötig</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Schlichtes Design genügt</a:t>
            </a:r>
            <a:endParaRPr lang="en-US" sz="1400" dirty="0"/>
          </a:p>
          <a:p>
            <a:pPr marL="342900" indent="-342900">
              <a:spcAft>
                <a:spcPts val="800"/>
              </a:spcAft>
              <a:buSzPct val="100000"/>
              <a:buChar char="•"/>
            </a:pPr>
            <a:r>
              <a:rPr lang="en-US" sz="1400" dirty="0">
                <a:solidFill>
                  <a:srgbClr val="374151"/>
                </a:solidFill>
                <a:latin typeface="Calibri" pitchFamily="34" charset="0"/>
                <a:ea typeface="Calibri" pitchFamily="34" charset="-122"/>
                <a:cs typeface="Calibri" pitchFamily="34" charset="-120"/>
              </a:rPr>
              <a:t>Abgabe als öffentliches GitHub-Repository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Das Ergebnis</a:t>
            </a:r>
            <a:endParaRPr lang="en-US" sz="3200" dirty="0"/>
          </a:p>
        </p:txBody>
      </p:sp>
      <p:sp>
        <p:nvSpPr>
          <p:cNvPr id="4" name="Shape 2"/>
          <p:cNvSpPr/>
          <p:nvPr/>
        </p:nvSpPr>
        <p:spPr>
          <a:xfrm>
            <a:off x="640080" y="1554480"/>
            <a:ext cx="3393338" cy="1508760"/>
          </a:xfrm>
          <a:prstGeom prst="roundRect">
            <a:avLst>
              <a:gd name="adj" fmla="val 4848"/>
            </a:avLst>
          </a:prstGeom>
          <a:solidFill>
            <a:srgbClr val="F4F5F7"/>
          </a:solidFill>
          <a:ln/>
        </p:spPr>
      </p:sp>
      <p:sp>
        <p:nvSpPr>
          <p:cNvPr id="5" name="Text 3"/>
          <p:cNvSpPr/>
          <p:nvPr/>
        </p:nvSpPr>
        <p:spPr>
          <a:xfrm>
            <a:off x="914400" y="1737360"/>
            <a:ext cx="2844698" cy="731520"/>
          </a:xfrm>
          <a:prstGeom prst="rect">
            <a:avLst/>
          </a:prstGeom>
          <a:noFill/>
          <a:ln/>
        </p:spPr>
        <p:txBody>
          <a:bodyPr wrap="square" lIns="0" tIns="0" rIns="0" bIns="0" rtlCol="0" anchor="ctr"/>
          <a:lstStyle/>
          <a:p>
            <a:pPr indent="0" marL="0">
              <a:buNone/>
            </a:pPr>
            <a:r>
              <a:rPr lang="en-US" sz="4000" b="1" dirty="0">
                <a:solidFill>
                  <a:srgbClr val="E23E3E"/>
                </a:solidFill>
                <a:latin typeface="Cambria" pitchFamily="34" charset="0"/>
                <a:ea typeface="Cambria" pitchFamily="34" charset="-122"/>
                <a:cs typeface="Cambria" pitchFamily="34" charset="-120"/>
              </a:rPr>
              <a:t>11 / 11</a:t>
            </a:r>
            <a:endParaRPr lang="en-US" sz="4000" dirty="0"/>
          </a:p>
        </p:txBody>
      </p:sp>
      <p:sp>
        <p:nvSpPr>
          <p:cNvPr id="6" name="Text 4"/>
          <p:cNvSpPr/>
          <p:nvPr/>
        </p:nvSpPr>
        <p:spPr>
          <a:xfrm>
            <a:off x="914400" y="2487168"/>
            <a:ext cx="2844698"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Anforderungen erfüllt</a:t>
            </a:r>
            <a:endParaRPr lang="en-US" sz="1300" dirty="0"/>
          </a:p>
        </p:txBody>
      </p:sp>
      <p:sp>
        <p:nvSpPr>
          <p:cNvPr id="7" name="Shape 5"/>
          <p:cNvSpPr/>
          <p:nvPr/>
        </p:nvSpPr>
        <p:spPr>
          <a:xfrm>
            <a:off x="4399178" y="1554480"/>
            <a:ext cx="3393338" cy="1508760"/>
          </a:xfrm>
          <a:prstGeom prst="roundRect">
            <a:avLst>
              <a:gd name="adj" fmla="val 4848"/>
            </a:avLst>
          </a:prstGeom>
          <a:solidFill>
            <a:srgbClr val="F4F5F7"/>
          </a:solidFill>
          <a:ln/>
        </p:spPr>
      </p:sp>
      <p:sp>
        <p:nvSpPr>
          <p:cNvPr id="8" name="Text 6"/>
          <p:cNvSpPr/>
          <p:nvPr/>
        </p:nvSpPr>
        <p:spPr>
          <a:xfrm>
            <a:off x="4673498" y="1737360"/>
            <a:ext cx="2844698" cy="731520"/>
          </a:xfrm>
          <a:prstGeom prst="rect">
            <a:avLst/>
          </a:prstGeom>
          <a:noFill/>
          <a:ln/>
        </p:spPr>
        <p:txBody>
          <a:bodyPr wrap="square" lIns="0" tIns="0" rIns="0" bIns="0" rtlCol="0" anchor="ctr"/>
          <a:lstStyle/>
          <a:p>
            <a:pPr indent="0" marL="0">
              <a:buNone/>
            </a:pPr>
            <a:r>
              <a:rPr lang="en-US" sz="4000" b="1" dirty="0">
                <a:solidFill>
                  <a:srgbClr val="111827"/>
                </a:solidFill>
                <a:latin typeface="Cambria" pitchFamily="34" charset="0"/>
                <a:ea typeface="Cambria" pitchFamily="34" charset="-122"/>
                <a:cs typeface="Cambria" pitchFamily="34" charset="-120"/>
              </a:rPr>
              <a:t>5</a:t>
            </a:r>
            <a:endParaRPr lang="en-US" sz="4000" dirty="0"/>
          </a:p>
        </p:txBody>
      </p:sp>
      <p:sp>
        <p:nvSpPr>
          <p:cNvPr id="9" name="Text 7"/>
          <p:cNvSpPr/>
          <p:nvPr/>
        </p:nvSpPr>
        <p:spPr>
          <a:xfrm>
            <a:off x="4673498" y="2487168"/>
            <a:ext cx="2844698"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eingebundene Plugins</a:t>
            </a:r>
            <a:endParaRPr lang="en-US" sz="1300" dirty="0"/>
          </a:p>
        </p:txBody>
      </p:sp>
      <p:sp>
        <p:nvSpPr>
          <p:cNvPr id="10" name="Shape 8"/>
          <p:cNvSpPr/>
          <p:nvPr/>
        </p:nvSpPr>
        <p:spPr>
          <a:xfrm>
            <a:off x="8158277" y="1554480"/>
            <a:ext cx="3393338" cy="1508760"/>
          </a:xfrm>
          <a:prstGeom prst="roundRect">
            <a:avLst>
              <a:gd name="adj" fmla="val 4848"/>
            </a:avLst>
          </a:prstGeom>
          <a:solidFill>
            <a:srgbClr val="F4F5F7"/>
          </a:solidFill>
          <a:ln/>
        </p:spPr>
      </p:sp>
      <p:sp>
        <p:nvSpPr>
          <p:cNvPr id="11" name="Text 9"/>
          <p:cNvSpPr/>
          <p:nvPr/>
        </p:nvSpPr>
        <p:spPr>
          <a:xfrm>
            <a:off x="8432597" y="1737360"/>
            <a:ext cx="2844698" cy="731520"/>
          </a:xfrm>
          <a:prstGeom prst="rect">
            <a:avLst/>
          </a:prstGeom>
          <a:noFill/>
          <a:ln/>
        </p:spPr>
        <p:txBody>
          <a:bodyPr wrap="square" lIns="0" tIns="0" rIns="0" bIns="0" rtlCol="0" anchor="ctr"/>
          <a:lstStyle/>
          <a:p>
            <a:pPr indent="0" marL="0">
              <a:buNone/>
            </a:pPr>
            <a:r>
              <a:rPr lang="en-US" sz="4000" b="1" dirty="0">
                <a:solidFill>
                  <a:srgbClr val="111827"/>
                </a:solidFill>
                <a:latin typeface="Cambria" pitchFamily="34" charset="0"/>
                <a:ea typeface="Cambria" pitchFamily="34" charset="-122"/>
                <a:cs typeface="Cambria" pitchFamily="34" charset="-120"/>
              </a:rPr>
              <a:t>1</a:t>
            </a:r>
            <a:endParaRPr lang="en-US" sz="4000" dirty="0"/>
          </a:p>
        </p:txBody>
      </p:sp>
      <p:sp>
        <p:nvSpPr>
          <p:cNvPr id="12" name="Text 10"/>
          <p:cNvSpPr/>
          <p:nvPr/>
        </p:nvSpPr>
        <p:spPr>
          <a:xfrm>
            <a:off x="8432597" y="2487168"/>
            <a:ext cx="2844698"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Datei mit der gesamten Logik</a:t>
            </a:r>
            <a:endParaRPr lang="en-US" sz="1300" dirty="0"/>
          </a:p>
        </p:txBody>
      </p:sp>
      <p:sp>
        <p:nvSpPr>
          <p:cNvPr id="13" name="Text 11"/>
          <p:cNvSpPr/>
          <p:nvPr/>
        </p:nvSpPr>
        <p:spPr>
          <a:xfrm>
            <a:off x="640080" y="3383280"/>
            <a:ext cx="10911535" cy="32004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Was die App kann</a:t>
            </a:r>
            <a:endParaRPr lang="en-US" sz="1600" dirty="0"/>
          </a:p>
        </p:txBody>
      </p:sp>
      <p:sp>
        <p:nvSpPr>
          <p:cNvPr id="14" name="Text 12"/>
          <p:cNvSpPr/>
          <p:nvPr/>
        </p:nvSpPr>
        <p:spPr>
          <a:xfrm>
            <a:off x="640080" y="3840480"/>
            <a:ext cx="10911535" cy="20116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74151"/>
                </a:solidFill>
                <a:latin typeface="Calibri" pitchFamily="34" charset="0"/>
                <a:ea typeface="Calibri" pitchFamily="34" charset="-122"/>
                <a:cs typeface="Calibri" pitchFamily="34" charset="-120"/>
              </a:rPr>
              <a:t>Sprachnotizen aufnehmen — mit Pause und Fortsetzen, samt laufender Zeitanzeige</a:t>
            </a:r>
            <a:endParaRPr lang="en-US" sz="1400" dirty="0"/>
          </a:p>
          <a:p>
            <a:pPr marL="342900" indent="-342900">
              <a:spcAft>
                <a:spcPts val="1000"/>
              </a:spcAft>
              <a:buSzPct val="100000"/>
              <a:buChar char="•"/>
            </a:pPr>
            <a:r>
              <a:rPr lang="en-US" sz="1400" dirty="0">
                <a:solidFill>
                  <a:srgbClr val="374151"/>
                </a:solidFill>
                <a:latin typeface="Calibri" pitchFamily="34" charset="0"/>
                <a:ea typeface="Calibri" pitchFamily="34" charset="-122"/>
                <a:cs typeface="Calibri" pitchFamily="34" charset="-120"/>
              </a:rPr>
              <a:t>Alle Aufnahmen in einer Liste, sortiert nach Datum, mit Zeitstempel im Dateinamen</a:t>
            </a:r>
            <a:endParaRPr lang="en-US" sz="1400" dirty="0"/>
          </a:p>
          <a:p>
            <a:pPr marL="342900" indent="-342900">
              <a:spcAft>
                <a:spcPts val="1000"/>
              </a:spcAft>
              <a:buSzPct val="100000"/>
              <a:buChar char="•"/>
            </a:pPr>
            <a:r>
              <a:rPr lang="en-US" sz="1400" dirty="0">
                <a:solidFill>
                  <a:srgbClr val="374151"/>
                </a:solidFill>
                <a:latin typeface="Calibri" pitchFamily="34" charset="0"/>
                <a:ea typeface="Calibri" pitchFamily="34" charset="-122"/>
                <a:cs typeface="Calibri" pitchFamily="34" charset="-120"/>
              </a:rPr>
              <a:t>Abspielen mit Fortschrittsbalken, jederzeit stoppbar</a:t>
            </a:r>
            <a:endParaRPr lang="en-US" sz="1400" dirty="0"/>
          </a:p>
          <a:p>
            <a:pPr marL="342900" indent="-342900">
              <a:spcAft>
                <a:spcPts val="1000"/>
              </a:spcAft>
              <a:buSzPct val="100000"/>
              <a:buChar char="•"/>
            </a:pPr>
            <a:r>
              <a:rPr lang="en-US" sz="1400" dirty="0">
                <a:solidFill>
                  <a:srgbClr val="374151"/>
                </a:solidFill>
                <a:latin typeface="Calibri" pitchFamily="34" charset="0"/>
                <a:ea typeface="Calibri" pitchFamily="34" charset="-122"/>
                <a:cs typeface="Calibri" pitchFamily="34" charset="-120"/>
              </a:rPr>
              <a:t>Teilen an jede andere App und Löschen direkt aus der Liste</a:t>
            </a:r>
            <a:endParaRPr lang="en-US" sz="1400" dirty="0"/>
          </a:p>
          <a:p>
            <a:pPr marL="342900" indent="-342900">
              <a:spcAft>
                <a:spcPts val="1000"/>
              </a:spcAft>
              <a:buSzPct val="100000"/>
              <a:buChar char="•"/>
            </a:pPr>
            <a:r>
              <a:rPr lang="en-US" sz="1400" dirty="0">
                <a:solidFill>
                  <a:srgbClr val="374151"/>
                </a:solidFill>
                <a:latin typeface="Calibri" pitchFamily="34" charset="0"/>
                <a:ea typeface="Calibri" pitchFamily="34" charset="-122"/>
                <a:cs typeface="Calibri" pitchFamily="34" charset="-120"/>
              </a:rPr>
              <a:t>Aufnahmen bleiben erhalten, bis der Nutzer sie löscht oder die App deinstalliert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640080" y="1417320"/>
            <a:ext cx="365760" cy="365760"/>
          </a:xfrm>
          <a:prstGeom prst="ellipse">
            <a:avLst/>
          </a:prstGeom>
          <a:solidFill>
            <a:srgbClr val="E23E3E"/>
          </a:solidFill>
          <a:ln/>
        </p:spPr>
      </p:sp>
      <p:sp>
        <p:nvSpPr>
          <p:cNvPr id="3" name="Text 1"/>
          <p:cNvSpPr/>
          <p:nvPr/>
        </p:nvSpPr>
        <p:spPr>
          <a:xfrm>
            <a:off x="640080" y="1920240"/>
            <a:ext cx="10911535"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Live-Demo</a:t>
            </a:r>
            <a:endParaRPr lang="en-US" sz="4400" dirty="0"/>
          </a:p>
        </p:txBody>
      </p:sp>
      <p:sp>
        <p:nvSpPr>
          <p:cNvPr id="4" name="Text 2"/>
          <p:cNvSpPr/>
          <p:nvPr/>
        </p:nvSpPr>
        <p:spPr>
          <a:xfrm>
            <a:off x="640080" y="2743200"/>
            <a:ext cx="10911535" cy="411480"/>
          </a:xfrm>
          <a:prstGeom prst="rect">
            <a:avLst/>
          </a:prstGeom>
          <a:noFill/>
          <a:ln/>
        </p:spPr>
        <p:txBody>
          <a:bodyPr wrap="square" lIns="0" tIns="0" rIns="0" bIns="0" rtlCol="0" anchor="ctr"/>
          <a:lstStyle/>
          <a:p>
            <a:pPr indent="0" marL="0">
              <a:buNone/>
            </a:pPr>
            <a:r>
              <a:rPr lang="en-US" sz="1700" dirty="0">
                <a:solidFill>
                  <a:srgbClr val="9AA4B2"/>
                </a:solidFill>
                <a:latin typeface="Calibri" pitchFamily="34" charset="0"/>
                <a:ea typeface="Calibri" pitchFamily="34" charset="-122"/>
                <a:cs typeface="Calibri" pitchFamily="34" charset="-120"/>
              </a:rPr>
              <a:t>am Gerät, nicht im Emulator</a:t>
            </a:r>
            <a:endParaRPr lang="en-US" sz="1700" dirty="0"/>
          </a:p>
        </p:txBody>
      </p:sp>
      <p:sp>
        <p:nvSpPr>
          <p:cNvPr id="5" name="Shape 3"/>
          <p:cNvSpPr/>
          <p:nvPr/>
        </p:nvSpPr>
        <p:spPr>
          <a:xfrm>
            <a:off x="640080" y="3566160"/>
            <a:ext cx="384048" cy="384048"/>
          </a:xfrm>
          <a:prstGeom prst="ellipse">
            <a:avLst/>
          </a:prstGeom>
          <a:solidFill>
            <a:srgbClr val="E23E3E"/>
          </a:solidFill>
          <a:ln/>
        </p:spPr>
      </p:sp>
      <p:sp>
        <p:nvSpPr>
          <p:cNvPr id="6" name="Text 4"/>
          <p:cNvSpPr/>
          <p:nvPr/>
        </p:nvSpPr>
        <p:spPr>
          <a:xfrm>
            <a:off x="640080" y="3566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88720" y="3566160"/>
            <a:ext cx="4678528" cy="45720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Aufnehmen, pausieren, fortsetzen, stoppen</a:t>
            </a:r>
            <a:endParaRPr lang="en-US" sz="1400" dirty="0"/>
          </a:p>
        </p:txBody>
      </p:sp>
      <p:sp>
        <p:nvSpPr>
          <p:cNvPr id="8" name="Shape 6"/>
          <p:cNvSpPr/>
          <p:nvPr/>
        </p:nvSpPr>
        <p:spPr>
          <a:xfrm>
            <a:off x="6324448" y="3566160"/>
            <a:ext cx="384048" cy="384048"/>
          </a:xfrm>
          <a:prstGeom prst="ellipse">
            <a:avLst/>
          </a:prstGeom>
          <a:solidFill>
            <a:srgbClr val="2F6FED"/>
          </a:solidFill>
          <a:ln/>
        </p:spPr>
      </p:sp>
      <p:sp>
        <p:nvSpPr>
          <p:cNvPr id="9" name="Text 7"/>
          <p:cNvSpPr/>
          <p:nvPr/>
        </p:nvSpPr>
        <p:spPr>
          <a:xfrm>
            <a:off x="6324448" y="3566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6873088" y="3566160"/>
            <a:ext cx="4678528" cy="45720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Aufnahme erscheint sofort in der Liste</a:t>
            </a:r>
            <a:endParaRPr lang="en-US" sz="1400" dirty="0"/>
          </a:p>
        </p:txBody>
      </p:sp>
      <p:sp>
        <p:nvSpPr>
          <p:cNvPr id="11" name="Shape 9"/>
          <p:cNvSpPr/>
          <p:nvPr/>
        </p:nvSpPr>
        <p:spPr>
          <a:xfrm>
            <a:off x="640080" y="4343400"/>
            <a:ext cx="384048" cy="384048"/>
          </a:xfrm>
          <a:prstGeom prst="ellipse">
            <a:avLst/>
          </a:prstGeom>
          <a:solidFill>
            <a:srgbClr val="E23E3E"/>
          </a:solidFill>
          <a:ln/>
        </p:spPr>
      </p:sp>
      <p:sp>
        <p:nvSpPr>
          <p:cNvPr id="12" name="Text 10"/>
          <p:cNvSpPr/>
          <p:nvPr/>
        </p:nvSpPr>
        <p:spPr>
          <a:xfrm>
            <a:off x="640080" y="4343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188720" y="4343400"/>
            <a:ext cx="4678528" cy="45720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Abspielen mit Fortschritt, Wiedergabe stoppen</a:t>
            </a:r>
            <a:endParaRPr lang="en-US" sz="1400" dirty="0"/>
          </a:p>
        </p:txBody>
      </p:sp>
      <p:sp>
        <p:nvSpPr>
          <p:cNvPr id="14" name="Shape 12"/>
          <p:cNvSpPr/>
          <p:nvPr/>
        </p:nvSpPr>
        <p:spPr>
          <a:xfrm>
            <a:off x="6324448" y="4343400"/>
            <a:ext cx="384048" cy="384048"/>
          </a:xfrm>
          <a:prstGeom prst="ellipse">
            <a:avLst/>
          </a:prstGeom>
          <a:solidFill>
            <a:srgbClr val="2F6FED"/>
          </a:solidFill>
          <a:ln/>
        </p:spPr>
      </p:sp>
      <p:sp>
        <p:nvSpPr>
          <p:cNvPr id="15" name="Text 13"/>
          <p:cNvSpPr/>
          <p:nvPr/>
        </p:nvSpPr>
        <p:spPr>
          <a:xfrm>
            <a:off x="6324448" y="4343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6873088" y="4343400"/>
            <a:ext cx="4678528" cy="45720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Teilen an eine andere App</a:t>
            </a:r>
            <a:endParaRPr lang="en-US" sz="1400" dirty="0"/>
          </a:p>
        </p:txBody>
      </p:sp>
      <p:sp>
        <p:nvSpPr>
          <p:cNvPr id="17" name="Shape 15"/>
          <p:cNvSpPr/>
          <p:nvPr/>
        </p:nvSpPr>
        <p:spPr>
          <a:xfrm>
            <a:off x="640080" y="5120640"/>
            <a:ext cx="384048" cy="384048"/>
          </a:xfrm>
          <a:prstGeom prst="ellipse">
            <a:avLst/>
          </a:prstGeom>
          <a:solidFill>
            <a:srgbClr val="E23E3E"/>
          </a:solidFill>
          <a:ln/>
        </p:spPr>
      </p:sp>
      <p:sp>
        <p:nvSpPr>
          <p:cNvPr id="18" name="Text 16"/>
          <p:cNvSpPr/>
          <p:nvPr/>
        </p:nvSpPr>
        <p:spPr>
          <a:xfrm>
            <a:off x="640080" y="5120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9" name="Text 17"/>
          <p:cNvSpPr/>
          <p:nvPr/>
        </p:nvSpPr>
        <p:spPr>
          <a:xfrm>
            <a:off x="1188720" y="5120640"/>
            <a:ext cx="4678528" cy="45720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App schließen und neu öffnen — Aufnahme ist noch da</a:t>
            </a:r>
            <a:endParaRPr lang="en-US" sz="1400" dirty="0"/>
          </a:p>
        </p:txBody>
      </p:sp>
      <p:sp>
        <p:nvSpPr>
          <p:cNvPr id="20" name="Shape 18"/>
          <p:cNvSpPr/>
          <p:nvPr/>
        </p:nvSpPr>
        <p:spPr>
          <a:xfrm>
            <a:off x="6324448" y="5120640"/>
            <a:ext cx="384048" cy="384048"/>
          </a:xfrm>
          <a:prstGeom prst="ellipse">
            <a:avLst/>
          </a:prstGeom>
          <a:solidFill>
            <a:srgbClr val="2F6FED"/>
          </a:solidFill>
          <a:ln/>
        </p:spPr>
      </p:sp>
      <p:sp>
        <p:nvSpPr>
          <p:cNvPr id="21" name="Text 19"/>
          <p:cNvSpPr/>
          <p:nvPr/>
        </p:nvSpPr>
        <p:spPr>
          <a:xfrm>
            <a:off x="6324448" y="5120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2" name="Text 20"/>
          <p:cNvSpPr/>
          <p:nvPr/>
        </p:nvSpPr>
        <p:spPr>
          <a:xfrm>
            <a:off x="6873088" y="5120640"/>
            <a:ext cx="4678528" cy="45720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Löschen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Nativ, hybrid oder cross-platform?</a:t>
            </a:r>
            <a:endParaRPr lang="en-US" sz="3200" dirty="0"/>
          </a:p>
        </p:txBody>
      </p:sp>
      <p:sp>
        <p:nvSpPr>
          <p:cNvPr id="4" name="Text 2"/>
          <p:cNvSpPr/>
          <p:nvPr/>
        </p:nvSpPr>
        <p:spPr>
          <a:xfrm>
            <a:off x="932688" y="932688"/>
            <a:ext cx="10618927"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Die Vorgabe der Plugins hat die Entscheidung faktisch vorweggenommen</a:t>
            </a:r>
            <a:endParaRPr lang="en-US" sz="1400" dirty="0"/>
          </a:p>
        </p:txBody>
      </p:sp>
      <p:sp>
        <p:nvSpPr>
          <p:cNvPr id="5" name="Shape 3"/>
          <p:cNvSpPr/>
          <p:nvPr/>
        </p:nvSpPr>
        <p:spPr>
          <a:xfrm>
            <a:off x="640080" y="1691640"/>
            <a:ext cx="3393338" cy="3931920"/>
          </a:xfrm>
          <a:prstGeom prst="roundRect">
            <a:avLst>
              <a:gd name="adj" fmla="val 2156"/>
            </a:avLst>
          </a:prstGeom>
          <a:solidFill>
            <a:srgbClr val="F4F5F7"/>
          </a:solidFill>
          <a:ln/>
        </p:spPr>
      </p:sp>
      <p:sp>
        <p:nvSpPr>
          <p:cNvPr id="6" name="Text 4"/>
          <p:cNvSpPr/>
          <p:nvPr/>
        </p:nvSpPr>
        <p:spPr>
          <a:xfrm>
            <a:off x="914400" y="1920240"/>
            <a:ext cx="2844698" cy="411480"/>
          </a:xfrm>
          <a:prstGeom prst="rect">
            <a:avLst/>
          </a:prstGeom>
          <a:noFill/>
          <a:ln/>
        </p:spPr>
        <p:txBody>
          <a:bodyPr wrap="square" lIns="0" tIns="0" rIns="0" bIns="0" rtlCol="0" anchor="ctr"/>
          <a:lstStyle/>
          <a:p>
            <a:pPr indent="0" marL="0">
              <a:buNone/>
            </a:pPr>
            <a:r>
              <a:rPr lang="en-US" sz="2200" b="1" dirty="0">
                <a:solidFill>
                  <a:srgbClr val="111827"/>
                </a:solidFill>
                <a:latin typeface="Cambria" pitchFamily="34" charset="0"/>
                <a:ea typeface="Cambria" pitchFamily="34" charset="-122"/>
                <a:cs typeface="Cambria" pitchFamily="34" charset="-120"/>
              </a:rPr>
              <a:t>Nativ</a:t>
            </a:r>
            <a:endParaRPr lang="en-US" sz="2200" dirty="0"/>
          </a:p>
        </p:txBody>
      </p:sp>
      <p:sp>
        <p:nvSpPr>
          <p:cNvPr id="7" name="Text 5"/>
          <p:cNvSpPr/>
          <p:nvPr/>
        </p:nvSpPr>
        <p:spPr>
          <a:xfrm>
            <a:off x="914400" y="2359152"/>
            <a:ext cx="2844698" cy="5486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Kotlin oder Java, direkt gegen Android</a:t>
            </a:r>
            <a:endParaRPr lang="en-US" sz="1200" dirty="0"/>
          </a:p>
        </p:txBody>
      </p:sp>
      <p:sp>
        <p:nvSpPr>
          <p:cNvPr id="8" name="Text 6"/>
          <p:cNvSpPr/>
          <p:nvPr/>
        </p:nvSpPr>
        <p:spPr>
          <a:xfrm>
            <a:off x="914400" y="2971800"/>
            <a:ext cx="2844698"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Volle Kontrolle</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Beste Performance</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Pro Plattform komplett neu</a:t>
            </a:r>
            <a:endParaRPr lang="en-US" sz="1300" dirty="0"/>
          </a:p>
        </p:txBody>
      </p:sp>
      <p:sp>
        <p:nvSpPr>
          <p:cNvPr id="9" name="Shape 7"/>
          <p:cNvSpPr/>
          <p:nvPr/>
        </p:nvSpPr>
        <p:spPr>
          <a:xfrm>
            <a:off x="4399178" y="1691640"/>
            <a:ext cx="3393338" cy="3931920"/>
          </a:xfrm>
          <a:prstGeom prst="roundRect">
            <a:avLst>
              <a:gd name="adj" fmla="val 2156"/>
            </a:avLst>
          </a:prstGeom>
          <a:solidFill>
            <a:srgbClr val="0F1419"/>
          </a:solidFill>
          <a:ln/>
        </p:spPr>
      </p:sp>
      <p:sp>
        <p:nvSpPr>
          <p:cNvPr id="10" name="Text 8"/>
          <p:cNvSpPr/>
          <p:nvPr/>
        </p:nvSpPr>
        <p:spPr>
          <a:xfrm>
            <a:off x="4673498" y="1920240"/>
            <a:ext cx="2844698"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Hybrid</a:t>
            </a:r>
            <a:endParaRPr lang="en-US" sz="2200" dirty="0"/>
          </a:p>
        </p:txBody>
      </p:sp>
      <p:sp>
        <p:nvSpPr>
          <p:cNvPr id="11" name="Text 9"/>
          <p:cNvSpPr/>
          <p:nvPr/>
        </p:nvSpPr>
        <p:spPr>
          <a:xfrm>
            <a:off x="4673498" y="2359152"/>
            <a:ext cx="2844698" cy="548640"/>
          </a:xfrm>
          <a:prstGeom prst="rect">
            <a:avLst/>
          </a:prstGeom>
          <a:noFill/>
          <a:ln/>
        </p:spPr>
        <p:txBody>
          <a:bodyPr wrap="square" lIns="0" tIns="0" rIns="0" bIns="0" rtlCol="0" anchor="ctr"/>
          <a:lstStyle/>
          <a:p>
            <a:pPr indent="0" marL="0">
              <a:buNone/>
            </a:pPr>
            <a:r>
              <a:rPr lang="en-US" sz="1200" i="1" dirty="0">
                <a:solidFill>
                  <a:srgbClr val="9AA4B2"/>
                </a:solidFill>
                <a:latin typeface="Calibri" pitchFamily="34" charset="0"/>
                <a:ea typeface="Calibri" pitchFamily="34" charset="-122"/>
                <a:cs typeface="Calibri" pitchFamily="34" charset="-120"/>
              </a:rPr>
              <a:t>Webseite in einer App-Hülle</a:t>
            </a:r>
            <a:endParaRPr lang="en-US" sz="1200" dirty="0"/>
          </a:p>
        </p:txBody>
      </p:sp>
      <p:sp>
        <p:nvSpPr>
          <p:cNvPr id="12" name="Text 10"/>
          <p:cNvSpPr/>
          <p:nvPr/>
        </p:nvSpPr>
        <p:spPr>
          <a:xfrm>
            <a:off x="4673498" y="2971800"/>
            <a:ext cx="2844698"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5E7EB"/>
                </a:solidFill>
                <a:latin typeface="Calibri" pitchFamily="34" charset="0"/>
                <a:ea typeface="Calibri" pitchFamily="34" charset="-122"/>
                <a:cs typeface="Calibri" pitchFamily="34" charset="-120"/>
              </a:rPr>
              <a:t>Eine Codebasis für Android und iOS</a:t>
            </a:r>
            <a:endParaRPr lang="en-US" sz="1300" dirty="0"/>
          </a:p>
          <a:p>
            <a:pPr marL="342900" indent="-342900">
              <a:spcAft>
                <a:spcPts val="1000"/>
              </a:spcAft>
              <a:buSzPct val="100000"/>
              <a:buChar char="•"/>
            </a:pPr>
            <a:r>
              <a:rPr lang="en-US" sz="1300" dirty="0">
                <a:solidFill>
                  <a:srgbClr val="E5E7EB"/>
                </a:solidFill>
                <a:latin typeface="Calibri" pitchFamily="34" charset="0"/>
                <a:ea typeface="Calibri" pitchFamily="34" charset="-122"/>
                <a:cs typeface="Calibri" pitchFamily="34" charset="-120"/>
              </a:rPr>
              <a:t>Web-Kenntnisse genügen</a:t>
            </a:r>
            <a:endParaRPr lang="en-US" sz="1300" dirty="0"/>
          </a:p>
          <a:p>
            <a:pPr marL="342900" indent="-342900">
              <a:spcAft>
                <a:spcPts val="1000"/>
              </a:spcAft>
              <a:buSzPct val="100000"/>
              <a:buChar char="•"/>
            </a:pPr>
            <a:r>
              <a:rPr lang="en-US" sz="1300" dirty="0">
                <a:solidFill>
                  <a:srgbClr val="E5E7EB"/>
                </a:solidFill>
                <a:latin typeface="Calibri" pitchFamily="34" charset="0"/>
                <a:ea typeface="Calibri" pitchFamily="34" charset="-122"/>
                <a:cs typeface="Calibri" pitchFamily="34" charset="-120"/>
              </a:rPr>
              <a:t>Gerätezugriff nur über Plugins</a:t>
            </a:r>
            <a:endParaRPr lang="en-US" sz="1300" dirty="0"/>
          </a:p>
        </p:txBody>
      </p:sp>
      <p:sp>
        <p:nvSpPr>
          <p:cNvPr id="13" name="Text 11"/>
          <p:cNvSpPr/>
          <p:nvPr/>
        </p:nvSpPr>
        <p:spPr>
          <a:xfrm>
            <a:off x="4673498" y="5074920"/>
            <a:ext cx="2844698" cy="320040"/>
          </a:xfrm>
          <a:prstGeom prst="rect">
            <a:avLst/>
          </a:prstGeom>
          <a:noFill/>
          <a:ln/>
        </p:spPr>
        <p:txBody>
          <a:bodyPr wrap="square" lIns="0" tIns="0" rIns="0" bIns="0" rtlCol="0" anchor="ctr"/>
          <a:lstStyle/>
          <a:p>
            <a:pPr indent="0" marL="0">
              <a:buNone/>
            </a:pPr>
            <a:r>
              <a:rPr lang="en-US" sz="1200" b="1" dirty="0">
                <a:solidFill>
                  <a:srgbClr val="E23E3E"/>
                </a:solidFill>
                <a:latin typeface="Calibri" pitchFamily="34" charset="0"/>
                <a:ea typeface="Calibri" pitchFamily="34" charset="-122"/>
                <a:cs typeface="Calibri" pitchFamily="34" charset="-120"/>
              </a:rPr>
              <a:t>unsere Wahl</a:t>
            </a:r>
            <a:endParaRPr lang="en-US" sz="1200" dirty="0"/>
          </a:p>
        </p:txBody>
      </p:sp>
      <p:sp>
        <p:nvSpPr>
          <p:cNvPr id="14" name="Shape 12"/>
          <p:cNvSpPr/>
          <p:nvPr/>
        </p:nvSpPr>
        <p:spPr>
          <a:xfrm>
            <a:off x="8158277" y="1691640"/>
            <a:ext cx="3393338" cy="3931920"/>
          </a:xfrm>
          <a:prstGeom prst="roundRect">
            <a:avLst>
              <a:gd name="adj" fmla="val 2156"/>
            </a:avLst>
          </a:prstGeom>
          <a:solidFill>
            <a:srgbClr val="F4F5F7"/>
          </a:solidFill>
          <a:ln/>
        </p:spPr>
      </p:sp>
      <p:sp>
        <p:nvSpPr>
          <p:cNvPr id="15" name="Text 13"/>
          <p:cNvSpPr/>
          <p:nvPr/>
        </p:nvSpPr>
        <p:spPr>
          <a:xfrm>
            <a:off x="8432597" y="1920240"/>
            <a:ext cx="2844698" cy="411480"/>
          </a:xfrm>
          <a:prstGeom prst="rect">
            <a:avLst/>
          </a:prstGeom>
          <a:noFill/>
          <a:ln/>
        </p:spPr>
        <p:txBody>
          <a:bodyPr wrap="square" lIns="0" tIns="0" rIns="0" bIns="0" rtlCol="0" anchor="ctr"/>
          <a:lstStyle/>
          <a:p>
            <a:pPr indent="0" marL="0">
              <a:buNone/>
            </a:pPr>
            <a:r>
              <a:rPr lang="en-US" sz="2200" b="1" dirty="0">
                <a:solidFill>
                  <a:srgbClr val="111827"/>
                </a:solidFill>
                <a:latin typeface="Cambria" pitchFamily="34" charset="0"/>
                <a:ea typeface="Cambria" pitchFamily="34" charset="-122"/>
                <a:cs typeface="Cambria" pitchFamily="34" charset="-120"/>
              </a:rPr>
              <a:t>Cross-Platform</a:t>
            </a:r>
            <a:endParaRPr lang="en-US" sz="2200" dirty="0"/>
          </a:p>
        </p:txBody>
      </p:sp>
      <p:sp>
        <p:nvSpPr>
          <p:cNvPr id="16" name="Text 14"/>
          <p:cNvSpPr/>
          <p:nvPr/>
        </p:nvSpPr>
        <p:spPr>
          <a:xfrm>
            <a:off x="8432597" y="2359152"/>
            <a:ext cx="2844698" cy="5486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Flutter, React Native</a:t>
            </a:r>
            <a:endParaRPr lang="en-US" sz="1200" dirty="0"/>
          </a:p>
        </p:txBody>
      </p:sp>
      <p:sp>
        <p:nvSpPr>
          <p:cNvPr id="17" name="Text 15"/>
          <p:cNvSpPr/>
          <p:nvPr/>
        </p:nvSpPr>
        <p:spPr>
          <a:xfrm>
            <a:off x="8432597" y="2971800"/>
            <a:ext cx="2844698"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Eine Codebasis, native Oberfläche</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Eigenes Ökosystem</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Neue Sprache nötig</a:t>
            </a:r>
            <a:endParaRPr lang="en-US" sz="1300" dirty="0"/>
          </a:p>
        </p:txBody>
      </p:sp>
      <p:sp>
        <p:nvSpPr>
          <p:cNvPr id="18" name="Text 16"/>
          <p:cNvSpPr/>
          <p:nvPr/>
        </p:nvSpPr>
        <p:spPr>
          <a:xfrm>
            <a:off x="640080" y="5897880"/>
            <a:ext cx="10911535"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Die genannten Plugins gibt es nur für Capacitor — damit war der hybride Weg gesetzt.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Die nativen Schnittstellen</a:t>
            </a:r>
            <a:endParaRPr lang="en-US" sz="3200" dirty="0"/>
          </a:p>
        </p:txBody>
      </p:sp>
      <p:sp>
        <p:nvSpPr>
          <p:cNvPr id="4" name="Text 2"/>
          <p:cNvSpPr/>
          <p:nvPr/>
        </p:nvSpPr>
        <p:spPr>
          <a:xfrm>
            <a:off x="932688" y="932688"/>
            <a:ext cx="10618927"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Fünf Plugins — und was zwischen JavaScript und Android passiert</a:t>
            </a:r>
            <a:endParaRPr lang="en-US" sz="1400" dirty="0"/>
          </a:p>
        </p:txBody>
      </p:sp>
      <p:sp>
        <p:nvSpPr>
          <p:cNvPr id="5" name="Shape 3"/>
          <p:cNvSpPr/>
          <p:nvPr/>
        </p:nvSpPr>
        <p:spPr>
          <a:xfrm>
            <a:off x="640080" y="1645920"/>
            <a:ext cx="5227168" cy="4114800"/>
          </a:xfrm>
          <a:prstGeom prst="roundRect">
            <a:avLst>
              <a:gd name="adj" fmla="val 1778"/>
            </a:avLst>
          </a:prstGeom>
          <a:solidFill>
            <a:srgbClr val="F4F5F7"/>
          </a:solidFill>
          <a:ln/>
        </p:spPr>
      </p:sp>
      <p:sp>
        <p:nvSpPr>
          <p:cNvPr id="6" name="Text 4"/>
          <p:cNvSpPr/>
          <p:nvPr/>
        </p:nvSpPr>
        <p:spPr>
          <a:xfrm>
            <a:off x="960120" y="1847088"/>
            <a:ext cx="4587088"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Welche Plugins</a:t>
            </a:r>
            <a:endParaRPr lang="en-US" sz="1500" dirty="0"/>
          </a:p>
        </p:txBody>
      </p:sp>
      <p:sp>
        <p:nvSpPr>
          <p:cNvPr id="7" name="Shape 5"/>
          <p:cNvSpPr/>
          <p:nvPr/>
        </p:nvSpPr>
        <p:spPr>
          <a:xfrm>
            <a:off x="987552" y="2340864"/>
            <a:ext cx="109728" cy="109728"/>
          </a:xfrm>
          <a:prstGeom prst="ellipse">
            <a:avLst/>
          </a:prstGeom>
          <a:solidFill>
            <a:srgbClr val="E23E3E"/>
          </a:solidFill>
          <a:ln/>
        </p:spPr>
      </p:sp>
      <p:sp>
        <p:nvSpPr>
          <p:cNvPr id="8" name="Text 6"/>
          <p:cNvSpPr/>
          <p:nvPr/>
        </p:nvSpPr>
        <p:spPr>
          <a:xfrm>
            <a:off x="1207008" y="2221992"/>
            <a:ext cx="4358488" cy="27432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Audio Recorder</a:t>
            </a:r>
            <a:endParaRPr lang="en-US" sz="1350" dirty="0"/>
          </a:p>
        </p:txBody>
      </p:sp>
      <p:sp>
        <p:nvSpPr>
          <p:cNvPr id="9" name="Text 7"/>
          <p:cNvSpPr/>
          <p:nvPr/>
        </p:nvSpPr>
        <p:spPr>
          <a:xfrm>
            <a:off x="1207008" y="2478024"/>
            <a:ext cx="4358488" cy="347472"/>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Aufnehmen, pausieren, fortsetzen, Mikrofon-Berechtigung</a:t>
            </a:r>
            <a:endParaRPr lang="en-US" sz="1200" dirty="0"/>
          </a:p>
        </p:txBody>
      </p:sp>
      <p:sp>
        <p:nvSpPr>
          <p:cNvPr id="10" name="Shape 8"/>
          <p:cNvSpPr/>
          <p:nvPr/>
        </p:nvSpPr>
        <p:spPr>
          <a:xfrm>
            <a:off x="987552" y="2962656"/>
            <a:ext cx="109728" cy="109728"/>
          </a:xfrm>
          <a:prstGeom prst="ellipse">
            <a:avLst/>
          </a:prstGeom>
          <a:solidFill>
            <a:srgbClr val="E23E3E"/>
          </a:solidFill>
          <a:ln/>
        </p:spPr>
      </p:sp>
      <p:sp>
        <p:nvSpPr>
          <p:cNvPr id="11" name="Text 9"/>
          <p:cNvSpPr/>
          <p:nvPr/>
        </p:nvSpPr>
        <p:spPr>
          <a:xfrm>
            <a:off x="1207008" y="2843784"/>
            <a:ext cx="4358488" cy="27432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Audio Player</a:t>
            </a:r>
            <a:endParaRPr lang="en-US" sz="1350" dirty="0"/>
          </a:p>
        </p:txBody>
      </p:sp>
      <p:sp>
        <p:nvSpPr>
          <p:cNvPr id="12" name="Text 10"/>
          <p:cNvSpPr/>
          <p:nvPr/>
        </p:nvSpPr>
        <p:spPr>
          <a:xfrm>
            <a:off x="1207008" y="3099816"/>
            <a:ext cx="4358488" cy="347472"/>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Abspielen, Position und Dauer, meldet das Ende</a:t>
            </a:r>
            <a:endParaRPr lang="en-US" sz="1200" dirty="0"/>
          </a:p>
        </p:txBody>
      </p:sp>
      <p:sp>
        <p:nvSpPr>
          <p:cNvPr id="13" name="Shape 11"/>
          <p:cNvSpPr/>
          <p:nvPr/>
        </p:nvSpPr>
        <p:spPr>
          <a:xfrm>
            <a:off x="987552" y="3584448"/>
            <a:ext cx="109728" cy="109728"/>
          </a:xfrm>
          <a:prstGeom prst="ellipse">
            <a:avLst/>
          </a:prstGeom>
          <a:solidFill>
            <a:srgbClr val="2F6FED"/>
          </a:solidFill>
          <a:ln/>
        </p:spPr>
      </p:sp>
      <p:sp>
        <p:nvSpPr>
          <p:cNvPr id="14" name="Text 12"/>
          <p:cNvSpPr/>
          <p:nvPr/>
        </p:nvSpPr>
        <p:spPr>
          <a:xfrm>
            <a:off x="1207008" y="3465576"/>
            <a:ext cx="4358488" cy="27432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File Picker</a:t>
            </a:r>
            <a:endParaRPr lang="en-US" sz="1350" dirty="0"/>
          </a:p>
        </p:txBody>
      </p:sp>
      <p:sp>
        <p:nvSpPr>
          <p:cNvPr id="15" name="Text 13"/>
          <p:cNvSpPr/>
          <p:nvPr/>
        </p:nvSpPr>
        <p:spPr>
          <a:xfrm>
            <a:off x="1207008" y="3721608"/>
            <a:ext cx="4358488" cy="347472"/>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Kopiert die Aufnahme aus dem Zwischenspeicher</a:t>
            </a:r>
            <a:endParaRPr lang="en-US" sz="1200" dirty="0"/>
          </a:p>
        </p:txBody>
      </p:sp>
      <p:sp>
        <p:nvSpPr>
          <p:cNvPr id="16" name="Shape 14"/>
          <p:cNvSpPr/>
          <p:nvPr/>
        </p:nvSpPr>
        <p:spPr>
          <a:xfrm>
            <a:off x="987552" y="4206240"/>
            <a:ext cx="109728" cy="109728"/>
          </a:xfrm>
          <a:prstGeom prst="ellipse">
            <a:avLst/>
          </a:prstGeom>
          <a:solidFill>
            <a:srgbClr val="2F6FED"/>
          </a:solidFill>
          <a:ln/>
        </p:spPr>
      </p:sp>
      <p:sp>
        <p:nvSpPr>
          <p:cNvPr id="17" name="Text 15"/>
          <p:cNvSpPr/>
          <p:nvPr/>
        </p:nvSpPr>
        <p:spPr>
          <a:xfrm>
            <a:off x="1207008" y="4087368"/>
            <a:ext cx="4358488" cy="27432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Filesystem</a:t>
            </a:r>
            <a:endParaRPr lang="en-US" sz="1350" dirty="0"/>
          </a:p>
        </p:txBody>
      </p:sp>
      <p:sp>
        <p:nvSpPr>
          <p:cNvPr id="18" name="Text 16"/>
          <p:cNvSpPr/>
          <p:nvPr/>
        </p:nvSpPr>
        <p:spPr>
          <a:xfrm>
            <a:off x="1207008" y="4343400"/>
            <a:ext cx="4358488" cy="347472"/>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Ordner anlegen und lesen, umbenennen, löschen</a:t>
            </a:r>
            <a:endParaRPr lang="en-US" sz="1200" dirty="0"/>
          </a:p>
        </p:txBody>
      </p:sp>
      <p:sp>
        <p:nvSpPr>
          <p:cNvPr id="19" name="Shape 17"/>
          <p:cNvSpPr/>
          <p:nvPr/>
        </p:nvSpPr>
        <p:spPr>
          <a:xfrm>
            <a:off x="987552" y="4828032"/>
            <a:ext cx="109728" cy="109728"/>
          </a:xfrm>
          <a:prstGeom prst="ellipse">
            <a:avLst/>
          </a:prstGeom>
          <a:solidFill>
            <a:srgbClr val="2F6FED"/>
          </a:solidFill>
          <a:ln/>
        </p:spPr>
      </p:sp>
      <p:sp>
        <p:nvSpPr>
          <p:cNvPr id="20" name="Text 18"/>
          <p:cNvSpPr/>
          <p:nvPr/>
        </p:nvSpPr>
        <p:spPr>
          <a:xfrm>
            <a:off x="1207008" y="4709160"/>
            <a:ext cx="4358488" cy="27432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Share</a:t>
            </a:r>
            <a:endParaRPr lang="en-US" sz="1350" dirty="0"/>
          </a:p>
        </p:txBody>
      </p:sp>
      <p:sp>
        <p:nvSpPr>
          <p:cNvPr id="21" name="Text 19"/>
          <p:cNvSpPr/>
          <p:nvPr/>
        </p:nvSpPr>
        <p:spPr>
          <a:xfrm>
            <a:off x="1207008" y="4965192"/>
            <a:ext cx="4358488" cy="347472"/>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Öffnet den Teilen-Dialog des Systems</a:t>
            </a:r>
            <a:endParaRPr lang="en-US" sz="1200" dirty="0"/>
          </a:p>
        </p:txBody>
      </p:sp>
      <p:sp>
        <p:nvSpPr>
          <p:cNvPr id="22" name="Text 20"/>
          <p:cNvSpPr/>
          <p:nvPr/>
        </p:nvSpPr>
        <p:spPr>
          <a:xfrm>
            <a:off x="960120" y="5394960"/>
            <a:ext cx="4587088" cy="32004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Die beiden roten sind kostenpflichtig und brauchen einen Lizenzschlüssel.</a:t>
            </a:r>
            <a:endParaRPr lang="en-US" sz="1150" dirty="0"/>
          </a:p>
        </p:txBody>
      </p:sp>
      <p:sp>
        <p:nvSpPr>
          <p:cNvPr id="23" name="Shape 21"/>
          <p:cNvSpPr/>
          <p:nvPr/>
        </p:nvSpPr>
        <p:spPr>
          <a:xfrm>
            <a:off x="6324448" y="1645920"/>
            <a:ext cx="5227168" cy="4114800"/>
          </a:xfrm>
          <a:prstGeom prst="roundRect">
            <a:avLst>
              <a:gd name="adj" fmla="val 1778"/>
            </a:avLst>
          </a:prstGeom>
          <a:solidFill>
            <a:srgbClr val="0F1419"/>
          </a:solidFill>
          <a:ln/>
        </p:spPr>
      </p:sp>
      <p:sp>
        <p:nvSpPr>
          <p:cNvPr id="24" name="Text 22"/>
          <p:cNvSpPr/>
          <p:nvPr/>
        </p:nvSpPr>
        <p:spPr>
          <a:xfrm>
            <a:off x="6644488" y="1847088"/>
            <a:ext cx="4587088"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Wie sie funktionieren</a:t>
            </a:r>
            <a:endParaRPr lang="en-US" sz="1500" dirty="0"/>
          </a:p>
        </p:txBody>
      </p:sp>
      <p:sp>
        <p:nvSpPr>
          <p:cNvPr id="25" name="Shape 23"/>
          <p:cNvSpPr/>
          <p:nvPr/>
        </p:nvSpPr>
        <p:spPr>
          <a:xfrm>
            <a:off x="6644488" y="2240280"/>
            <a:ext cx="384048" cy="384048"/>
          </a:xfrm>
          <a:prstGeom prst="ellipse">
            <a:avLst/>
          </a:prstGeom>
          <a:solidFill>
            <a:srgbClr val="2F6FED"/>
          </a:solidFill>
          <a:ln/>
        </p:spPr>
      </p:sp>
      <p:sp>
        <p:nvSpPr>
          <p:cNvPr id="26" name="Text 24"/>
          <p:cNvSpPr/>
          <p:nvPr/>
        </p:nvSpPr>
        <p:spPr>
          <a:xfrm>
            <a:off x="6644488" y="2240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7" name="Text 25"/>
          <p:cNvSpPr/>
          <p:nvPr/>
        </p:nvSpPr>
        <p:spPr>
          <a:xfrm>
            <a:off x="7165696" y="2221992"/>
            <a:ext cx="4038448"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JavaScript ruft auf</a:t>
            </a:r>
            <a:endParaRPr lang="en-US" sz="1350" dirty="0"/>
          </a:p>
        </p:txBody>
      </p:sp>
      <p:sp>
        <p:nvSpPr>
          <p:cNvPr id="28" name="Text 26"/>
          <p:cNvSpPr/>
          <p:nvPr/>
        </p:nvSpPr>
        <p:spPr>
          <a:xfrm>
            <a:off x="7165696" y="2551176"/>
            <a:ext cx="4038448" cy="365760"/>
          </a:xfrm>
          <a:prstGeom prst="rect">
            <a:avLst/>
          </a:prstGeom>
          <a:noFill/>
          <a:ln/>
        </p:spPr>
        <p:txBody>
          <a:bodyPr wrap="square" lIns="0" tIns="0" rIns="0" bIns="0" rtlCol="0" anchor="t"/>
          <a:lstStyle/>
          <a:p>
            <a:pPr indent="0" marL="0">
              <a:buNone/>
            </a:pPr>
            <a:r>
              <a:rPr lang="en-US" sz="1150" dirty="0">
                <a:solidFill>
                  <a:srgbClr val="9AA4B2"/>
                </a:solidFill>
                <a:latin typeface="Calibri" pitchFamily="34" charset="0"/>
                <a:ea typeface="Calibri" pitchFamily="34" charset="-122"/>
                <a:cs typeface="Calibri" pitchFamily="34" charset="-120"/>
              </a:rPr>
              <a:t>Im Code steht ein gewöhnlicher Funktionsaufruf</a:t>
            </a:r>
            <a:endParaRPr lang="en-US" sz="1150" dirty="0"/>
          </a:p>
        </p:txBody>
      </p:sp>
      <p:sp>
        <p:nvSpPr>
          <p:cNvPr id="29" name="Shape 27"/>
          <p:cNvSpPr/>
          <p:nvPr/>
        </p:nvSpPr>
        <p:spPr>
          <a:xfrm>
            <a:off x="6644488" y="2971800"/>
            <a:ext cx="384048" cy="384048"/>
          </a:xfrm>
          <a:prstGeom prst="ellipse">
            <a:avLst/>
          </a:prstGeom>
          <a:solidFill>
            <a:srgbClr val="2F6FED"/>
          </a:solidFill>
          <a:ln/>
        </p:spPr>
      </p:sp>
      <p:sp>
        <p:nvSpPr>
          <p:cNvPr id="30" name="Text 28"/>
          <p:cNvSpPr/>
          <p:nvPr/>
        </p:nvSpPr>
        <p:spPr>
          <a:xfrm>
            <a:off x="6644488" y="2971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1" name="Text 29"/>
          <p:cNvSpPr/>
          <p:nvPr/>
        </p:nvSpPr>
        <p:spPr>
          <a:xfrm>
            <a:off x="7165696" y="2953512"/>
            <a:ext cx="4038448"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Die Capacitor-Bridge übersetzt</a:t>
            </a:r>
            <a:endParaRPr lang="en-US" sz="1350" dirty="0"/>
          </a:p>
        </p:txBody>
      </p:sp>
      <p:sp>
        <p:nvSpPr>
          <p:cNvPr id="32" name="Text 30"/>
          <p:cNvSpPr/>
          <p:nvPr/>
        </p:nvSpPr>
        <p:spPr>
          <a:xfrm>
            <a:off x="7165696" y="3282696"/>
            <a:ext cx="4038448" cy="365760"/>
          </a:xfrm>
          <a:prstGeom prst="rect">
            <a:avLst/>
          </a:prstGeom>
          <a:noFill/>
          <a:ln/>
        </p:spPr>
        <p:txBody>
          <a:bodyPr wrap="square" lIns="0" tIns="0" rIns="0" bIns="0" rtlCol="0" anchor="t"/>
          <a:lstStyle/>
          <a:p>
            <a:pPr indent="0" marL="0">
              <a:buNone/>
            </a:pPr>
            <a:r>
              <a:rPr lang="en-US" sz="1150" dirty="0">
                <a:solidFill>
                  <a:srgbClr val="9AA4B2"/>
                </a:solidFill>
                <a:latin typeface="Calibri" pitchFamily="34" charset="0"/>
                <a:ea typeface="Calibri" pitchFamily="34" charset="-122"/>
                <a:cs typeface="Calibri" pitchFamily="34" charset="-120"/>
              </a:rPr>
              <a:t>Sie reicht den Aufruf aus dem Web-Fenster nach unten durch</a:t>
            </a:r>
            <a:endParaRPr lang="en-US" sz="1150" dirty="0"/>
          </a:p>
        </p:txBody>
      </p:sp>
      <p:sp>
        <p:nvSpPr>
          <p:cNvPr id="33" name="Shape 31"/>
          <p:cNvSpPr/>
          <p:nvPr/>
        </p:nvSpPr>
        <p:spPr>
          <a:xfrm>
            <a:off x="6644488" y="3703320"/>
            <a:ext cx="384048" cy="384048"/>
          </a:xfrm>
          <a:prstGeom prst="ellipse">
            <a:avLst/>
          </a:prstGeom>
          <a:solidFill>
            <a:srgbClr val="2F6FED"/>
          </a:solidFill>
          <a:ln/>
        </p:spPr>
      </p:sp>
      <p:sp>
        <p:nvSpPr>
          <p:cNvPr id="34" name="Text 32"/>
          <p:cNvSpPr/>
          <p:nvPr/>
        </p:nvSpPr>
        <p:spPr>
          <a:xfrm>
            <a:off x="6644488" y="3703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5" name="Text 33"/>
          <p:cNvSpPr/>
          <p:nvPr/>
        </p:nvSpPr>
        <p:spPr>
          <a:xfrm>
            <a:off x="7165696" y="3685032"/>
            <a:ext cx="4038448"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Nativer Plugin-Code läuft</a:t>
            </a:r>
            <a:endParaRPr lang="en-US" sz="1350" dirty="0"/>
          </a:p>
        </p:txBody>
      </p:sp>
      <p:sp>
        <p:nvSpPr>
          <p:cNvPr id="36" name="Text 34"/>
          <p:cNvSpPr/>
          <p:nvPr/>
        </p:nvSpPr>
        <p:spPr>
          <a:xfrm>
            <a:off x="7165696" y="4014216"/>
            <a:ext cx="4038448" cy="365760"/>
          </a:xfrm>
          <a:prstGeom prst="rect">
            <a:avLst/>
          </a:prstGeom>
          <a:noFill/>
          <a:ln/>
        </p:spPr>
        <p:txBody>
          <a:bodyPr wrap="square" lIns="0" tIns="0" rIns="0" bIns="0" rtlCol="0" anchor="t"/>
          <a:lstStyle/>
          <a:p>
            <a:pPr indent="0" marL="0">
              <a:buNone/>
            </a:pPr>
            <a:r>
              <a:rPr lang="en-US" sz="1150" dirty="0">
                <a:solidFill>
                  <a:srgbClr val="9AA4B2"/>
                </a:solidFill>
                <a:latin typeface="Calibri" pitchFamily="34" charset="0"/>
                <a:ea typeface="Calibri" pitchFamily="34" charset="-122"/>
                <a:cs typeface="Calibri" pitchFamily="34" charset="-120"/>
              </a:rPr>
              <a:t>In Kotlin bzw. Java geschrieben — nur nicht von uns</a:t>
            </a:r>
            <a:endParaRPr lang="en-US" sz="1150" dirty="0"/>
          </a:p>
        </p:txBody>
      </p:sp>
      <p:sp>
        <p:nvSpPr>
          <p:cNvPr id="37" name="Shape 35"/>
          <p:cNvSpPr/>
          <p:nvPr/>
        </p:nvSpPr>
        <p:spPr>
          <a:xfrm>
            <a:off x="6644488" y="4434840"/>
            <a:ext cx="384048" cy="384048"/>
          </a:xfrm>
          <a:prstGeom prst="ellipse">
            <a:avLst/>
          </a:prstGeom>
          <a:solidFill>
            <a:srgbClr val="2F6FED"/>
          </a:solidFill>
          <a:ln/>
        </p:spPr>
      </p:sp>
      <p:sp>
        <p:nvSpPr>
          <p:cNvPr id="38" name="Text 36"/>
          <p:cNvSpPr/>
          <p:nvPr/>
        </p:nvSpPr>
        <p:spPr>
          <a:xfrm>
            <a:off x="6644488" y="4434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9" name="Text 37"/>
          <p:cNvSpPr/>
          <p:nvPr/>
        </p:nvSpPr>
        <p:spPr>
          <a:xfrm>
            <a:off x="7165696" y="4416552"/>
            <a:ext cx="4038448"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Die Antwort kommt zurück</a:t>
            </a:r>
            <a:endParaRPr lang="en-US" sz="1350" dirty="0"/>
          </a:p>
        </p:txBody>
      </p:sp>
      <p:sp>
        <p:nvSpPr>
          <p:cNvPr id="40" name="Text 38"/>
          <p:cNvSpPr/>
          <p:nvPr/>
        </p:nvSpPr>
        <p:spPr>
          <a:xfrm>
            <a:off x="7165696" y="4745736"/>
            <a:ext cx="4038448" cy="365760"/>
          </a:xfrm>
          <a:prstGeom prst="rect">
            <a:avLst/>
          </a:prstGeom>
          <a:noFill/>
          <a:ln/>
        </p:spPr>
        <p:txBody>
          <a:bodyPr wrap="square" lIns="0" tIns="0" rIns="0" bIns="0" rtlCol="0" anchor="t"/>
          <a:lstStyle/>
          <a:p>
            <a:pPr indent="0" marL="0">
              <a:buNone/>
            </a:pPr>
            <a:r>
              <a:rPr lang="en-US" sz="1150" dirty="0">
                <a:solidFill>
                  <a:srgbClr val="9AA4B2"/>
                </a:solidFill>
                <a:latin typeface="Calibri" pitchFamily="34" charset="0"/>
                <a:ea typeface="Calibri" pitchFamily="34" charset="-122"/>
                <a:cs typeface="Calibri" pitchFamily="34" charset="-120"/>
              </a:rPr>
              <a:t>Wieder über die Bridge, als Ergebnis im JavaScript</a:t>
            </a:r>
            <a:endParaRPr lang="en-US" sz="1150" dirty="0"/>
          </a:p>
        </p:txBody>
      </p:sp>
      <p:sp>
        <p:nvSpPr>
          <p:cNvPr id="41" name="Text 39"/>
          <p:cNvSpPr/>
          <p:nvPr/>
        </p:nvSpPr>
        <p:spPr>
          <a:xfrm>
            <a:off x="6644488" y="5394960"/>
            <a:ext cx="4587088" cy="320040"/>
          </a:xfrm>
          <a:prstGeom prst="rect">
            <a:avLst/>
          </a:prstGeom>
          <a:noFill/>
          <a:ln/>
        </p:spPr>
        <p:txBody>
          <a:bodyPr wrap="square" lIns="0" tIns="0" rIns="0" bIns="0" rtlCol="0" anchor="ctr"/>
          <a:lstStyle/>
          <a:p>
            <a:pPr indent="0" marL="0">
              <a:buNone/>
            </a:pPr>
            <a:r>
              <a:rPr lang="en-US" sz="1150" i="1" dirty="0">
                <a:solidFill>
                  <a:srgbClr val="D1D5DB"/>
                </a:solidFill>
                <a:latin typeface="Calibri" pitchFamily="34" charset="0"/>
                <a:ea typeface="Calibri" pitchFamily="34" charset="-122"/>
                <a:cs typeface="Calibri" pitchFamily="34" charset="-120"/>
              </a:rPr>
              <a:t>Der native Code steckt in den Plugins — eingekauft, nicht selbst geschrieben.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Wie wir vorgegangen sind</a:t>
            </a:r>
            <a:endParaRPr lang="en-US" sz="3200" dirty="0"/>
          </a:p>
        </p:txBody>
      </p:sp>
      <p:sp>
        <p:nvSpPr>
          <p:cNvPr id="4" name="Shape 2"/>
          <p:cNvSpPr/>
          <p:nvPr/>
        </p:nvSpPr>
        <p:spPr>
          <a:xfrm>
            <a:off x="640080" y="1737360"/>
            <a:ext cx="384048" cy="384048"/>
          </a:xfrm>
          <a:prstGeom prst="ellipse">
            <a:avLst/>
          </a:prstGeom>
          <a:solidFill>
            <a:srgbClr val="2F6FED"/>
          </a:solidFill>
          <a:ln/>
        </p:spPr>
      </p:sp>
      <p:sp>
        <p:nvSpPr>
          <p:cNvPr id="5" name="Text 3"/>
          <p:cNvSpPr/>
          <p:nvPr/>
        </p:nvSpPr>
        <p:spPr>
          <a:xfrm>
            <a:off x="640080"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640080" y="2286000"/>
            <a:ext cx="1926275"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Analyse</a:t>
            </a:r>
            <a:endParaRPr lang="en-US" sz="1600" dirty="0"/>
          </a:p>
        </p:txBody>
      </p:sp>
      <p:sp>
        <p:nvSpPr>
          <p:cNvPr id="7" name="Text 5"/>
          <p:cNvSpPr/>
          <p:nvPr/>
        </p:nvSpPr>
        <p:spPr>
          <a:xfrm>
            <a:off x="640080" y="2697480"/>
            <a:ext cx="1926275" cy="17373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Anforderungen aufgeschlüsselt, Plugins und deren Dokumentation gesichtet</a:t>
            </a:r>
            <a:endParaRPr lang="en-US" sz="1250" dirty="0"/>
          </a:p>
        </p:txBody>
      </p:sp>
      <p:sp>
        <p:nvSpPr>
          <p:cNvPr id="8" name="Shape 6"/>
          <p:cNvSpPr/>
          <p:nvPr/>
        </p:nvSpPr>
        <p:spPr>
          <a:xfrm>
            <a:off x="2886395" y="1737360"/>
            <a:ext cx="384048" cy="384048"/>
          </a:xfrm>
          <a:prstGeom prst="ellipse">
            <a:avLst/>
          </a:prstGeom>
          <a:solidFill>
            <a:srgbClr val="2F6FED"/>
          </a:solidFill>
          <a:ln/>
        </p:spPr>
      </p:sp>
      <p:sp>
        <p:nvSpPr>
          <p:cNvPr id="9" name="Text 7"/>
          <p:cNvSpPr/>
          <p:nvPr/>
        </p:nvSpPr>
        <p:spPr>
          <a:xfrm>
            <a:off x="2886395"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2886395" y="2286000"/>
            <a:ext cx="1926275"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Erster Wurf</a:t>
            </a:r>
            <a:endParaRPr lang="en-US" sz="1600" dirty="0"/>
          </a:p>
        </p:txBody>
      </p:sp>
      <p:sp>
        <p:nvSpPr>
          <p:cNvPr id="11" name="Text 9"/>
          <p:cNvSpPr/>
          <p:nvPr/>
        </p:nvSpPr>
        <p:spPr>
          <a:xfrm>
            <a:off x="2886395" y="2697480"/>
            <a:ext cx="1926275" cy="17373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Prototyp mit KI-Unterstützung gebaut — lauffähig, aber am Ziel vorbei</a:t>
            </a:r>
            <a:endParaRPr lang="en-US" sz="1250" dirty="0"/>
          </a:p>
        </p:txBody>
      </p:sp>
      <p:sp>
        <p:nvSpPr>
          <p:cNvPr id="12" name="Shape 10"/>
          <p:cNvSpPr/>
          <p:nvPr/>
        </p:nvSpPr>
        <p:spPr>
          <a:xfrm>
            <a:off x="5132710" y="1737360"/>
            <a:ext cx="384048" cy="384048"/>
          </a:xfrm>
          <a:prstGeom prst="ellipse">
            <a:avLst/>
          </a:prstGeom>
          <a:solidFill>
            <a:srgbClr val="E23E3E"/>
          </a:solidFill>
          <a:ln/>
        </p:spPr>
      </p:sp>
      <p:sp>
        <p:nvSpPr>
          <p:cNvPr id="13" name="Text 11"/>
          <p:cNvSpPr/>
          <p:nvPr/>
        </p:nvSpPr>
        <p:spPr>
          <a:xfrm>
            <a:off x="5132710"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5132710" y="2286000"/>
            <a:ext cx="1926275"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Kurskorrektur</a:t>
            </a:r>
            <a:endParaRPr lang="en-US" sz="1600" dirty="0"/>
          </a:p>
        </p:txBody>
      </p:sp>
      <p:sp>
        <p:nvSpPr>
          <p:cNvPr id="15" name="Text 13"/>
          <p:cNvSpPr/>
          <p:nvPr/>
        </p:nvSpPr>
        <p:spPr>
          <a:xfrm>
            <a:off x="5132710" y="2697480"/>
            <a:ext cx="1926275" cy="17373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Architektur verworfen und auf Capacitor neu aufgesetzt</a:t>
            </a:r>
            <a:endParaRPr lang="en-US" sz="1250" dirty="0"/>
          </a:p>
        </p:txBody>
      </p:sp>
      <p:sp>
        <p:nvSpPr>
          <p:cNvPr id="16" name="Shape 14"/>
          <p:cNvSpPr/>
          <p:nvPr/>
        </p:nvSpPr>
        <p:spPr>
          <a:xfrm>
            <a:off x="7379025" y="1737360"/>
            <a:ext cx="384048" cy="384048"/>
          </a:xfrm>
          <a:prstGeom prst="ellipse">
            <a:avLst/>
          </a:prstGeom>
          <a:solidFill>
            <a:srgbClr val="2F6FED"/>
          </a:solidFill>
          <a:ln/>
        </p:spPr>
      </p:sp>
      <p:sp>
        <p:nvSpPr>
          <p:cNvPr id="17" name="Text 15"/>
          <p:cNvSpPr/>
          <p:nvPr/>
        </p:nvSpPr>
        <p:spPr>
          <a:xfrm>
            <a:off x="7379025"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7379025" y="2286000"/>
            <a:ext cx="1926275"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Umsetzung</a:t>
            </a:r>
            <a:endParaRPr lang="en-US" sz="1600" dirty="0"/>
          </a:p>
        </p:txBody>
      </p:sp>
      <p:sp>
        <p:nvSpPr>
          <p:cNvPr id="19" name="Text 17"/>
          <p:cNvSpPr/>
          <p:nvPr/>
        </p:nvSpPr>
        <p:spPr>
          <a:xfrm>
            <a:off x="7379025" y="2697480"/>
            <a:ext cx="1926275" cy="17373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Aufnahme, Wiedergabe, Dateiverwaltung und Oberfläche gebaut</a:t>
            </a:r>
            <a:endParaRPr lang="en-US" sz="1250" dirty="0"/>
          </a:p>
        </p:txBody>
      </p:sp>
      <p:sp>
        <p:nvSpPr>
          <p:cNvPr id="20" name="Shape 18"/>
          <p:cNvSpPr/>
          <p:nvPr/>
        </p:nvSpPr>
        <p:spPr>
          <a:xfrm>
            <a:off x="9625340" y="1737360"/>
            <a:ext cx="384048" cy="384048"/>
          </a:xfrm>
          <a:prstGeom prst="ellipse">
            <a:avLst/>
          </a:prstGeom>
          <a:solidFill>
            <a:srgbClr val="2F6FED"/>
          </a:solidFill>
          <a:ln/>
        </p:spPr>
      </p:sp>
      <p:sp>
        <p:nvSpPr>
          <p:cNvPr id="21" name="Text 19"/>
          <p:cNvSpPr/>
          <p:nvPr/>
        </p:nvSpPr>
        <p:spPr>
          <a:xfrm>
            <a:off x="9625340"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9625340" y="2286000"/>
            <a:ext cx="1926275"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Absicherung</a:t>
            </a:r>
            <a:endParaRPr lang="en-US" sz="1600" dirty="0"/>
          </a:p>
        </p:txBody>
      </p:sp>
      <p:sp>
        <p:nvSpPr>
          <p:cNvPr id="23" name="Text 21"/>
          <p:cNvSpPr/>
          <p:nvPr/>
        </p:nvSpPr>
        <p:spPr>
          <a:xfrm>
            <a:off x="9625340" y="2697480"/>
            <a:ext cx="1926275" cy="17373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Build geprüft, Repository bereinigt, auf Gerät getestet</a:t>
            </a:r>
            <a:endParaRPr lang="en-US" sz="1250" dirty="0"/>
          </a:p>
        </p:txBody>
      </p:sp>
      <p:sp>
        <p:nvSpPr>
          <p:cNvPr id="24" name="Shape 22"/>
          <p:cNvSpPr/>
          <p:nvPr/>
        </p:nvSpPr>
        <p:spPr>
          <a:xfrm>
            <a:off x="640080" y="4754880"/>
            <a:ext cx="10911535" cy="1234440"/>
          </a:xfrm>
          <a:prstGeom prst="roundRect">
            <a:avLst>
              <a:gd name="adj" fmla="val 5926"/>
            </a:avLst>
          </a:prstGeom>
          <a:solidFill>
            <a:srgbClr val="F4F5F7"/>
          </a:solidFill>
          <a:ln/>
        </p:spPr>
      </p:sp>
      <p:sp>
        <p:nvSpPr>
          <p:cNvPr id="25" name="Text 23"/>
          <p:cNvSpPr/>
          <p:nvPr/>
        </p:nvSpPr>
        <p:spPr>
          <a:xfrm>
            <a:off x="1005840" y="4983480"/>
            <a:ext cx="10180015" cy="777240"/>
          </a:xfrm>
          <a:prstGeom prst="rect">
            <a:avLst/>
          </a:prstGeom>
          <a:noFill/>
          <a:ln/>
        </p:spPr>
        <p:txBody>
          <a:bodyPr wrap="square" lIns="0" tIns="0" rIns="0" bIns="0" rtlCol="0" anchor="ctr"/>
          <a:lstStyle/>
          <a:p>
            <a:pPr indent="0" marL="0">
              <a:buNone/>
            </a:pPr>
            <a:r>
              <a:rPr lang="en-US" sz="1500" i="1" dirty="0">
                <a:solidFill>
                  <a:srgbClr val="111827"/>
                </a:solidFill>
                <a:latin typeface="Calibri" pitchFamily="34" charset="0"/>
                <a:ea typeface="Calibri" pitchFamily="34" charset="-122"/>
                <a:cs typeface="Calibri" pitchFamily="34" charset="-120"/>
              </a:rPr>
              <a:t>Der Bruch in Schritt 3 hat uns Zeit gekostet — und war der lehrreichste Teil des Projekts.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KI-Agenten als Werkzeug</a:t>
            </a:r>
            <a:endParaRPr lang="en-US" sz="3200" dirty="0"/>
          </a:p>
        </p:txBody>
      </p:sp>
      <p:sp>
        <p:nvSpPr>
          <p:cNvPr id="4" name="Text 2"/>
          <p:cNvSpPr/>
          <p:nvPr/>
        </p:nvSpPr>
        <p:spPr>
          <a:xfrm>
            <a:off x="932688" y="932688"/>
            <a:ext cx="10618927"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Claude und Gemini haben wir durchgehend eingesetzt — mit klaren Stärken und Grenzen</a:t>
            </a:r>
            <a:endParaRPr lang="en-US" sz="1400" dirty="0"/>
          </a:p>
        </p:txBody>
      </p:sp>
      <p:sp>
        <p:nvSpPr>
          <p:cNvPr id="5" name="Shape 3"/>
          <p:cNvSpPr/>
          <p:nvPr/>
        </p:nvSpPr>
        <p:spPr>
          <a:xfrm>
            <a:off x="640080" y="1600200"/>
            <a:ext cx="5227168" cy="2286000"/>
          </a:xfrm>
          <a:prstGeom prst="roundRect">
            <a:avLst>
              <a:gd name="adj" fmla="val 3200"/>
            </a:avLst>
          </a:prstGeom>
          <a:solidFill>
            <a:srgbClr val="F4F5F7"/>
          </a:solidFill>
          <a:ln/>
        </p:spPr>
      </p:sp>
      <p:sp>
        <p:nvSpPr>
          <p:cNvPr id="6" name="Text 4"/>
          <p:cNvSpPr/>
          <p:nvPr/>
        </p:nvSpPr>
        <p:spPr>
          <a:xfrm>
            <a:off x="960120" y="1810512"/>
            <a:ext cx="4587088"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Wobei es gut funktioniert hat</a:t>
            </a:r>
            <a:endParaRPr lang="en-US" sz="1500" dirty="0"/>
          </a:p>
        </p:txBody>
      </p:sp>
      <p:sp>
        <p:nvSpPr>
          <p:cNvPr id="7" name="Text 5"/>
          <p:cNvSpPr/>
          <p:nvPr/>
        </p:nvSpPr>
        <p:spPr>
          <a:xfrm>
            <a:off x="960120" y="2212848"/>
            <a:ext cx="4587088" cy="1554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Überblick über eine unbekannte Dateistruktur gewinnen</a:t>
            </a:r>
            <a:endParaRPr lang="en-US" sz="1250" dirty="0"/>
          </a:p>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Plugin-Dokumentation zusammenfassen und einordnen</a:t>
            </a:r>
            <a:endParaRPr lang="en-US" sz="1250" dirty="0"/>
          </a:p>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Fehlermeldungen einordnen, die nichts über die Ursache verraten</a:t>
            </a:r>
            <a:endParaRPr lang="en-US" sz="1250" dirty="0"/>
          </a:p>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Routinearbeit: Konfiguration, Gerüstcode, Dokumentation</a:t>
            </a:r>
            <a:endParaRPr lang="en-US" sz="1250" dirty="0"/>
          </a:p>
        </p:txBody>
      </p:sp>
      <p:sp>
        <p:nvSpPr>
          <p:cNvPr id="8" name="Shape 6"/>
          <p:cNvSpPr/>
          <p:nvPr/>
        </p:nvSpPr>
        <p:spPr>
          <a:xfrm>
            <a:off x="6324448" y="1600200"/>
            <a:ext cx="5227168" cy="2286000"/>
          </a:xfrm>
          <a:prstGeom prst="roundRect">
            <a:avLst>
              <a:gd name="adj" fmla="val 3200"/>
            </a:avLst>
          </a:prstGeom>
          <a:solidFill>
            <a:srgbClr val="F4F5F7"/>
          </a:solidFill>
          <a:ln/>
        </p:spPr>
      </p:sp>
      <p:sp>
        <p:nvSpPr>
          <p:cNvPr id="9" name="Text 7"/>
          <p:cNvSpPr/>
          <p:nvPr/>
        </p:nvSpPr>
        <p:spPr>
          <a:xfrm>
            <a:off x="6644488" y="1810512"/>
            <a:ext cx="4587088"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Wo wir aufpassen mussten</a:t>
            </a:r>
            <a:endParaRPr lang="en-US" sz="1500" dirty="0"/>
          </a:p>
        </p:txBody>
      </p:sp>
      <p:sp>
        <p:nvSpPr>
          <p:cNvPr id="10" name="Text 8"/>
          <p:cNvSpPr/>
          <p:nvPr/>
        </p:nvSpPr>
        <p:spPr>
          <a:xfrm>
            <a:off x="6644488" y="2212848"/>
            <a:ext cx="4587088" cy="1554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Überzeugend formulierte Lösungen, die an der Aufgabe vorbeigehen</a:t>
            </a:r>
            <a:endParaRPr lang="en-US" sz="1250" dirty="0"/>
          </a:p>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Veraltete Annahmen über Versionen und Bezugsquellen</a:t>
            </a:r>
            <a:endParaRPr lang="en-US" sz="1250" dirty="0"/>
          </a:p>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Kein Wissen über den Zustand unseres Rechners</a:t>
            </a:r>
            <a:endParaRPr lang="en-US" sz="1250" dirty="0"/>
          </a:p>
          <a:p>
            <a:pPr marL="342900" indent="-3429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Kein Ersatz für den Test auf echter Hardware</a:t>
            </a:r>
            <a:endParaRPr lang="en-US" sz="1250" dirty="0"/>
          </a:p>
        </p:txBody>
      </p:sp>
      <p:sp>
        <p:nvSpPr>
          <p:cNvPr id="11" name="Shape 9"/>
          <p:cNvSpPr/>
          <p:nvPr/>
        </p:nvSpPr>
        <p:spPr>
          <a:xfrm>
            <a:off x="640080" y="4114800"/>
            <a:ext cx="10911535" cy="1783080"/>
          </a:xfrm>
          <a:prstGeom prst="roundRect">
            <a:avLst>
              <a:gd name="adj" fmla="val 4103"/>
            </a:avLst>
          </a:prstGeom>
          <a:solidFill>
            <a:srgbClr val="0F1419"/>
          </a:solidFill>
          <a:ln/>
        </p:spPr>
      </p:sp>
      <p:sp>
        <p:nvSpPr>
          <p:cNvPr id="12" name="Shape 10"/>
          <p:cNvSpPr/>
          <p:nvPr/>
        </p:nvSpPr>
        <p:spPr>
          <a:xfrm>
            <a:off x="1005840" y="4416552"/>
            <a:ext cx="146304" cy="146304"/>
          </a:xfrm>
          <a:prstGeom prst="ellipse">
            <a:avLst/>
          </a:prstGeom>
          <a:solidFill>
            <a:srgbClr val="E23E3E"/>
          </a:solidFill>
          <a:ln/>
        </p:spPr>
      </p:sp>
      <p:sp>
        <p:nvSpPr>
          <p:cNvPr id="13" name="Text 11"/>
          <p:cNvSpPr/>
          <p:nvPr/>
        </p:nvSpPr>
        <p:spPr>
          <a:xfrm>
            <a:off x="1298448" y="4315968"/>
            <a:ext cx="9814255"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Unsere Regel daraus</a:t>
            </a:r>
            <a:endParaRPr lang="en-US" sz="1500" dirty="0"/>
          </a:p>
        </p:txBody>
      </p:sp>
      <p:sp>
        <p:nvSpPr>
          <p:cNvPr id="14" name="Text 12"/>
          <p:cNvSpPr/>
          <p:nvPr/>
        </p:nvSpPr>
        <p:spPr>
          <a:xfrm>
            <a:off x="1005840" y="4754880"/>
            <a:ext cx="10180015" cy="960120"/>
          </a:xfrm>
          <a:prstGeom prst="rect">
            <a:avLst/>
          </a:prstGeom>
          <a:noFill/>
          <a:ln/>
        </p:spPr>
        <p:txBody>
          <a:bodyPr wrap="square" lIns="0" tIns="0" rIns="0" bIns="0" rtlCol="0" anchor="t"/>
          <a:lstStyle/>
          <a:p>
            <a:pPr indent="0" marL="0">
              <a:buNone/>
            </a:pPr>
            <a:r>
              <a:rPr lang="en-US" sz="1350" dirty="0">
                <a:solidFill>
                  <a:srgbClr val="D1D5DB"/>
                </a:solidFill>
                <a:latin typeface="Calibri" pitchFamily="34" charset="0"/>
                <a:ea typeface="Calibri" pitchFamily="34" charset="-122"/>
                <a:cs typeface="Calibri" pitchFamily="34" charset="-120"/>
              </a:rPr>
              <a:t>Ein Agent liefert einen Vorschlag, kein Ergebnis. Die Aufgabenstellung bleibt das Prüfkriterium — nicht die Frage, ob der Code läuft. Wir haben nach der Kurskorrektur jede Anforderung einzeln gegen den Code abgeglichen statt gegen den Eindruck, dass es funktioniert.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Problem 1: Die Lösung war fertig — und falsch</a:t>
            </a:r>
            <a:endParaRPr lang="en-US" sz="3200" dirty="0"/>
          </a:p>
        </p:txBody>
      </p:sp>
      <p:sp>
        <p:nvSpPr>
          <p:cNvPr id="4" name="Shape 2"/>
          <p:cNvSpPr/>
          <p:nvPr/>
        </p:nvSpPr>
        <p:spPr>
          <a:xfrm>
            <a:off x="640080" y="1554480"/>
            <a:ext cx="5227168" cy="3200400"/>
          </a:xfrm>
          <a:prstGeom prst="roundRect">
            <a:avLst>
              <a:gd name="adj" fmla="val 2286"/>
            </a:avLst>
          </a:prstGeom>
          <a:solidFill>
            <a:srgbClr val="F4F5F7"/>
          </a:solidFill>
          <a:ln/>
        </p:spPr>
      </p:sp>
      <p:sp>
        <p:nvSpPr>
          <p:cNvPr id="5" name="Text 3"/>
          <p:cNvSpPr/>
          <p:nvPr/>
        </p:nvSpPr>
        <p:spPr>
          <a:xfrm>
            <a:off x="960120" y="1783080"/>
            <a:ext cx="4587088" cy="320040"/>
          </a:xfrm>
          <a:prstGeom prst="rect">
            <a:avLst/>
          </a:prstGeom>
          <a:noFill/>
          <a:ln/>
        </p:spPr>
        <p:txBody>
          <a:bodyPr wrap="square" lIns="0" tIns="0" rIns="0" bIns="0" rtlCol="0" anchor="ctr"/>
          <a:lstStyle/>
          <a:p>
            <a:pPr indent="0" marL="0">
              <a:buNone/>
            </a:pPr>
            <a:r>
              <a:rPr lang="en-US" sz="1500" b="1" dirty="0">
                <a:solidFill>
                  <a:srgbClr val="E23E3E"/>
                </a:solidFill>
                <a:latin typeface="Calibri" pitchFamily="34" charset="0"/>
                <a:ea typeface="Calibri" pitchFamily="34" charset="-122"/>
                <a:cs typeface="Calibri" pitchFamily="34" charset="-120"/>
              </a:rPr>
              <a:t>Was wir hatten</a:t>
            </a:r>
            <a:endParaRPr lang="en-US" sz="1500" dirty="0"/>
          </a:p>
        </p:txBody>
      </p:sp>
      <p:sp>
        <p:nvSpPr>
          <p:cNvPr id="6" name="Text 4"/>
          <p:cNvSpPr/>
          <p:nvPr/>
        </p:nvSpPr>
        <p:spPr>
          <a:xfrm>
            <a:off x="960120" y="2194560"/>
            <a:ext cx="4587088"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374151"/>
                </a:solidFill>
                <a:latin typeface="Calibri" pitchFamily="34" charset="0"/>
                <a:ea typeface="Calibri" pitchFamily="34" charset="-122"/>
                <a:cs typeface="Calibri" pitchFamily="34" charset="-120"/>
              </a:rPr>
              <a:t>Eine native Android-App in Kotlin</a:t>
            </a:r>
            <a:endParaRPr lang="en-US" sz="1350" dirty="0"/>
          </a:p>
          <a:p>
            <a:pPr marL="342900" indent="-342900">
              <a:spcAft>
                <a:spcPts val="900"/>
              </a:spcAft>
              <a:buSzPct val="100000"/>
              <a:buChar char="•"/>
            </a:pPr>
            <a:r>
              <a:rPr lang="en-US" sz="1350" dirty="0">
                <a:solidFill>
                  <a:srgbClr val="374151"/>
                </a:solidFill>
                <a:latin typeface="Calibri" pitchFamily="34" charset="0"/>
                <a:ea typeface="Calibri" pitchFamily="34" charset="-122"/>
                <a:cs typeface="Calibri" pitchFamily="34" charset="-120"/>
              </a:rPr>
              <a:t>Alle elf Anforderungen sichtbar erfüllt</a:t>
            </a:r>
            <a:endParaRPr lang="en-US" sz="1350" dirty="0"/>
          </a:p>
          <a:p>
            <a:pPr marL="342900" indent="-342900">
              <a:spcAft>
                <a:spcPts val="900"/>
              </a:spcAft>
              <a:buSzPct val="100000"/>
              <a:buChar char="•"/>
            </a:pPr>
            <a:r>
              <a:rPr lang="en-US" sz="1350" dirty="0">
                <a:solidFill>
                  <a:srgbClr val="374151"/>
                </a:solidFill>
                <a:latin typeface="Calibri" pitchFamily="34" charset="0"/>
                <a:ea typeface="Calibri" pitchFamily="34" charset="-122"/>
                <a:cs typeface="Calibri" pitchFamily="34" charset="-120"/>
              </a:rPr>
              <a:t>Lief einwandfrei auf dem Gerät</a:t>
            </a:r>
            <a:endParaRPr lang="en-US" sz="1350" dirty="0"/>
          </a:p>
          <a:p>
            <a:pPr marL="342900" indent="-342900">
              <a:spcAft>
                <a:spcPts val="900"/>
              </a:spcAft>
              <a:buSzPct val="100000"/>
              <a:buChar char="•"/>
            </a:pPr>
            <a:r>
              <a:rPr lang="en-US" sz="1350" dirty="0">
                <a:solidFill>
                  <a:srgbClr val="374151"/>
                </a:solidFill>
                <a:latin typeface="Calibri" pitchFamily="34" charset="0"/>
                <a:ea typeface="Calibri" pitchFamily="34" charset="-122"/>
                <a:cs typeface="Calibri" pitchFamily="34" charset="-120"/>
              </a:rPr>
              <a:t>Die Plugins waren nachgebaut statt eingebunden</a:t>
            </a:r>
            <a:endParaRPr lang="en-US" sz="1350" dirty="0"/>
          </a:p>
        </p:txBody>
      </p:sp>
      <p:sp>
        <p:nvSpPr>
          <p:cNvPr id="7" name="Shape 5"/>
          <p:cNvSpPr/>
          <p:nvPr/>
        </p:nvSpPr>
        <p:spPr>
          <a:xfrm>
            <a:off x="6324448" y="1554480"/>
            <a:ext cx="5227168" cy="3200400"/>
          </a:xfrm>
          <a:prstGeom prst="roundRect">
            <a:avLst>
              <a:gd name="adj" fmla="val 2286"/>
            </a:avLst>
          </a:prstGeom>
          <a:solidFill>
            <a:srgbClr val="0F1419"/>
          </a:solidFill>
          <a:ln/>
        </p:spPr>
      </p:sp>
      <p:sp>
        <p:nvSpPr>
          <p:cNvPr id="8" name="Text 6"/>
          <p:cNvSpPr/>
          <p:nvPr/>
        </p:nvSpPr>
        <p:spPr>
          <a:xfrm>
            <a:off x="6644488" y="1783080"/>
            <a:ext cx="4587088"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Was gefordert war</a:t>
            </a:r>
            <a:endParaRPr lang="en-US" sz="1500" dirty="0"/>
          </a:p>
        </p:txBody>
      </p:sp>
      <p:sp>
        <p:nvSpPr>
          <p:cNvPr id="9" name="Text 7"/>
          <p:cNvSpPr/>
          <p:nvPr/>
        </p:nvSpPr>
        <p:spPr>
          <a:xfrm>
            <a:off x="6644488" y="2194560"/>
            <a:ext cx="4587088"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E5E7EB"/>
                </a:solidFill>
                <a:latin typeface="Calibri" pitchFamily="34" charset="0"/>
                <a:ea typeface="Calibri" pitchFamily="34" charset="-122"/>
                <a:cs typeface="Calibri" pitchFamily="34" charset="-120"/>
              </a:rPr>
              <a:t>Eine hybride App mit Ionic Capacitor</a:t>
            </a:r>
            <a:endParaRPr lang="en-US" sz="1350" dirty="0"/>
          </a:p>
          <a:p>
            <a:pPr marL="342900" indent="-342900">
              <a:spcAft>
                <a:spcPts val="900"/>
              </a:spcAft>
              <a:buSzPct val="100000"/>
              <a:buChar char="•"/>
            </a:pPr>
            <a:r>
              <a:rPr lang="en-US" sz="1350" dirty="0">
                <a:solidFill>
                  <a:srgbClr val="E5E7EB"/>
                </a:solidFill>
                <a:latin typeface="Calibri" pitchFamily="34" charset="0"/>
                <a:ea typeface="Calibri" pitchFamily="34" charset="-122"/>
                <a:cs typeface="Calibri" pitchFamily="34" charset="-120"/>
              </a:rPr>
              <a:t>Die fünf genannten Plugins im Einsatz</a:t>
            </a:r>
            <a:endParaRPr lang="en-US" sz="1350" dirty="0"/>
          </a:p>
          <a:p>
            <a:pPr marL="342900" indent="-342900">
              <a:spcAft>
                <a:spcPts val="900"/>
              </a:spcAft>
              <a:buSzPct val="100000"/>
              <a:buChar char="•"/>
            </a:pPr>
            <a:r>
              <a:rPr lang="en-US" sz="1350" dirty="0">
                <a:solidFill>
                  <a:srgbClr val="E5E7EB"/>
                </a:solidFill>
                <a:latin typeface="Calibri" pitchFamily="34" charset="0"/>
                <a:ea typeface="Calibri" pitchFamily="34" charset="-122"/>
                <a:cs typeface="Calibri" pitchFamily="34" charset="-120"/>
              </a:rPr>
              <a:t>Modul heißt „Hybride App-Entwicklung"</a:t>
            </a:r>
            <a:endParaRPr lang="en-US" sz="1350" dirty="0"/>
          </a:p>
          <a:p>
            <a:pPr marL="342900" indent="-342900">
              <a:spcAft>
                <a:spcPts val="900"/>
              </a:spcAft>
              <a:buSzPct val="100000"/>
              <a:buChar char="•"/>
            </a:pPr>
            <a:r>
              <a:rPr lang="en-US" sz="1350" dirty="0">
                <a:solidFill>
                  <a:srgbClr val="E5E7EB"/>
                </a:solidFill>
                <a:latin typeface="Calibri" pitchFamily="34" charset="0"/>
                <a:ea typeface="Calibri" pitchFamily="34" charset="-122"/>
                <a:cs typeface="Calibri" pitchFamily="34" charset="-120"/>
              </a:rPr>
              <a:t>Die Lizenzschlüssel ergeben nur mit den echten Plugins Sinn</a:t>
            </a:r>
            <a:endParaRPr lang="en-US" sz="1350" dirty="0"/>
          </a:p>
        </p:txBody>
      </p:sp>
      <p:sp>
        <p:nvSpPr>
          <p:cNvPr id="10" name="Text 8"/>
          <p:cNvSpPr/>
          <p:nvPr/>
        </p:nvSpPr>
        <p:spPr>
          <a:xfrm>
            <a:off x="640080" y="5029200"/>
            <a:ext cx="10911535" cy="822960"/>
          </a:xfrm>
          <a:prstGeom prst="rect">
            <a:avLst/>
          </a:prstGeom>
          <a:noFill/>
          <a:ln/>
        </p:spPr>
        <p:txBody>
          <a:bodyPr wrap="square" lIns="0" tIns="0" rIns="0" bIns="0" rtlCol="0" anchor="ctr"/>
          <a:lstStyle/>
          <a:p>
            <a:pPr indent="0" marL="0">
              <a:buNone/>
            </a:pPr>
            <a:r>
              <a:rPr lang="en-US" sz="1900" i="1" dirty="0">
                <a:solidFill>
                  <a:srgbClr val="111827"/>
                </a:solidFill>
                <a:latin typeface="Cambria" pitchFamily="34" charset="0"/>
                <a:ea typeface="Cambria" pitchFamily="34" charset="-122"/>
                <a:cs typeface="Cambria" pitchFamily="34" charset="-120"/>
              </a:rPr>
              <a:t>Eine App, die tut was sie soll, kann die Aufgabe trotzdem verfehlen. „Funktioniert" ist kein Abnahmekriterium.</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Problem 2: Die Werkzeugkette</a:t>
            </a:r>
            <a:endParaRPr lang="en-US" sz="3200" dirty="0"/>
          </a:p>
        </p:txBody>
      </p:sp>
      <p:sp>
        <p:nvSpPr>
          <p:cNvPr id="4" name="Text 2"/>
          <p:cNvSpPr/>
          <p:nvPr/>
        </p:nvSpPr>
        <p:spPr>
          <a:xfrm>
            <a:off x="932688" y="932688"/>
            <a:ext cx="10618927"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Zwei Blocker, die nichts mit unserem Code zu tun hatten</a:t>
            </a:r>
            <a:endParaRPr lang="en-US" sz="1400" dirty="0"/>
          </a:p>
        </p:txBody>
      </p:sp>
      <p:sp>
        <p:nvSpPr>
          <p:cNvPr id="5" name="Shape 3"/>
          <p:cNvSpPr/>
          <p:nvPr/>
        </p:nvSpPr>
        <p:spPr>
          <a:xfrm>
            <a:off x="640080" y="1645920"/>
            <a:ext cx="5227168" cy="4023360"/>
          </a:xfrm>
          <a:prstGeom prst="roundRect">
            <a:avLst>
              <a:gd name="adj" fmla="val 1818"/>
            </a:avLst>
          </a:prstGeom>
          <a:solidFill>
            <a:srgbClr val="F4F5F7"/>
          </a:solidFill>
          <a:ln/>
        </p:spPr>
      </p:sp>
      <p:sp>
        <p:nvSpPr>
          <p:cNvPr id="6" name="Shape 4"/>
          <p:cNvSpPr/>
          <p:nvPr/>
        </p:nvSpPr>
        <p:spPr>
          <a:xfrm>
            <a:off x="960120" y="1874520"/>
            <a:ext cx="384048" cy="384048"/>
          </a:xfrm>
          <a:prstGeom prst="ellipse">
            <a:avLst/>
          </a:prstGeom>
          <a:solidFill>
            <a:srgbClr val="2F6FED"/>
          </a:solidFill>
          <a:ln/>
        </p:spPr>
      </p:sp>
      <p:sp>
        <p:nvSpPr>
          <p:cNvPr id="7" name="Text 5"/>
          <p:cNvSpPr/>
          <p:nvPr/>
        </p:nvSpPr>
        <p:spPr>
          <a:xfrm>
            <a:off x="960120" y="1874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63040" y="1874520"/>
            <a:ext cx="4084168" cy="41148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Die Bezugsquelle war umgezogen</a:t>
            </a:r>
            <a:endParaRPr lang="en-US" sz="1500" dirty="0"/>
          </a:p>
        </p:txBody>
      </p:sp>
      <p:sp>
        <p:nvSpPr>
          <p:cNvPr id="9" name="Text 7"/>
          <p:cNvSpPr/>
          <p:nvPr/>
        </p:nvSpPr>
        <p:spPr>
          <a:xfrm>
            <a:off x="960120" y="2423160"/>
            <a:ext cx="4587088" cy="301752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Die beiden kostenpflichtigen Plugins liegen in einer privaten Paketquelle. Die im Kurs hinterlegte Adresse existierte nicht mehr — sie zeigte auf eine geparkte Domain mit abgelaufenem Zertifikat.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Die Fehlermeldung sprach von einem Zertifikatsproblem und legte damit eine völlig falsche Fährte. Die Lösung war eine neue Adresse, zu finden in der aktuellen Dokumentation des Anbieters.</a:t>
            </a:r>
            <a:endParaRPr lang="en-US" sz="1300" dirty="0"/>
          </a:p>
        </p:txBody>
      </p:sp>
      <p:sp>
        <p:nvSpPr>
          <p:cNvPr id="10" name="Shape 8"/>
          <p:cNvSpPr/>
          <p:nvPr/>
        </p:nvSpPr>
        <p:spPr>
          <a:xfrm>
            <a:off x="6324448" y="1645920"/>
            <a:ext cx="5227168" cy="4023360"/>
          </a:xfrm>
          <a:prstGeom prst="roundRect">
            <a:avLst>
              <a:gd name="adj" fmla="val 1818"/>
            </a:avLst>
          </a:prstGeom>
          <a:solidFill>
            <a:srgbClr val="F4F5F7"/>
          </a:solidFill>
          <a:ln/>
        </p:spPr>
      </p:sp>
      <p:sp>
        <p:nvSpPr>
          <p:cNvPr id="11" name="Shape 9"/>
          <p:cNvSpPr/>
          <p:nvPr/>
        </p:nvSpPr>
        <p:spPr>
          <a:xfrm>
            <a:off x="6644488" y="1874520"/>
            <a:ext cx="384048" cy="384048"/>
          </a:xfrm>
          <a:prstGeom prst="ellipse">
            <a:avLst/>
          </a:prstGeom>
          <a:solidFill>
            <a:srgbClr val="2F6FED"/>
          </a:solidFill>
          <a:ln/>
        </p:spPr>
      </p:sp>
      <p:sp>
        <p:nvSpPr>
          <p:cNvPr id="12" name="Text 10"/>
          <p:cNvSpPr/>
          <p:nvPr/>
        </p:nvSpPr>
        <p:spPr>
          <a:xfrm>
            <a:off x="6644488" y="1874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147408" y="1874520"/>
            <a:ext cx="4084168" cy="41148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Die Java-Version zwischen zwei Stühlen</a:t>
            </a:r>
            <a:endParaRPr lang="en-US" sz="1500" dirty="0"/>
          </a:p>
        </p:txBody>
      </p:sp>
      <p:sp>
        <p:nvSpPr>
          <p:cNvPr id="14" name="Text 12"/>
          <p:cNvSpPr/>
          <p:nvPr/>
        </p:nvSpPr>
        <p:spPr>
          <a:xfrm>
            <a:off x="6644488" y="2423160"/>
            <a:ext cx="4587088" cy="301752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Der Build verlangt eine ganz bestimmte Java-Version. Zu alt und zu neu scheitern beide — mit Meldungen, die den Zusammenhang nicht erkennen lassen.</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Gelöst durch eine feste Vorgabe im Projekt: Das Build-System lädt sich die passende Version selbst herunter. Damit funktioniert der Build auf jedem Rechner gleich — auch beim Korrektor.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Problem 3: Eigenheiten der Plattform</a:t>
            </a:r>
            <a:endParaRPr lang="en-US" sz="3200" dirty="0"/>
          </a:p>
        </p:txBody>
      </p:sp>
      <p:sp>
        <p:nvSpPr>
          <p:cNvPr id="4" name="Shape 2"/>
          <p:cNvSpPr/>
          <p:nvPr/>
        </p:nvSpPr>
        <p:spPr>
          <a:xfrm>
            <a:off x="640080" y="1600200"/>
            <a:ext cx="10911535" cy="1371600"/>
          </a:xfrm>
          <a:prstGeom prst="roundRect">
            <a:avLst>
              <a:gd name="adj" fmla="val 5333"/>
            </a:avLst>
          </a:prstGeom>
          <a:solidFill>
            <a:srgbClr val="F4F5F7"/>
          </a:solidFill>
          <a:ln/>
        </p:spPr>
      </p:sp>
      <p:sp>
        <p:nvSpPr>
          <p:cNvPr id="5" name="Shape 3"/>
          <p:cNvSpPr/>
          <p:nvPr/>
        </p:nvSpPr>
        <p:spPr>
          <a:xfrm>
            <a:off x="960120" y="1892808"/>
            <a:ext cx="384048" cy="384048"/>
          </a:xfrm>
          <a:prstGeom prst="ellipse">
            <a:avLst/>
          </a:prstGeom>
          <a:solidFill>
            <a:srgbClr val="2F6FED"/>
          </a:solidFill>
          <a:ln/>
        </p:spPr>
      </p:sp>
      <p:sp>
        <p:nvSpPr>
          <p:cNvPr id="6" name="Text 4"/>
          <p:cNvSpPr/>
          <p:nvPr/>
        </p:nvSpPr>
        <p:spPr>
          <a:xfrm>
            <a:off x="960120" y="1892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08760" y="1801368"/>
            <a:ext cx="9677095"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Teilen scheiterte am Sicherheitsmodell</a:t>
            </a:r>
            <a:endParaRPr lang="en-US" sz="1500" dirty="0"/>
          </a:p>
        </p:txBody>
      </p:sp>
      <p:sp>
        <p:nvSpPr>
          <p:cNvPr id="8" name="Text 6"/>
          <p:cNvSpPr/>
          <p:nvPr/>
        </p:nvSpPr>
        <p:spPr>
          <a:xfrm>
            <a:off x="1508760" y="2148840"/>
            <a:ext cx="9677095" cy="73152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Android verbietet es, den eigenen Dateipfad an eine fremde App weiterzureichen. Es braucht einen kontrollierten Zugriffsweg, der ausdrücklich freigegeben werden muss. Ohne diese Freigabe bricht das Teilen ab — die Meldung nennt aber nur eine Ausnahme, keine Ursache.</a:t>
            </a:r>
            <a:endParaRPr lang="en-US" sz="1250" dirty="0"/>
          </a:p>
        </p:txBody>
      </p:sp>
      <p:sp>
        <p:nvSpPr>
          <p:cNvPr id="9" name="Shape 7"/>
          <p:cNvSpPr/>
          <p:nvPr/>
        </p:nvSpPr>
        <p:spPr>
          <a:xfrm>
            <a:off x="640080" y="3108960"/>
            <a:ext cx="10911535" cy="1371600"/>
          </a:xfrm>
          <a:prstGeom prst="roundRect">
            <a:avLst>
              <a:gd name="adj" fmla="val 5333"/>
            </a:avLst>
          </a:prstGeom>
          <a:solidFill>
            <a:srgbClr val="F4F5F7"/>
          </a:solidFill>
          <a:ln/>
        </p:spPr>
      </p:sp>
      <p:sp>
        <p:nvSpPr>
          <p:cNvPr id="10" name="Shape 8"/>
          <p:cNvSpPr/>
          <p:nvPr/>
        </p:nvSpPr>
        <p:spPr>
          <a:xfrm>
            <a:off x="960120" y="3401568"/>
            <a:ext cx="384048" cy="384048"/>
          </a:xfrm>
          <a:prstGeom prst="ellipse">
            <a:avLst/>
          </a:prstGeom>
          <a:solidFill>
            <a:srgbClr val="E23E3E"/>
          </a:solidFill>
          <a:ln/>
        </p:spPr>
      </p:sp>
      <p:sp>
        <p:nvSpPr>
          <p:cNvPr id="11" name="Text 9"/>
          <p:cNvSpPr/>
          <p:nvPr/>
        </p:nvSpPr>
        <p:spPr>
          <a:xfrm>
            <a:off x="960120" y="3401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3310128"/>
            <a:ext cx="9677095"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Der Emulator hat kein Mikrofon</a:t>
            </a:r>
            <a:endParaRPr lang="en-US" sz="1500" dirty="0"/>
          </a:p>
        </p:txBody>
      </p:sp>
      <p:sp>
        <p:nvSpPr>
          <p:cNvPr id="13" name="Text 11"/>
          <p:cNvSpPr/>
          <p:nvPr/>
        </p:nvSpPr>
        <p:spPr>
          <a:xfrm>
            <a:off x="1508760" y="3657600"/>
            <a:ext cx="9677095" cy="73152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Die Audioeingabe des Emulators ist standardmäßig abgeschaltet und muss erst auf das Mikrofon des Rechners umgeleitet werden. Für belastbare Aussagen zur Aufnahmequalität führt trotzdem kein Weg an echter Hardware vorbei — die Aufgabenstellung sagt das nicht ohne Grund.</a:t>
            </a:r>
            <a:endParaRPr lang="en-US" sz="1250" dirty="0"/>
          </a:p>
        </p:txBody>
      </p:sp>
      <p:sp>
        <p:nvSpPr>
          <p:cNvPr id="14" name="Shape 12"/>
          <p:cNvSpPr/>
          <p:nvPr/>
        </p:nvSpPr>
        <p:spPr>
          <a:xfrm>
            <a:off x="640080" y="4617720"/>
            <a:ext cx="10911535" cy="1371600"/>
          </a:xfrm>
          <a:prstGeom prst="roundRect">
            <a:avLst>
              <a:gd name="adj" fmla="val 5333"/>
            </a:avLst>
          </a:prstGeom>
          <a:solidFill>
            <a:srgbClr val="F4F5F7"/>
          </a:solidFill>
          <a:ln/>
        </p:spPr>
      </p:sp>
      <p:sp>
        <p:nvSpPr>
          <p:cNvPr id="15" name="Shape 13"/>
          <p:cNvSpPr/>
          <p:nvPr/>
        </p:nvSpPr>
        <p:spPr>
          <a:xfrm>
            <a:off x="960120" y="4910328"/>
            <a:ext cx="384048" cy="384048"/>
          </a:xfrm>
          <a:prstGeom prst="ellipse">
            <a:avLst/>
          </a:prstGeom>
          <a:solidFill>
            <a:srgbClr val="2F6FED"/>
          </a:solidFill>
          <a:ln/>
        </p:spPr>
      </p:sp>
      <p:sp>
        <p:nvSpPr>
          <p:cNvPr id="16" name="Text 14"/>
          <p:cNvSpPr/>
          <p:nvPr/>
        </p:nvSpPr>
        <p:spPr>
          <a:xfrm>
            <a:off x="960120" y="49103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08760" y="4818888"/>
            <a:ext cx="9677095"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Aufnahmen landen zuerst im Zwischenspeicher</a:t>
            </a:r>
            <a:endParaRPr lang="en-US" sz="1500" dirty="0"/>
          </a:p>
        </p:txBody>
      </p:sp>
      <p:sp>
        <p:nvSpPr>
          <p:cNvPr id="18" name="Text 16"/>
          <p:cNvSpPr/>
          <p:nvPr/>
        </p:nvSpPr>
        <p:spPr>
          <a:xfrm>
            <a:off x="1508760" y="5166360"/>
            <a:ext cx="9677095" cy="73152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Das Recorder-Plugin schreibt in einen Bereich, den Android jederzeit leeren darf. Wer die Datei dort liegen lässt, verliert sie irgendwann. Der Umweg über Kopieren und Umbenennen ist kein Selbstzweck, sondern die Bedingung für Persistenz.</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Problem 4: Ein Geheimnis im öffentlichen Repository</a:t>
            </a:r>
            <a:endParaRPr lang="en-US" sz="3200" dirty="0"/>
          </a:p>
        </p:txBody>
      </p:sp>
      <p:sp>
        <p:nvSpPr>
          <p:cNvPr id="4" name="Shape 2"/>
          <p:cNvSpPr/>
          <p:nvPr/>
        </p:nvSpPr>
        <p:spPr>
          <a:xfrm>
            <a:off x="640080" y="1600200"/>
            <a:ext cx="10911535" cy="1371600"/>
          </a:xfrm>
          <a:prstGeom prst="roundRect">
            <a:avLst>
              <a:gd name="adj" fmla="val 5333"/>
            </a:avLst>
          </a:prstGeom>
          <a:solidFill>
            <a:srgbClr val="0F1419"/>
          </a:solidFill>
          <a:ln/>
        </p:spPr>
      </p:sp>
      <p:sp>
        <p:nvSpPr>
          <p:cNvPr id="5" name="Shape 3"/>
          <p:cNvSpPr/>
          <p:nvPr/>
        </p:nvSpPr>
        <p:spPr>
          <a:xfrm>
            <a:off x="1005840" y="1993392"/>
            <a:ext cx="164592" cy="164592"/>
          </a:xfrm>
          <a:prstGeom prst="ellipse">
            <a:avLst/>
          </a:prstGeom>
          <a:solidFill>
            <a:srgbClr val="E23E3E"/>
          </a:solidFill>
          <a:ln/>
        </p:spPr>
      </p:sp>
      <p:sp>
        <p:nvSpPr>
          <p:cNvPr id="6" name="Text 4"/>
          <p:cNvSpPr/>
          <p:nvPr/>
        </p:nvSpPr>
        <p:spPr>
          <a:xfrm>
            <a:off x="1353312" y="1783080"/>
            <a:ext cx="9814255" cy="1005840"/>
          </a:xfrm>
          <a:prstGeom prst="rect">
            <a:avLst/>
          </a:prstGeom>
          <a:noFill/>
          <a:ln/>
        </p:spPr>
        <p:txBody>
          <a:bodyPr wrap="square" lIns="0" tIns="0" rIns="0" bIns="0" rtlCol="0" anchor="ctr"/>
          <a:lstStyle/>
          <a:p>
            <a:pPr indent="0" marL="0">
              <a:buNone/>
            </a:pPr>
            <a:r>
              <a:rPr lang="en-US" sz="1900" dirty="0">
                <a:solidFill>
                  <a:srgbClr val="FFFFFF"/>
                </a:solidFill>
                <a:latin typeface="Cambria" pitchFamily="34" charset="0"/>
                <a:ea typeface="Cambria" pitchFamily="34" charset="-122"/>
                <a:cs typeface="Cambria" pitchFamily="34" charset="-120"/>
              </a:rPr>
              <a:t>Der Lizenzschlüssel stand im Quelltext — in einem öffentlich sichtbaren Repository.</a:t>
            </a:r>
            <a:endParaRPr lang="en-US" sz="1900" dirty="0"/>
          </a:p>
        </p:txBody>
      </p:sp>
      <p:sp>
        <p:nvSpPr>
          <p:cNvPr id="7" name="Shape 5"/>
          <p:cNvSpPr/>
          <p:nvPr/>
        </p:nvSpPr>
        <p:spPr>
          <a:xfrm>
            <a:off x="640080" y="3200400"/>
            <a:ext cx="5227168" cy="2651760"/>
          </a:xfrm>
          <a:prstGeom prst="roundRect">
            <a:avLst>
              <a:gd name="adj" fmla="val 2759"/>
            </a:avLst>
          </a:prstGeom>
          <a:solidFill>
            <a:srgbClr val="F4F5F7"/>
          </a:solidFill>
          <a:ln/>
        </p:spPr>
      </p:sp>
      <p:sp>
        <p:nvSpPr>
          <p:cNvPr id="8" name="Text 6"/>
          <p:cNvSpPr/>
          <p:nvPr/>
        </p:nvSpPr>
        <p:spPr>
          <a:xfrm>
            <a:off x="960120" y="3401568"/>
            <a:ext cx="4587088"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Warum das mehr ist als ein Schönheitsfehler</a:t>
            </a:r>
            <a:endParaRPr lang="en-US" sz="1500" dirty="0"/>
          </a:p>
        </p:txBody>
      </p:sp>
      <p:sp>
        <p:nvSpPr>
          <p:cNvPr id="9" name="Text 7"/>
          <p:cNvSpPr/>
          <p:nvPr/>
        </p:nvSpPr>
        <p:spPr>
          <a:xfrm>
            <a:off x="960120" y="3794760"/>
            <a:ext cx="4587088" cy="18288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Die Aufgabenstellung untersagt die Veröffentlichung ausdrücklich</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Löschen im aktuellen Stand genügt nicht — die Historie speichert jede Fassung</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Ein Schlüssel, der einmal öffentlich war, gilt als kompromittiert</a:t>
            </a:r>
            <a:endParaRPr lang="en-US" sz="1300" dirty="0"/>
          </a:p>
        </p:txBody>
      </p:sp>
      <p:sp>
        <p:nvSpPr>
          <p:cNvPr id="10" name="Shape 8"/>
          <p:cNvSpPr/>
          <p:nvPr/>
        </p:nvSpPr>
        <p:spPr>
          <a:xfrm>
            <a:off x="6324448" y="3200400"/>
            <a:ext cx="5227168" cy="2651760"/>
          </a:xfrm>
          <a:prstGeom prst="roundRect">
            <a:avLst>
              <a:gd name="adj" fmla="val 2759"/>
            </a:avLst>
          </a:prstGeom>
          <a:solidFill>
            <a:srgbClr val="F4F5F7"/>
          </a:solidFill>
          <a:ln/>
        </p:spPr>
      </p:sp>
      <p:sp>
        <p:nvSpPr>
          <p:cNvPr id="11" name="Text 9"/>
          <p:cNvSpPr/>
          <p:nvPr/>
        </p:nvSpPr>
        <p:spPr>
          <a:xfrm>
            <a:off x="6644488" y="3401568"/>
            <a:ext cx="4587088"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Was wir getan haben</a:t>
            </a:r>
            <a:endParaRPr lang="en-US" sz="1500" dirty="0"/>
          </a:p>
        </p:txBody>
      </p:sp>
      <p:sp>
        <p:nvSpPr>
          <p:cNvPr id="12" name="Text 10"/>
          <p:cNvSpPr/>
          <p:nvPr/>
        </p:nvSpPr>
        <p:spPr>
          <a:xfrm>
            <a:off x="6644488" y="3794760"/>
            <a:ext cx="4587088" cy="18288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Schlüssel aus dem Code entfernt und in die lokale Konfiguration verlagert</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Gesamte Versionshistorie umgeschrieben und gegengeprüft</a:t>
            </a:r>
            <a:endParaRPr lang="en-US" sz="1300" dirty="0"/>
          </a:p>
          <a:p>
            <a:pPr marL="342900" indent="-342900">
              <a:spcAft>
                <a:spcPts val="1000"/>
              </a:spcAft>
              <a:buSzPct val="100000"/>
              <a:buChar char="•"/>
            </a:pPr>
            <a:r>
              <a:rPr lang="en-US" sz="1300" dirty="0">
                <a:solidFill>
                  <a:srgbClr val="374151"/>
                </a:solidFill>
                <a:latin typeface="Calibri" pitchFamily="34" charset="0"/>
                <a:ea typeface="Calibri" pitchFamily="34" charset="-122"/>
                <a:cs typeface="Calibri" pitchFamily="34" charset="-120"/>
              </a:rPr>
              <a:t>Konfigurationsdateien mit Zugangsdaten dauerhaft ausgeschlossen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111827"/>
                </a:solidFill>
                <a:latin typeface="Cambria" pitchFamily="34" charset="0"/>
                <a:ea typeface="Cambria" pitchFamily="34" charset="-122"/>
                <a:cs typeface="Cambria" pitchFamily="34" charset="-120"/>
              </a:rPr>
              <a:t>Was wir gerne noch gemacht hätten</a:t>
            </a:r>
            <a:endParaRPr lang="en-US" sz="3200" dirty="0"/>
          </a:p>
        </p:txBody>
      </p:sp>
      <p:sp>
        <p:nvSpPr>
          <p:cNvPr id="4" name="Shape 2"/>
          <p:cNvSpPr/>
          <p:nvPr/>
        </p:nvSpPr>
        <p:spPr>
          <a:xfrm>
            <a:off x="640080" y="1645920"/>
            <a:ext cx="5227168" cy="4023360"/>
          </a:xfrm>
          <a:prstGeom prst="roundRect">
            <a:avLst>
              <a:gd name="adj" fmla="val 1818"/>
            </a:avLst>
          </a:prstGeom>
          <a:solidFill>
            <a:srgbClr val="F4F5F7"/>
          </a:solidFill>
          <a:ln/>
        </p:spPr>
      </p:sp>
      <p:sp>
        <p:nvSpPr>
          <p:cNvPr id="5" name="Text 3"/>
          <p:cNvSpPr/>
          <p:nvPr/>
        </p:nvSpPr>
        <p:spPr>
          <a:xfrm>
            <a:off x="960120" y="1874520"/>
            <a:ext cx="4587088"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Der Wunsch: dieselbe App für iOS</a:t>
            </a:r>
            <a:endParaRPr lang="en-US" sz="1600" dirty="0"/>
          </a:p>
        </p:txBody>
      </p:sp>
      <p:sp>
        <p:nvSpPr>
          <p:cNvPr id="6" name="Text 4"/>
          <p:cNvSpPr/>
          <p:nvPr/>
        </p:nvSpPr>
        <p:spPr>
          <a:xfrm>
            <a:off x="960120" y="2331720"/>
            <a:ext cx="4587088" cy="3108960"/>
          </a:xfrm>
          <a:prstGeom prst="rect">
            <a:avLst/>
          </a:prstGeom>
          <a:noFill/>
          <a:ln/>
        </p:spPr>
        <p:txBody>
          <a:bodyPr wrap="square" lIns="0" tIns="0" rIns="0" bIns="0" rtlCol="0" anchor="t"/>
          <a:lstStyle/>
          <a:p>
            <a:pPr indent="0" marL="0">
              <a:buNone/>
            </a:pPr>
            <a:r>
              <a:rPr lang="en-US" sz="1350" dirty="0">
                <a:solidFill>
                  <a:srgbClr val="374151"/>
                </a:solidFill>
                <a:latin typeface="Calibri" pitchFamily="34" charset="0"/>
                <a:ea typeface="Calibri" pitchFamily="34" charset="-122"/>
                <a:cs typeface="Calibri" pitchFamily="34" charset="-120"/>
              </a:rPr>
              <a:t>Genau dafür ist der hybride Ansatz gedacht: Alle fünf verwendeten Plugins unterstützen iOS. Unser Code müsste sich dafür praktisch nicht ändern — es käme eine zweite Plattform neben die bestehende.</a:t>
            </a:r>
            <a:endParaRPr lang="en-US" sz="1350" dirty="0"/>
          </a:p>
          <a:p>
            <a:pPr indent="0" marL="0">
              <a:buNone/>
            </a:pPr>
            <a:endParaRPr lang="en-US" sz="1350" dirty="0"/>
          </a:p>
          <a:p>
            <a:pPr indent="0" marL="0">
              <a:buNone/>
            </a:pPr>
            <a:r>
              <a:rPr lang="en-US" sz="1350" dirty="0">
                <a:solidFill>
                  <a:srgbClr val="374151"/>
                </a:solidFill>
                <a:latin typeface="Calibri" pitchFamily="34" charset="0"/>
                <a:ea typeface="Calibri" pitchFamily="34" charset="-122"/>
                <a:cs typeface="Calibri" pitchFamily="34" charset="-120"/>
              </a:rPr>
              <a:t>Das wäre die überzeugendste Demonstration des Ansatzes gewesen: eine Codebasis, zwei Betriebssysteme.</a:t>
            </a:r>
            <a:endParaRPr lang="en-US" sz="1350" dirty="0"/>
          </a:p>
        </p:txBody>
      </p:sp>
      <p:sp>
        <p:nvSpPr>
          <p:cNvPr id="7" name="Shape 5"/>
          <p:cNvSpPr/>
          <p:nvPr/>
        </p:nvSpPr>
        <p:spPr>
          <a:xfrm>
            <a:off x="6324448" y="1645920"/>
            <a:ext cx="5227168" cy="4023360"/>
          </a:xfrm>
          <a:prstGeom prst="roundRect">
            <a:avLst>
              <a:gd name="adj" fmla="val 1818"/>
            </a:avLst>
          </a:prstGeom>
          <a:solidFill>
            <a:srgbClr val="0F1419"/>
          </a:solidFill>
          <a:ln/>
        </p:spPr>
      </p:sp>
      <p:sp>
        <p:nvSpPr>
          <p:cNvPr id="8" name="Text 6"/>
          <p:cNvSpPr/>
          <p:nvPr/>
        </p:nvSpPr>
        <p:spPr>
          <a:xfrm>
            <a:off x="6644488" y="1874520"/>
            <a:ext cx="4587088"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Die Hürde: Geräteabhängigkeit</a:t>
            </a:r>
            <a:endParaRPr lang="en-US" sz="1600" dirty="0"/>
          </a:p>
        </p:txBody>
      </p:sp>
      <p:sp>
        <p:nvSpPr>
          <p:cNvPr id="9" name="Text 7"/>
          <p:cNvSpPr/>
          <p:nvPr/>
        </p:nvSpPr>
        <p:spPr>
          <a:xfrm>
            <a:off x="6644488" y="2331720"/>
            <a:ext cx="4587088" cy="310896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E5E7EB"/>
                </a:solidFill>
                <a:latin typeface="Calibri" pitchFamily="34" charset="0"/>
                <a:ea typeface="Calibri" pitchFamily="34" charset="-122"/>
                <a:cs typeface="Calibri" pitchFamily="34" charset="-120"/>
              </a:rPr>
              <a:t>Ein iOS-Build lässt sich nur auf einem Mac erzeugen — technisch, nicht organisatorisch bedingt</a:t>
            </a:r>
            <a:endParaRPr lang="en-US" sz="1350" dirty="0"/>
          </a:p>
          <a:p>
            <a:pPr marL="342900" indent="-342900">
              <a:spcAft>
                <a:spcPts val="1200"/>
              </a:spcAft>
              <a:buSzPct val="100000"/>
              <a:buChar char="•"/>
            </a:pPr>
            <a:r>
              <a:rPr lang="en-US" sz="1350" dirty="0">
                <a:solidFill>
                  <a:srgbClr val="E5E7EB"/>
                </a:solidFill>
                <a:latin typeface="Calibri" pitchFamily="34" charset="0"/>
                <a:ea typeface="Calibri" pitchFamily="34" charset="-122"/>
                <a:cs typeface="Calibri" pitchFamily="34" charset="-120"/>
              </a:rPr>
              <a:t>Zum Testen der Aufnahme braucht es zusätzlich ein iPhone</a:t>
            </a:r>
            <a:endParaRPr lang="en-US" sz="1350" dirty="0"/>
          </a:p>
          <a:p>
            <a:pPr marL="342900" indent="-342900">
              <a:spcAft>
                <a:spcPts val="1200"/>
              </a:spcAft>
              <a:buSzPct val="100000"/>
              <a:buChar char="•"/>
            </a:pPr>
            <a:r>
              <a:rPr lang="en-US" sz="1350" dirty="0">
                <a:solidFill>
                  <a:srgbClr val="E5E7EB"/>
                </a:solidFill>
                <a:latin typeface="Calibri" pitchFamily="34" charset="0"/>
                <a:ea typeface="Calibri" pitchFamily="34" charset="-122"/>
                <a:cs typeface="Calibri" pitchFamily="34" charset="-120"/>
              </a:rPr>
              <a:t>Auch auf Android war der Emulator nur begrenzt aussagekräftig; getestet wurde auf einem echten Gerät</a:t>
            </a:r>
            <a:endParaRPr lang="en-US" sz="1350" dirty="0"/>
          </a:p>
        </p:txBody>
      </p:sp>
      <p:sp>
        <p:nvSpPr>
          <p:cNvPr id="10" name="Text 8"/>
          <p:cNvSpPr/>
          <p:nvPr/>
        </p:nvSpPr>
        <p:spPr>
          <a:xfrm>
            <a:off x="640080" y="5897880"/>
            <a:ext cx="10911535"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Der Nutzen der Plattformunabhängigkeit endet dort, wo die Hardware zum Bauen und Testen fehlt.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640080" y="566928"/>
            <a:ext cx="155448" cy="155448"/>
          </a:xfrm>
          <a:prstGeom prst="ellipse">
            <a:avLst/>
          </a:prstGeom>
          <a:solidFill>
            <a:srgbClr val="E23E3E"/>
          </a:solidFill>
          <a:ln/>
        </p:spPr>
      </p:sp>
      <p:sp>
        <p:nvSpPr>
          <p:cNvPr id="3" name="Text 1"/>
          <p:cNvSpPr/>
          <p:nvPr/>
        </p:nvSpPr>
        <p:spPr>
          <a:xfrm>
            <a:off x="932688" y="384048"/>
            <a:ext cx="10618927"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Was wir mitnehmen</a:t>
            </a:r>
            <a:endParaRPr lang="en-US" sz="3200" dirty="0"/>
          </a:p>
        </p:txBody>
      </p:sp>
      <p:sp>
        <p:nvSpPr>
          <p:cNvPr id="4" name="Shape 2"/>
          <p:cNvSpPr/>
          <p:nvPr/>
        </p:nvSpPr>
        <p:spPr>
          <a:xfrm>
            <a:off x="640080" y="1600200"/>
            <a:ext cx="384048" cy="384048"/>
          </a:xfrm>
          <a:prstGeom prst="ellipse">
            <a:avLst/>
          </a:prstGeom>
          <a:solidFill>
            <a:srgbClr val="E23E3E"/>
          </a:solidFill>
          <a:ln/>
        </p:spPr>
      </p:sp>
      <p:sp>
        <p:nvSpPr>
          <p:cNvPr id="5" name="Text 3"/>
          <p:cNvSpPr/>
          <p:nvPr/>
        </p:nvSpPr>
        <p:spPr>
          <a:xfrm>
            <a:off x="640080"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581912"/>
            <a:ext cx="4678528"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Die Aufgabenstellung ist das Abnahmekriterium</a:t>
            </a:r>
            <a:endParaRPr lang="en-US" sz="1450" dirty="0"/>
          </a:p>
        </p:txBody>
      </p:sp>
      <p:sp>
        <p:nvSpPr>
          <p:cNvPr id="7" name="Text 5"/>
          <p:cNvSpPr/>
          <p:nvPr/>
        </p:nvSpPr>
        <p:spPr>
          <a:xfrm>
            <a:off x="1188720" y="2011680"/>
            <a:ext cx="4678528" cy="868680"/>
          </a:xfrm>
          <a:prstGeom prst="rect">
            <a:avLst/>
          </a:prstGeom>
          <a:noFill/>
          <a:ln/>
        </p:spPr>
        <p:txBody>
          <a:bodyPr wrap="square" lIns="0" tIns="0" rIns="0" bIns="0" rtlCol="0" anchor="t"/>
          <a:lstStyle/>
          <a:p>
            <a:pPr indent="0" marL="0">
              <a:buNone/>
            </a:pPr>
            <a:r>
              <a:rPr lang="en-US" sz="1250" dirty="0">
                <a:solidFill>
                  <a:srgbClr val="9AA4B2"/>
                </a:solidFill>
                <a:latin typeface="Calibri" pitchFamily="34" charset="0"/>
                <a:ea typeface="Calibri" pitchFamily="34" charset="-122"/>
                <a:cs typeface="Calibri" pitchFamily="34" charset="-120"/>
              </a:rPr>
              <a:t>Nicht die laufende App. Wir haben nach der Kurskorrektur jede Anforderung einzeln gegen den Code geprüft.</a:t>
            </a:r>
            <a:endParaRPr lang="en-US" sz="1250" dirty="0"/>
          </a:p>
        </p:txBody>
      </p:sp>
      <p:sp>
        <p:nvSpPr>
          <p:cNvPr id="8" name="Shape 6"/>
          <p:cNvSpPr/>
          <p:nvPr/>
        </p:nvSpPr>
        <p:spPr>
          <a:xfrm>
            <a:off x="6324448" y="1600200"/>
            <a:ext cx="384048" cy="384048"/>
          </a:xfrm>
          <a:prstGeom prst="ellipse">
            <a:avLst/>
          </a:prstGeom>
          <a:solidFill>
            <a:srgbClr val="2F6FED"/>
          </a:solidFill>
          <a:ln/>
        </p:spPr>
      </p:sp>
      <p:sp>
        <p:nvSpPr>
          <p:cNvPr id="9" name="Text 7"/>
          <p:cNvSpPr/>
          <p:nvPr/>
        </p:nvSpPr>
        <p:spPr>
          <a:xfrm>
            <a:off x="6324448"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6873088" y="1581912"/>
            <a:ext cx="4678528"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KI-Agenten liefern Vorschläge, keine Ergebnisse</a:t>
            </a:r>
            <a:endParaRPr lang="en-US" sz="1450" dirty="0"/>
          </a:p>
        </p:txBody>
      </p:sp>
      <p:sp>
        <p:nvSpPr>
          <p:cNvPr id="11" name="Text 9"/>
          <p:cNvSpPr/>
          <p:nvPr/>
        </p:nvSpPr>
        <p:spPr>
          <a:xfrm>
            <a:off x="6873088" y="2011680"/>
            <a:ext cx="4678528" cy="868680"/>
          </a:xfrm>
          <a:prstGeom prst="rect">
            <a:avLst/>
          </a:prstGeom>
          <a:noFill/>
          <a:ln/>
        </p:spPr>
        <p:txBody>
          <a:bodyPr wrap="square" lIns="0" tIns="0" rIns="0" bIns="0" rtlCol="0" anchor="t"/>
          <a:lstStyle/>
          <a:p>
            <a:pPr indent="0" marL="0">
              <a:buNone/>
            </a:pPr>
            <a:r>
              <a:rPr lang="en-US" sz="1250" dirty="0">
                <a:solidFill>
                  <a:srgbClr val="9AA4B2"/>
                </a:solidFill>
                <a:latin typeface="Calibri" pitchFamily="34" charset="0"/>
                <a:ea typeface="Calibri" pitchFamily="34" charset="-122"/>
                <a:cs typeface="Calibri" pitchFamily="34" charset="-120"/>
              </a:rPr>
              <a:t>Sie sind stark beim Überblick und bei Routinearbeit — die fachliche Abnahme bleibt bei uns.</a:t>
            </a:r>
            <a:endParaRPr lang="en-US" sz="1250" dirty="0"/>
          </a:p>
        </p:txBody>
      </p:sp>
      <p:sp>
        <p:nvSpPr>
          <p:cNvPr id="12" name="Shape 10"/>
          <p:cNvSpPr/>
          <p:nvPr/>
        </p:nvSpPr>
        <p:spPr>
          <a:xfrm>
            <a:off x="640080" y="3108960"/>
            <a:ext cx="384048" cy="384048"/>
          </a:xfrm>
          <a:prstGeom prst="ellipse">
            <a:avLst/>
          </a:prstGeom>
          <a:solidFill>
            <a:srgbClr val="E23E3E"/>
          </a:solidFill>
          <a:ln/>
        </p:spPr>
      </p:sp>
      <p:sp>
        <p:nvSpPr>
          <p:cNvPr id="13" name="Text 11"/>
          <p:cNvSpPr/>
          <p:nvPr/>
        </p:nvSpPr>
        <p:spPr>
          <a:xfrm>
            <a:off x="640080"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3090672"/>
            <a:ext cx="4678528"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Fehlermeldungen zeigen das Symptom, nicht die Ursache</a:t>
            </a:r>
            <a:endParaRPr lang="en-US" sz="1450" dirty="0"/>
          </a:p>
        </p:txBody>
      </p:sp>
      <p:sp>
        <p:nvSpPr>
          <p:cNvPr id="15" name="Text 13"/>
          <p:cNvSpPr/>
          <p:nvPr/>
        </p:nvSpPr>
        <p:spPr>
          <a:xfrm>
            <a:off x="1188720" y="3520440"/>
            <a:ext cx="4678528" cy="868680"/>
          </a:xfrm>
          <a:prstGeom prst="rect">
            <a:avLst/>
          </a:prstGeom>
          <a:noFill/>
          <a:ln/>
        </p:spPr>
        <p:txBody>
          <a:bodyPr wrap="square" lIns="0" tIns="0" rIns="0" bIns="0" rtlCol="0" anchor="t"/>
          <a:lstStyle/>
          <a:p>
            <a:pPr indent="0" marL="0">
              <a:buNone/>
            </a:pPr>
            <a:r>
              <a:rPr lang="en-US" sz="1250" dirty="0">
                <a:solidFill>
                  <a:srgbClr val="9AA4B2"/>
                </a:solidFill>
                <a:latin typeface="Calibri" pitchFamily="34" charset="0"/>
                <a:ea typeface="Calibri" pitchFamily="34" charset="-122"/>
                <a:cs typeface="Calibri" pitchFamily="34" charset="-120"/>
              </a:rPr>
              <a:t>Ein Zertifikatsfehler, der in Wahrheit eine veraltete Adresse war, hat uns am längsten aufgehalten.</a:t>
            </a:r>
            <a:endParaRPr lang="en-US" sz="1250" dirty="0"/>
          </a:p>
        </p:txBody>
      </p:sp>
      <p:sp>
        <p:nvSpPr>
          <p:cNvPr id="16" name="Shape 14"/>
          <p:cNvSpPr/>
          <p:nvPr/>
        </p:nvSpPr>
        <p:spPr>
          <a:xfrm>
            <a:off x="6324448" y="3108960"/>
            <a:ext cx="384048" cy="384048"/>
          </a:xfrm>
          <a:prstGeom prst="ellipse">
            <a:avLst/>
          </a:prstGeom>
          <a:solidFill>
            <a:srgbClr val="2F6FED"/>
          </a:solidFill>
          <a:ln/>
        </p:spPr>
      </p:sp>
      <p:sp>
        <p:nvSpPr>
          <p:cNvPr id="17" name="Text 15"/>
          <p:cNvSpPr/>
          <p:nvPr/>
        </p:nvSpPr>
        <p:spPr>
          <a:xfrm>
            <a:off x="6324448"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6873088" y="3090672"/>
            <a:ext cx="4678528"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Umgebungsprobleme gehören ins Projekt gelöst</a:t>
            </a:r>
            <a:endParaRPr lang="en-US" sz="1450" dirty="0"/>
          </a:p>
        </p:txBody>
      </p:sp>
      <p:sp>
        <p:nvSpPr>
          <p:cNvPr id="19" name="Text 17"/>
          <p:cNvSpPr/>
          <p:nvPr/>
        </p:nvSpPr>
        <p:spPr>
          <a:xfrm>
            <a:off x="6873088" y="3520440"/>
            <a:ext cx="4678528" cy="868680"/>
          </a:xfrm>
          <a:prstGeom prst="rect">
            <a:avLst/>
          </a:prstGeom>
          <a:noFill/>
          <a:ln/>
        </p:spPr>
        <p:txBody>
          <a:bodyPr wrap="square" lIns="0" tIns="0" rIns="0" bIns="0" rtlCol="0" anchor="t"/>
          <a:lstStyle/>
          <a:p>
            <a:pPr indent="0" marL="0">
              <a:buNone/>
            </a:pPr>
            <a:r>
              <a:rPr lang="en-US" sz="1250" dirty="0">
                <a:solidFill>
                  <a:srgbClr val="9AA4B2"/>
                </a:solidFill>
                <a:latin typeface="Calibri" pitchFamily="34" charset="0"/>
                <a:ea typeface="Calibri" pitchFamily="34" charset="-122"/>
                <a:cs typeface="Calibri" pitchFamily="34" charset="-120"/>
              </a:rPr>
              <a:t>Was auf einem Rechner klemmt, klemmt auch beim nächsten. Festschreiben statt lokal umgehen.</a:t>
            </a:r>
            <a:endParaRPr lang="en-US" sz="1250" dirty="0"/>
          </a:p>
        </p:txBody>
      </p:sp>
      <p:sp>
        <p:nvSpPr>
          <p:cNvPr id="20" name="Shape 18"/>
          <p:cNvSpPr/>
          <p:nvPr/>
        </p:nvSpPr>
        <p:spPr>
          <a:xfrm>
            <a:off x="640080" y="4617720"/>
            <a:ext cx="384048" cy="384048"/>
          </a:xfrm>
          <a:prstGeom prst="ellipse">
            <a:avLst/>
          </a:prstGeom>
          <a:solidFill>
            <a:srgbClr val="E23E3E"/>
          </a:solidFill>
          <a:ln/>
        </p:spPr>
      </p:sp>
      <p:sp>
        <p:nvSpPr>
          <p:cNvPr id="21" name="Text 19"/>
          <p:cNvSpPr/>
          <p:nvPr/>
        </p:nvSpPr>
        <p:spPr>
          <a:xfrm>
            <a:off x="640080" y="4617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88720" y="4599432"/>
            <a:ext cx="4678528"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Geheimnisse gehören nie in den Quelltext</a:t>
            </a:r>
            <a:endParaRPr lang="en-US" sz="1450" dirty="0"/>
          </a:p>
        </p:txBody>
      </p:sp>
      <p:sp>
        <p:nvSpPr>
          <p:cNvPr id="23" name="Text 21"/>
          <p:cNvSpPr/>
          <p:nvPr/>
        </p:nvSpPr>
        <p:spPr>
          <a:xfrm>
            <a:off x="1188720" y="5029200"/>
            <a:ext cx="4678528" cy="868680"/>
          </a:xfrm>
          <a:prstGeom prst="rect">
            <a:avLst/>
          </a:prstGeom>
          <a:noFill/>
          <a:ln/>
        </p:spPr>
        <p:txBody>
          <a:bodyPr wrap="square" lIns="0" tIns="0" rIns="0" bIns="0" rtlCol="0" anchor="t"/>
          <a:lstStyle/>
          <a:p>
            <a:pPr indent="0" marL="0">
              <a:buNone/>
            </a:pPr>
            <a:r>
              <a:rPr lang="en-US" sz="1250" dirty="0">
                <a:solidFill>
                  <a:srgbClr val="9AA4B2"/>
                </a:solidFill>
                <a:latin typeface="Calibri" pitchFamily="34" charset="0"/>
                <a:ea typeface="Calibri" pitchFamily="34" charset="-122"/>
                <a:cs typeface="Calibri" pitchFamily="34" charset="-120"/>
              </a:rPr>
              <a:t>Und wenn sie einmal drin waren, reicht Löschen nicht — die Historie muss mit.</a:t>
            </a:r>
            <a:endParaRPr lang="en-US" sz="1250" dirty="0"/>
          </a:p>
        </p:txBody>
      </p:sp>
      <p:sp>
        <p:nvSpPr>
          <p:cNvPr id="24" name="Shape 22"/>
          <p:cNvSpPr/>
          <p:nvPr/>
        </p:nvSpPr>
        <p:spPr>
          <a:xfrm>
            <a:off x="6324448" y="4617720"/>
            <a:ext cx="384048" cy="384048"/>
          </a:xfrm>
          <a:prstGeom prst="ellipse">
            <a:avLst/>
          </a:prstGeom>
          <a:solidFill>
            <a:srgbClr val="2F6FED"/>
          </a:solidFill>
          <a:ln/>
        </p:spPr>
      </p:sp>
      <p:sp>
        <p:nvSpPr>
          <p:cNvPr id="25" name="Text 23"/>
          <p:cNvSpPr/>
          <p:nvPr/>
        </p:nvSpPr>
        <p:spPr>
          <a:xfrm>
            <a:off x="6324448" y="4617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6873088" y="4599432"/>
            <a:ext cx="4678528"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Echte Hardware ist durch nichts zu ersetzen</a:t>
            </a:r>
            <a:endParaRPr lang="en-US" sz="1450" dirty="0"/>
          </a:p>
        </p:txBody>
      </p:sp>
      <p:sp>
        <p:nvSpPr>
          <p:cNvPr id="27" name="Text 25"/>
          <p:cNvSpPr/>
          <p:nvPr/>
        </p:nvSpPr>
        <p:spPr>
          <a:xfrm>
            <a:off x="6873088" y="5029200"/>
            <a:ext cx="4678528" cy="868680"/>
          </a:xfrm>
          <a:prstGeom prst="rect">
            <a:avLst/>
          </a:prstGeom>
          <a:noFill/>
          <a:ln/>
        </p:spPr>
        <p:txBody>
          <a:bodyPr wrap="square" lIns="0" tIns="0" rIns="0" bIns="0" rtlCol="0" anchor="t"/>
          <a:lstStyle/>
          <a:p>
            <a:pPr indent="0" marL="0">
              <a:buNone/>
            </a:pPr>
            <a:r>
              <a:rPr lang="en-US" sz="1250" dirty="0">
                <a:solidFill>
                  <a:srgbClr val="9AA4B2"/>
                </a:solidFill>
                <a:latin typeface="Calibri" pitchFamily="34" charset="0"/>
                <a:ea typeface="Calibri" pitchFamily="34" charset="-122"/>
                <a:cs typeface="Calibri" pitchFamily="34" charset="-120"/>
              </a:rPr>
              <a:t>Emulatoren decken Oberfläche und Logik ab, aber nicht das Zusammenspiel mit dem Gerät.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640080" y="1554480"/>
            <a:ext cx="365760" cy="365760"/>
          </a:xfrm>
          <a:prstGeom prst="ellipse">
            <a:avLst/>
          </a:prstGeom>
          <a:solidFill>
            <a:srgbClr val="E23E3E"/>
          </a:solidFill>
          <a:ln/>
        </p:spPr>
      </p:sp>
      <p:sp>
        <p:nvSpPr>
          <p:cNvPr id="3" name="Text 1"/>
          <p:cNvSpPr/>
          <p:nvPr/>
        </p:nvSpPr>
        <p:spPr>
          <a:xfrm>
            <a:off x="640080" y="2057400"/>
            <a:ext cx="10911535"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Fazit</a:t>
            </a:r>
            <a:endParaRPr lang="en-US" sz="4000" dirty="0"/>
          </a:p>
        </p:txBody>
      </p:sp>
      <p:sp>
        <p:nvSpPr>
          <p:cNvPr id="4" name="Text 2"/>
          <p:cNvSpPr/>
          <p:nvPr/>
        </p:nvSpPr>
        <p:spPr>
          <a:xfrm>
            <a:off x="640080" y="2926080"/>
            <a:ext cx="9539935" cy="1463040"/>
          </a:xfrm>
          <a:prstGeom prst="rect">
            <a:avLst/>
          </a:prstGeom>
          <a:noFill/>
          <a:ln/>
        </p:spPr>
        <p:txBody>
          <a:bodyPr wrap="square" lIns="0" tIns="0" rIns="0" bIns="0" rtlCol="0" anchor="t"/>
          <a:lstStyle/>
          <a:p>
            <a:pPr indent="0" marL="0">
              <a:buNone/>
            </a:pPr>
            <a:r>
              <a:rPr lang="en-US" sz="1600" dirty="0">
                <a:solidFill>
                  <a:srgbClr val="D1D5DB"/>
                </a:solidFill>
                <a:latin typeface="Calibri" pitchFamily="34" charset="0"/>
                <a:ea typeface="Calibri" pitchFamily="34" charset="-122"/>
                <a:cs typeface="Calibri" pitchFamily="34" charset="-120"/>
              </a:rPr>
              <a:t>Die App erfüllt alle elf Anforderungen und läuft auf einem physischen Android-Gerät. Der technisch anspruchsvollste Teil war nicht das Programmieren, sondern das Zusammenspiel aus Vorgaben, Werkzeugen und Plattform-Eigenheiten — und die Bereitschaft, einen fertigen Stand zu verwerfen, als klar wurde, dass er am Ziel vorbeigeht.</a:t>
            </a:r>
            <a:endParaRPr lang="en-US" sz="1600" dirty="0"/>
          </a:p>
        </p:txBody>
      </p:sp>
      <p:sp>
        <p:nvSpPr>
          <p:cNvPr id="5" name="Shape 3"/>
          <p:cNvSpPr/>
          <p:nvPr/>
        </p:nvSpPr>
        <p:spPr>
          <a:xfrm>
            <a:off x="640080" y="4709160"/>
            <a:ext cx="3393338" cy="1143000"/>
          </a:xfrm>
          <a:prstGeom prst="roundRect">
            <a:avLst>
              <a:gd name="adj" fmla="val 6400"/>
            </a:avLst>
          </a:prstGeom>
          <a:solidFill>
            <a:srgbClr val="242D38"/>
          </a:solidFill>
          <a:ln/>
        </p:spPr>
      </p:sp>
      <p:sp>
        <p:nvSpPr>
          <p:cNvPr id="6" name="Text 4"/>
          <p:cNvSpPr/>
          <p:nvPr/>
        </p:nvSpPr>
        <p:spPr>
          <a:xfrm>
            <a:off x="914400" y="4892040"/>
            <a:ext cx="2844698" cy="274320"/>
          </a:xfrm>
          <a:prstGeom prst="rect">
            <a:avLst/>
          </a:prstGeom>
          <a:noFill/>
          <a:ln/>
        </p:spPr>
        <p:txBody>
          <a:bodyPr wrap="square" lIns="0" tIns="0" rIns="0" bIns="0" rtlCol="0" anchor="ctr"/>
          <a:lstStyle/>
          <a:p>
            <a:pPr indent="0" marL="0">
              <a:buNone/>
            </a:pPr>
            <a:r>
              <a:rPr lang="en-US" sz="1150" b="1" dirty="0">
                <a:solidFill>
                  <a:srgbClr val="E23E3E"/>
                </a:solidFill>
                <a:latin typeface="Calibri" pitchFamily="34" charset="0"/>
                <a:ea typeface="Calibri" pitchFamily="34" charset="-122"/>
                <a:cs typeface="Calibri" pitchFamily="34" charset="-120"/>
              </a:rPr>
              <a:t>Nächster Schritt</a:t>
            </a:r>
            <a:endParaRPr lang="en-US" sz="1150" dirty="0"/>
          </a:p>
        </p:txBody>
      </p:sp>
      <p:sp>
        <p:nvSpPr>
          <p:cNvPr id="7" name="Text 5"/>
          <p:cNvSpPr/>
          <p:nvPr/>
        </p:nvSpPr>
        <p:spPr>
          <a:xfrm>
            <a:off x="914400" y="5193792"/>
            <a:ext cx="2844698" cy="502920"/>
          </a:xfrm>
          <a:prstGeom prst="rect">
            <a:avLst/>
          </a:prstGeom>
          <a:noFill/>
          <a:ln/>
        </p:spPr>
        <p:txBody>
          <a:bodyPr wrap="square" lIns="0" tIns="0" rIns="0" bIns="0" rtlCol="0" anchor="t"/>
          <a:lstStyle/>
          <a:p>
            <a:pPr indent="0" marL="0">
              <a:buNone/>
            </a:pPr>
            <a:r>
              <a:rPr lang="en-US" sz="1300" dirty="0">
                <a:solidFill>
                  <a:srgbClr val="E5E7EB"/>
                </a:solidFill>
                <a:latin typeface="Calibri" pitchFamily="34" charset="0"/>
                <a:ea typeface="Calibri" pitchFamily="34" charset="-122"/>
                <a:cs typeface="Calibri" pitchFamily="34" charset="-120"/>
              </a:rPr>
              <a:t>Test auf weiteren Android-Geräten</a:t>
            </a:r>
            <a:endParaRPr lang="en-US" sz="1300" dirty="0"/>
          </a:p>
        </p:txBody>
      </p:sp>
      <p:sp>
        <p:nvSpPr>
          <p:cNvPr id="8" name="Shape 6"/>
          <p:cNvSpPr/>
          <p:nvPr/>
        </p:nvSpPr>
        <p:spPr>
          <a:xfrm>
            <a:off x="4399178" y="4709160"/>
            <a:ext cx="3393338" cy="1143000"/>
          </a:xfrm>
          <a:prstGeom prst="roundRect">
            <a:avLst>
              <a:gd name="adj" fmla="val 6400"/>
            </a:avLst>
          </a:prstGeom>
          <a:solidFill>
            <a:srgbClr val="242D38"/>
          </a:solidFill>
          <a:ln/>
        </p:spPr>
      </p:sp>
      <p:sp>
        <p:nvSpPr>
          <p:cNvPr id="9" name="Text 7"/>
          <p:cNvSpPr/>
          <p:nvPr/>
        </p:nvSpPr>
        <p:spPr>
          <a:xfrm>
            <a:off x="4673498" y="4892040"/>
            <a:ext cx="2844698" cy="274320"/>
          </a:xfrm>
          <a:prstGeom prst="rect">
            <a:avLst/>
          </a:prstGeom>
          <a:noFill/>
          <a:ln/>
        </p:spPr>
        <p:txBody>
          <a:bodyPr wrap="square" lIns="0" tIns="0" rIns="0" bIns="0" rtlCol="0" anchor="ctr"/>
          <a:lstStyle/>
          <a:p>
            <a:pPr indent="0" marL="0">
              <a:buNone/>
            </a:pPr>
            <a:r>
              <a:rPr lang="en-US" sz="1150" b="1" dirty="0">
                <a:solidFill>
                  <a:srgbClr val="E23E3E"/>
                </a:solidFill>
                <a:latin typeface="Calibri" pitchFamily="34" charset="0"/>
                <a:ea typeface="Calibri" pitchFamily="34" charset="-122"/>
                <a:cs typeface="Calibri" pitchFamily="34" charset="-120"/>
              </a:rPr>
              <a:t>Offen</a:t>
            </a:r>
            <a:endParaRPr lang="en-US" sz="1150" dirty="0"/>
          </a:p>
        </p:txBody>
      </p:sp>
      <p:sp>
        <p:nvSpPr>
          <p:cNvPr id="10" name="Text 8"/>
          <p:cNvSpPr/>
          <p:nvPr/>
        </p:nvSpPr>
        <p:spPr>
          <a:xfrm>
            <a:off x="4673498" y="5193792"/>
            <a:ext cx="2844698" cy="502920"/>
          </a:xfrm>
          <a:prstGeom prst="rect">
            <a:avLst/>
          </a:prstGeom>
          <a:noFill/>
          <a:ln/>
        </p:spPr>
        <p:txBody>
          <a:bodyPr wrap="square" lIns="0" tIns="0" rIns="0" bIns="0" rtlCol="0" anchor="t"/>
          <a:lstStyle/>
          <a:p>
            <a:pPr indent="0" marL="0">
              <a:buNone/>
            </a:pPr>
            <a:r>
              <a:rPr lang="en-US" sz="1300" dirty="0">
                <a:solidFill>
                  <a:srgbClr val="E5E7EB"/>
                </a:solidFill>
                <a:latin typeface="Calibri" pitchFamily="34" charset="0"/>
                <a:ea typeface="Calibri" pitchFamily="34" charset="-122"/>
                <a:cs typeface="Calibri" pitchFamily="34" charset="-120"/>
              </a:rPr>
              <a:t>iOS-Variante, sobald ein Mac verfügbar ist</a:t>
            </a:r>
            <a:endParaRPr lang="en-US" sz="1300" dirty="0"/>
          </a:p>
        </p:txBody>
      </p:sp>
      <p:sp>
        <p:nvSpPr>
          <p:cNvPr id="11" name="Shape 9"/>
          <p:cNvSpPr/>
          <p:nvPr/>
        </p:nvSpPr>
        <p:spPr>
          <a:xfrm>
            <a:off x="8158277" y="4709160"/>
            <a:ext cx="3393338" cy="1143000"/>
          </a:xfrm>
          <a:prstGeom prst="roundRect">
            <a:avLst>
              <a:gd name="adj" fmla="val 6400"/>
            </a:avLst>
          </a:prstGeom>
          <a:solidFill>
            <a:srgbClr val="242D38"/>
          </a:solidFill>
          <a:ln/>
        </p:spPr>
      </p:sp>
      <p:sp>
        <p:nvSpPr>
          <p:cNvPr id="12" name="Text 10"/>
          <p:cNvSpPr/>
          <p:nvPr/>
        </p:nvSpPr>
        <p:spPr>
          <a:xfrm>
            <a:off x="8432597" y="4892040"/>
            <a:ext cx="2844698" cy="274320"/>
          </a:xfrm>
          <a:prstGeom prst="rect">
            <a:avLst/>
          </a:prstGeom>
          <a:noFill/>
          <a:ln/>
        </p:spPr>
        <p:txBody>
          <a:bodyPr wrap="square" lIns="0" tIns="0" rIns="0" bIns="0" rtlCol="0" anchor="ctr"/>
          <a:lstStyle/>
          <a:p>
            <a:pPr indent="0" marL="0">
              <a:buNone/>
            </a:pPr>
            <a:r>
              <a:rPr lang="en-US" sz="1150" b="1" dirty="0">
                <a:solidFill>
                  <a:srgbClr val="E23E3E"/>
                </a:solidFill>
                <a:latin typeface="Calibri" pitchFamily="34" charset="0"/>
                <a:ea typeface="Calibri" pitchFamily="34" charset="-122"/>
                <a:cs typeface="Calibri" pitchFamily="34" charset="-120"/>
              </a:rPr>
              <a:t>Abgabe</a:t>
            </a:r>
            <a:endParaRPr lang="en-US" sz="1150" dirty="0"/>
          </a:p>
        </p:txBody>
      </p:sp>
      <p:sp>
        <p:nvSpPr>
          <p:cNvPr id="13" name="Text 11"/>
          <p:cNvSpPr/>
          <p:nvPr/>
        </p:nvSpPr>
        <p:spPr>
          <a:xfrm>
            <a:off x="8432597" y="5193792"/>
            <a:ext cx="2844698" cy="502920"/>
          </a:xfrm>
          <a:prstGeom prst="rect">
            <a:avLst/>
          </a:prstGeom>
          <a:noFill/>
          <a:ln/>
        </p:spPr>
        <p:txBody>
          <a:bodyPr wrap="square" lIns="0" tIns="0" rIns="0" bIns="0" rtlCol="0" anchor="t"/>
          <a:lstStyle/>
          <a:p>
            <a:pPr indent="0" marL="0">
              <a:buNone/>
            </a:pPr>
            <a:r>
              <a:rPr lang="en-US" sz="1300" dirty="0">
                <a:solidFill>
                  <a:srgbClr val="E5E7EB"/>
                </a:solidFill>
                <a:latin typeface="Calibri" pitchFamily="34" charset="0"/>
                <a:ea typeface="Calibri" pitchFamily="34" charset="-122"/>
                <a:cs typeface="Calibri" pitchFamily="34" charset="-120"/>
              </a:rPr>
              <a:t>Öffentliches GitHub-Repository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 Recorder App</dc:title>
  <dc:subject>PptxGenJS Presentation</dc:subject>
  <dc:creator>Fallstudie Hybride App-Entwicklung</dc:creator>
  <cp:lastModifiedBy>Fallstudie Hybride App-Entwicklung</cp:lastModifiedBy>
  <cp:revision>1</cp:revision>
  <dcterms:created xsi:type="dcterms:W3CDTF">2026-08-10T20:50:00Z</dcterms:created>
  <dcterms:modified xsi:type="dcterms:W3CDTF">2026-08-10T20:50:00Z</dcterms:modified>
</cp:coreProperties>
</file>