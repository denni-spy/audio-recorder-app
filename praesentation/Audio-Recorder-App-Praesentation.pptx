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 id="269" r:id="rId14"/>
    <p:sldId id="270"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4AB14B-90BB-4A9E-9499-9F48F6E2EB58}" v="8" dt="2026-08-13T09:32:40.5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7675" autoAdjust="0"/>
  </p:normalViewPr>
  <p:slideViewPr>
    <p:cSldViewPr snapToGrid="0" snapToObjects="1">
      <p:cViewPr varScale="1">
        <p:scale>
          <a:sx n="76" d="100"/>
          <a:sy n="76" d="100"/>
        </p:scale>
        <p:origin x="191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lhan, Deren" userId="56d24305-45ef-46a8-865f-0f8ff87400d9" providerId="ADAL" clId="{7B930B07-0B8E-4C3E-BFF4-679EC58503C4}"/>
    <pc:docChg chg="undo redo custSel delSld modSld">
      <pc:chgData name="Ilhan, Deren" userId="56d24305-45ef-46a8-865f-0f8ff87400d9" providerId="ADAL" clId="{7B930B07-0B8E-4C3E-BFF4-679EC58503C4}" dt="2026-08-13T10:54:24.304" v="3282" actId="790"/>
      <pc:docMkLst>
        <pc:docMk/>
      </pc:docMkLst>
      <pc:sldChg chg="modSp mod">
        <pc:chgData name="Ilhan, Deren" userId="56d24305-45ef-46a8-865f-0f8ff87400d9" providerId="ADAL" clId="{7B930B07-0B8E-4C3E-BFF4-679EC58503C4}" dt="2026-08-13T09:08:14.322" v="238" actId="20577"/>
        <pc:sldMkLst>
          <pc:docMk/>
          <pc:sldMk cId="0" sldId="256"/>
        </pc:sldMkLst>
        <pc:spChg chg="mod">
          <ac:chgData name="Ilhan, Deren" userId="56d24305-45ef-46a8-865f-0f8ff87400d9" providerId="ADAL" clId="{7B930B07-0B8E-4C3E-BFF4-679EC58503C4}" dt="2026-08-13T09:08:14.322" v="238" actId="20577"/>
          <ac:spMkLst>
            <pc:docMk/>
            <pc:sldMk cId="0" sldId="256"/>
            <ac:spMk id="5" creationId="{00000000-0000-0000-0000-000000000000}"/>
          </ac:spMkLst>
        </pc:spChg>
      </pc:sldChg>
      <pc:sldChg chg="modSp mod">
        <pc:chgData name="Ilhan, Deren" userId="56d24305-45ef-46a8-865f-0f8ff87400d9" providerId="ADAL" clId="{7B930B07-0B8E-4C3E-BFF4-679EC58503C4}" dt="2026-08-13T08:58:09.210" v="6" actId="790"/>
        <pc:sldMkLst>
          <pc:docMk/>
          <pc:sldMk cId="0" sldId="258"/>
        </pc:sldMkLst>
        <pc:spChg chg="mod">
          <ac:chgData name="Ilhan, Deren" userId="56d24305-45ef-46a8-865f-0f8ff87400d9" providerId="ADAL" clId="{7B930B07-0B8E-4C3E-BFF4-679EC58503C4}" dt="2026-08-13T08:58:09.210" v="6" actId="790"/>
          <ac:spMkLst>
            <pc:docMk/>
            <pc:sldMk cId="0" sldId="258"/>
            <ac:spMk id="14" creationId="{00000000-0000-0000-0000-000000000000}"/>
          </ac:spMkLst>
        </pc:spChg>
      </pc:sldChg>
      <pc:sldChg chg="modSp mod">
        <pc:chgData name="Ilhan, Deren" userId="56d24305-45ef-46a8-865f-0f8ff87400d9" providerId="ADAL" clId="{7B930B07-0B8E-4C3E-BFF4-679EC58503C4}" dt="2026-08-13T09:17:48.461" v="432" actId="790"/>
        <pc:sldMkLst>
          <pc:docMk/>
          <pc:sldMk cId="0" sldId="259"/>
        </pc:sldMkLst>
        <pc:spChg chg="mod">
          <ac:chgData name="Ilhan, Deren" userId="56d24305-45ef-46a8-865f-0f8ff87400d9" providerId="ADAL" clId="{7B930B07-0B8E-4C3E-BFF4-679EC58503C4}" dt="2026-08-13T09:17:48.461" v="432" actId="790"/>
          <ac:spMkLst>
            <pc:docMk/>
            <pc:sldMk cId="0" sldId="259"/>
            <ac:spMk id="19" creationId="{00000000-0000-0000-0000-000000000000}"/>
          </ac:spMkLst>
        </pc:spChg>
      </pc:sldChg>
      <pc:sldChg chg="modSp mod">
        <pc:chgData name="Ilhan, Deren" userId="56d24305-45ef-46a8-865f-0f8ff87400d9" providerId="ADAL" clId="{7B930B07-0B8E-4C3E-BFF4-679EC58503C4}" dt="2026-08-13T09:17:59.659" v="433" actId="790"/>
        <pc:sldMkLst>
          <pc:docMk/>
          <pc:sldMk cId="0" sldId="260"/>
        </pc:sldMkLst>
        <pc:spChg chg="mod">
          <ac:chgData name="Ilhan, Deren" userId="56d24305-45ef-46a8-865f-0f8ff87400d9" providerId="ADAL" clId="{7B930B07-0B8E-4C3E-BFF4-679EC58503C4}" dt="2026-08-13T09:09:05.748" v="240" actId="1076"/>
          <ac:spMkLst>
            <pc:docMk/>
            <pc:sldMk cId="0" sldId="260"/>
            <ac:spMk id="5" creationId="{00000000-0000-0000-0000-000000000000}"/>
          </ac:spMkLst>
        </pc:spChg>
        <pc:spChg chg="mod">
          <ac:chgData name="Ilhan, Deren" userId="56d24305-45ef-46a8-865f-0f8ff87400d9" providerId="ADAL" clId="{7B930B07-0B8E-4C3E-BFF4-679EC58503C4}" dt="2026-08-13T09:09:10.489" v="241" actId="114"/>
          <ac:spMkLst>
            <pc:docMk/>
            <pc:sldMk cId="0" sldId="260"/>
            <ac:spMk id="7" creationId="{00000000-0000-0000-0000-000000000000}"/>
          </ac:spMkLst>
        </pc:spChg>
        <pc:spChg chg="mod">
          <ac:chgData name="Ilhan, Deren" userId="56d24305-45ef-46a8-865f-0f8ff87400d9" providerId="ADAL" clId="{7B930B07-0B8E-4C3E-BFF4-679EC58503C4}" dt="2026-08-13T09:09:14.644" v="242" actId="114"/>
          <ac:spMkLst>
            <pc:docMk/>
            <pc:sldMk cId="0" sldId="260"/>
            <ac:spMk id="11" creationId="{00000000-0000-0000-0000-000000000000}"/>
          </ac:spMkLst>
        </pc:spChg>
        <pc:spChg chg="mod">
          <ac:chgData name="Ilhan, Deren" userId="56d24305-45ef-46a8-865f-0f8ff87400d9" providerId="ADAL" clId="{7B930B07-0B8E-4C3E-BFF4-679EC58503C4}" dt="2026-08-13T09:09:18.633" v="243" actId="114"/>
          <ac:spMkLst>
            <pc:docMk/>
            <pc:sldMk cId="0" sldId="260"/>
            <ac:spMk id="16" creationId="{00000000-0000-0000-0000-000000000000}"/>
          </ac:spMkLst>
        </pc:spChg>
        <pc:spChg chg="mod">
          <ac:chgData name="Ilhan, Deren" userId="56d24305-45ef-46a8-865f-0f8ff87400d9" providerId="ADAL" clId="{7B930B07-0B8E-4C3E-BFF4-679EC58503C4}" dt="2026-08-13T09:17:59.659" v="433" actId="790"/>
          <ac:spMkLst>
            <pc:docMk/>
            <pc:sldMk cId="0" sldId="260"/>
            <ac:spMk id="18" creationId="{00000000-0000-0000-0000-000000000000}"/>
          </ac:spMkLst>
        </pc:spChg>
      </pc:sldChg>
      <pc:sldChg chg="modSp mod">
        <pc:chgData name="Ilhan, Deren" userId="56d24305-45ef-46a8-865f-0f8ff87400d9" providerId="ADAL" clId="{7B930B07-0B8E-4C3E-BFF4-679EC58503C4}" dt="2026-08-13T09:18:19.140" v="434" actId="790"/>
        <pc:sldMkLst>
          <pc:docMk/>
          <pc:sldMk cId="0" sldId="261"/>
        </pc:sldMkLst>
        <pc:spChg chg="mod">
          <ac:chgData name="Ilhan, Deren" userId="56d24305-45ef-46a8-865f-0f8ff87400d9" providerId="ADAL" clId="{7B930B07-0B8E-4C3E-BFF4-679EC58503C4}" dt="2026-08-13T09:10:40.600" v="305" actId="20577"/>
          <ac:spMkLst>
            <pc:docMk/>
            <pc:sldMk cId="0" sldId="261"/>
            <ac:spMk id="4" creationId="{00000000-0000-0000-0000-000000000000}"/>
          </ac:spMkLst>
        </pc:spChg>
        <pc:spChg chg="mod">
          <ac:chgData name="Ilhan, Deren" userId="56d24305-45ef-46a8-865f-0f8ff87400d9" providerId="ADAL" clId="{7B930B07-0B8E-4C3E-BFF4-679EC58503C4}" dt="2026-08-13T09:18:19.140" v="434" actId="790"/>
          <ac:spMkLst>
            <pc:docMk/>
            <pc:sldMk cId="0" sldId="261"/>
            <ac:spMk id="36" creationId="{00000000-0000-0000-0000-000000000000}"/>
          </ac:spMkLst>
        </pc:spChg>
        <pc:spChg chg="mod">
          <ac:chgData name="Ilhan, Deren" userId="56d24305-45ef-46a8-865f-0f8ff87400d9" providerId="ADAL" clId="{7B930B07-0B8E-4C3E-BFF4-679EC58503C4}" dt="2026-08-13T09:11:18.879" v="359" actId="20577"/>
          <ac:spMkLst>
            <pc:docMk/>
            <pc:sldMk cId="0" sldId="261"/>
            <ac:spMk id="41" creationId="{00000000-0000-0000-0000-000000000000}"/>
          </ac:spMkLst>
        </pc:spChg>
      </pc:sldChg>
      <pc:sldChg chg="delSp modSp mod modNotesTx">
        <pc:chgData name="Ilhan, Deren" userId="56d24305-45ef-46a8-865f-0f8ff87400d9" providerId="ADAL" clId="{7B930B07-0B8E-4C3E-BFF4-679EC58503C4}" dt="2026-08-13T09:20:22.787" v="447" actId="1076"/>
        <pc:sldMkLst>
          <pc:docMk/>
          <pc:sldMk cId="0" sldId="262"/>
        </pc:sldMkLst>
        <pc:spChg chg="mod">
          <ac:chgData name="Ilhan, Deren" userId="56d24305-45ef-46a8-865f-0f8ff87400d9" providerId="ADAL" clId="{7B930B07-0B8E-4C3E-BFF4-679EC58503C4}" dt="2026-08-13T09:20:22.787" v="447" actId="1076"/>
          <ac:spMkLst>
            <pc:docMk/>
            <pc:sldMk cId="0" sldId="262"/>
            <ac:spMk id="7" creationId="{00000000-0000-0000-0000-000000000000}"/>
          </ac:spMkLst>
        </pc:spChg>
        <pc:spChg chg="mod">
          <ac:chgData name="Ilhan, Deren" userId="56d24305-45ef-46a8-865f-0f8ff87400d9" providerId="ADAL" clId="{7B930B07-0B8E-4C3E-BFF4-679EC58503C4}" dt="2026-08-13T09:20:22.787" v="447" actId="1076"/>
          <ac:spMkLst>
            <pc:docMk/>
            <pc:sldMk cId="0" sldId="262"/>
            <ac:spMk id="11" creationId="{00000000-0000-0000-0000-000000000000}"/>
          </ac:spMkLst>
        </pc:spChg>
        <pc:spChg chg="mod">
          <ac:chgData name="Ilhan, Deren" userId="56d24305-45ef-46a8-865f-0f8ff87400d9" providerId="ADAL" clId="{7B930B07-0B8E-4C3E-BFF4-679EC58503C4}" dt="2026-08-13T09:20:22.787" v="447" actId="1076"/>
          <ac:spMkLst>
            <pc:docMk/>
            <pc:sldMk cId="0" sldId="262"/>
            <ac:spMk id="12" creationId="{00000000-0000-0000-0000-000000000000}"/>
          </ac:spMkLst>
        </pc:spChg>
        <pc:spChg chg="mod">
          <ac:chgData name="Ilhan, Deren" userId="56d24305-45ef-46a8-865f-0f8ff87400d9" providerId="ADAL" clId="{7B930B07-0B8E-4C3E-BFF4-679EC58503C4}" dt="2026-08-13T09:20:22.787" v="447" actId="1076"/>
          <ac:spMkLst>
            <pc:docMk/>
            <pc:sldMk cId="0" sldId="262"/>
            <ac:spMk id="13" creationId="{00000000-0000-0000-0000-000000000000}"/>
          </ac:spMkLst>
        </pc:spChg>
        <pc:spChg chg="mod">
          <ac:chgData name="Ilhan, Deren" userId="56d24305-45ef-46a8-865f-0f8ff87400d9" providerId="ADAL" clId="{7B930B07-0B8E-4C3E-BFF4-679EC58503C4}" dt="2026-08-13T09:20:22.787" v="447" actId="1076"/>
          <ac:spMkLst>
            <pc:docMk/>
            <pc:sldMk cId="0" sldId="262"/>
            <ac:spMk id="16" creationId="{00000000-0000-0000-0000-000000000000}"/>
          </ac:spMkLst>
        </pc:spChg>
        <pc:spChg chg="mod">
          <ac:chgData name="Ilhan, Deren" userId="56d24305-45ef-46a8-865f-0f8ff87400d9" providerId="ADAL" clId="{7B930B07-0B8E-4C3E-BFF4-679EC58503C4}" dt="2026-08-13T09:20:22.787" v="447" actId="1076"/>
          <ac:spMkLst>
            <pc:docMk/>
            <pc:sldMk cId="0" sldId="262"/>
            <ac:spMk id="17" creationId="{00000000-0000-0000-0000-000000000000}"/>
          </ac:spMkLst>
        </pc:spChg>
        <pc:spChg chg="mod">
          <ac:chgData name="Ilhan, Deren" userId="56d24305-45ef-46a8-865f-0f8ff87400d9" providerId="ADAL" clId="{7B930B07-0B8E-4C3E-BFF4-679EC58503C4}" dt="2026-08-13T09:20:22.787" v="447" actId="1076"/>
          <ac:spMkLst>
            <pc:docMk/>
            <pc:sldMk cId="0" sldId="262"/>
            <ac:spMk id="18" creationId="{00000000-0000-0000-0000-000000000000}"/>
          </ac:spMkLst>
        </pc:spChg>
        <pc:spChg chg="mod">
          <ac:chgData name="Ilhan, Deren" userId="56d24305-45ef-46a8-865f-0f8ff87400d9" providerId="ADAL" clId="{7B930B07-0B8E-4C3E-BFF4-679EC58503C4}" dt="2026-08-13T09:20:22.787" v="447" actId="1076"/>
          <ac:spMkLst>
            <pc:docMk/>
            <pc:sldMk cId="0" sldId="262"/>
            <ac:spMk id="20" creationId="{00000000-0000-0000-0000-000000000000}"/>
          </ac:spMkLst>
        </pc:spChg>
        <pc:spChg chg="mod">
          <ac:chgData name="Ilhan, Deren" userId="56d24305-45ef-46a8-865f-0f8ff87400d9" providerId="ADAL" clId="{7B930B07-0B8E-4C3E-BFF4-679EC58503C4}" dt="2026-08-13T09:20:22.787" v="447" actId="1076"/>
          <ac:spMkLst>
            <pc:docMk/>
            <pc:sldMk cId="0" sldId="262"/>
            <ac:spMk id="22" creationId="{00000000-0000-0000-0000-000000000000}"/>
          </ac:spMkLst>
        </pc:spChg>
        <pc:spChg chg="mod">
          <ac:chgData name="Ilhan, Deren" userId="56d24305-45ef-46a8-865f-0f8ff87400d9" providerId="ADAL" clId="{7B930B07-0B8E-4C3E-BFF4-679EC58503C4}" dt="2026-08-13T09:20:22.787" v="447" actId="1076"/>
          <ac:spMkLst>
            <pc:docMk/>
            <pc:sldMk cId="0" sldId="262"/>
            <ac:spMk id="23" creationId="{00000000-0000-0000-0000-000000000000}"/>
          </ac:spMkLst>
        </pc:spChg>
        <pc:spChg chg="del">
          <ac:chgData name="Ilhan, Deren" userId="56d24305-45ef-46a8-865f-0f8ff87400d9" providerId="ADAL" clId="{7B930B07-0B8E-4C3E-BFF4-679EC58503C4}" dt="2026-08-13T09:19:49.374" v="445" actId="478"/>
          <ac:spMkLst>
            <pc:docMk/>
            <pc:sldMk cId="0" sldId="262"/>
            <ac:spMk id="24" creationId="{00000000-0000-0000-0000-000000000000}"/>
          </ac:spMkLst>
        </pc:spChg>
        <pc:spChg chg="mod">
          <ac:chgData name="Ilhan, Deren" userId="56d24305-45ef-46a8-865f-0f8ff87400d9" providerId="ADAL" clId="{7B930B07-0B8E-4C3E-BFF4-679EC58503C4}" dt="2026-08-13T09:19:47.023" v="444" actId="6549"/>
          <ac:spMkLst>
            <pc:docMk/>
            <pc:sldMk cId="0" sldId="262"/>
            <ac:spMk id="25" creationId="{00000000-0000-0000-0000-000000000000}"/>
          </ac:spMkLst>
        </pc:spChg>
      </pc:sldChg>
      <pc:sldChg chg="addSp modSp mod">
        <pc:chgData name="Ilhan, Deren" userId="56d24305-45ef-46a8-865f-0f8ff87400d9" providerId="ADAL" clId="{7B930B07-0B8E-4C3E-BFF4-679EC58503C4}" dt="2026-08-13T10:54:24.304" v="3282" actId="790"/>
        <pc:sldMkLst>
          <pc:docMk/>
          <pc:sldMk cId="0" sldId="263"/>
        </pc:sldMkLst>
        <pc:spChg chg="mod">
          <ac:chgData name="Ilhan, Deren" userId="56d24305-45ef-46a8-865f-0f8ff87400d9" providerId="ADAL" clId="{7B930B07-0B8E-4C3E-BFF4-679EC58503C4}" dt="2026-08-13T09:26:52.502" v="506" actId="790"/>
          <ac:spMkLst>
            <pc:docMk/>
            <pc:sldMk cId="0" sldId="263"/>
            <ac:spMk id="4" creationId="{00000000-0000-0000-0000-000000000000}"/>
          </ac:spMkLst>
        </pc:spChg>
        <pc:spChg chg="mod">
          <ac:chgData name="Ilhan, Deren" userId="56d24305-45ef-46a8-865f-0f8ff87400d9" providerId="ADAL" clId="{7B930B07-0B8E-4C3E-BFF4-679EC58503C4}" dt="2026-08-13T10:54:24.304" v="3282" actId="790"/>
          <ac:spMkLst>
            <pc:docMk/>
            <pc:sldMk cId="0" sldId="263"/>
            <ac:spMk id="10" creationId="{00000000-0000-0000-0000-000000000000}"/>
          </ac:spMkLst>
        </pc:spChg>
        <pc:spChg chg="mod">
          <ac:chgData name="Ilhan, Deren" userId="56d24305-45ef-46a8-865f-0f8ff87400d9" providerId="ADAL" clId="{7B930B07-0B8E-4C3E-BFF4-679EC58503C4}" dt="2026-08-13T09:28:49.278" v="929" actId="20577"/>
          <ac:spMkLst>
            <pc:docMk/>
            <pc:sldMk cId="0" sldId="263"/>
            <ac:spMk id="14" creationId="{00000000-0000-0000-0000-000000000000}"/>
          </ac:spMkLst>
        </pc:spChg>
        <pc:graphicFrameChg chg="add mod">
          <ac:chgData name="Ilhan, Deren" userId="56d24305-45ef-46a8-865f-0f8ff87400d9" providerId="ADAL" clId="{7B930B07-0B8E-4C3E-BFF4-679EC58503C4}" dt="2026-08-13T09:27:35.603" v="507"/>
          <ac:graphicFrameMkLst>
            <pc:docMk/>
            <pc:sldMk cId="0" sldId="263"/>
            <ac:graphicFrameMk id="15" creationId="{5F91F023-EA62-B232-4A4C-C913EFB54102}"/>
          </ac:graphicFrameMkLst>
        </pc:graphicFrameChg>
        <pc:graphicFrameChg chg="add mod">
          <ac:chgData name="Ilhan, Deren" userId="56d24305-45ef-46a8-865f-0f8ff87400d9" providerId="ADAL" clId="{7B930B07-0B8E-4C3E-BFF4-679EC58503C4}" dt="2026-08-13T09:27:41.223" v="508"/>
          <ac:graphicFrameMkLst>
            <pc:docMk/>
            <pc:sldMk cId="0" sldId="263"/>
            <ac:graphicFrameMk id="16" creationId="{D5CFB86F-2C7F-8794-5343-973905A8A090}"/>
          </ac:graphicFrameMkLst>
        </pc:graphicFrameChg>
      </pc:sldChg>
      <pc:sldChg chg="modSp mod">
        <pc:chgData name="Ilhan, Deren" userId="56d24305-45ef-46a8-865f-0f8ff87400d9" providerId="ADAL" clId="{7B930B07-0B8E-4C3E-BFF4-679EC58503C4}" dt="2026-08-13T09:29:10.341" v="934" actId="5793"/>
        <pc:sldMkLst>
          <pc:docMk/>
          <pc:sldMk cId="0" sldId="264"/>
        </pc:sldMkLst>
        <pc:spChg chg="mod">
          <ac:chgData name="Ilhan, Deren" userId="56d24305-45ef-46a8-865f-0f8ff87400d9" providerId="ADAL" clId="{7B930B07-0B8E-4C3E-BFF4-679EC58503C4}" dt="2026-08-13T09:29:10.341" v="934" actId="5793"/>
          <ac:spMkLst>
            <pc:docMk/>
            <pc:sldMk cId="0" sldId="264"/>
            <ac:spMk id="3" creationId="{00000000-0000-0000-0000-000000000000}"/>
          </ac:spMkLst>
        </pc:spChg>
      </pc:sldChg>
      <pc:sldChg chg="modSp mod modNotesTx">
        <pc:chgData name="Ilhan, Deren" userId="56d24305-45ef-46a8-865f-0f8ff87400d9" providerId="ADAL" clId="{7B930B07-0B8E-4C3E-BFF4-679EC58503C4}" dt="2026-08-13T09:38:39.350" v="1984" actId="790"/>
        <pc:sldMkLst>
          <pc:docMk/>
          <pc:sldMk cId="0" sldId="265"/>
        </pc:sldMkLst>
        <pc:spChg chg="mod">
          <ac:chgData name="Ilhan, Deren" userId="56d24305-45ef-46a8-865f-0f8ff87400d9" providerId="ADAL" clId="{7B930B07-0B8E-4C3E-BFF4-679EC58503C4}" dt="2026-08-13T09:38:39.350" v="1984" actId="790"/>
          <ac:spMkLst>
            <pc:docMk/>
            <pc:sldMk cId="0" sldId="265"/>
            <ac:spMk id="9" creationId="{00000000-0000-0000-0000-000000000000}"/>
          </ac:spMkLst>
        </pc:spChg>
        <pc:spChg chg="mod">
          <ac:chgData name="Ilhan, Deren" userId="56d24305-45ef-46a8-865f-0f8ff87400d9" providerId="ADAL" clId="{7B930B07-0B8E-4C3E-BFF4-679EC58503C4}" dt="2026-08-13T09:38:01.598" v="1983" actId="20577"/>
          <ac:spMkLst>
            <pc:docMk/>
            <pc:sldMk cId="0" sldId="265"/>
            <ac:spMk id="14" creationId="{00000000-0000-0000-0000-000000000000}"/>
          </ac:spMkLst>
        </pc:spChg>
      </pc:sldChg>
      <pc:sldChg chg="modSp mod">
        <pc:chgData name="Ilhan, Deren" userId="56d24305-45ef-46a8-865f-0f8ff87400d9" providerId="ADAL" clId="{7B930B07-0B8E-4C3E-BFF4-679EC58503C4}" dt="2026-08-13T09:40:39.817" v="2352" actId="790"/>
        <pc:sldMkLst>
          <pc:docMk/>
          <pc:sldMk cId="0" sldId="266"/>
        </pc:sldMkLst>
        <pc:spChg chg="mod">
          <ac:chgData name="Ilhan, Deren" userId="56d24305-45ef-46a8-865f-0f8ff87400d9" providerId="ADAL" clId="{7B930B07-0B8E-4C3E-BFF4-679EC58503C4}" dt="2026-08-13T09:40:39.817" v="2352" actId="790"/>
          <ac:spMkLst>
            <pc:docMk/>
            <pc:sldMk cId="0" sldId="266"/>
            <ac:spMk id="8" creationId="{00000000-0000-0000-0000-000000000000}"/>
          </ac:spMkLst>
        </pc:spChg>
      </pc:sldChg>
      <pc:sldChg chg="del">
        <pc:chgData name="Ilhan, Deren" userId="56d24305-45ef-46a8-865f-0f8ff87400d9" providerId="ADAL" clId="{7B930B07-0B8E-4C3E-BFF4-679EC58503C4}" dt="2026-08-13T08:57:07.833" v="0" actId="2696"/>
        <pc:sldMkLst>
          <pc:docMk/>
          <pc:sldMk cId="0" sldId="267"/>
        </pc:sldMkLst>
      </pc:sldChg>
      <pc:sldChg chg="modSp mod">
        <pc:chgData name="Ilhan, Deren" userId="56d24305-45ef-46a8-865f-0f8ff87400d9" providerId="ADAL" clId="{7B930B07-0B8E-4C3E-BFF4-679EC58503C4}" dt="2026-08-13T10:49:33.070" v="3212" actId="790"/>
        <pc:sldMkLst>
          <pc:docMk/>
          <pc:sldMk cId="0" sldId="268"/>
        </pc:sldMkLst>
        <pc:spChg chg="mod">
          <ac:chgData name="Ilhan, Deren" userId="56d24305-45ef-46a8-865f-0f8ff87400d9" providerId="ADAL" clId="{7B930B07-0B8E-4C3E-BFF4-679EC58503C4}" dt="2026-08-13T10:45:59.986" v="2354" actId="1076"/>
          <ac:spMkLst>
            <pc:docMk/>
            <pc:sldMk cId="0" sldId="268"/>
            <ac:spMk id="4" creationId="{00000000-0000-0000-0000-000000000000}"/>
          </ac:spMkLst>
        </pc:spChg>
        <pc:spChg chg="mod">
          <ac:chgData name="Ilhan, Deren" userId="56d24305-45ef-46a8-865f-0f8ff87400d9" providerId="ADAL" clId="{7B930B07-0B8E-4C3E-BFF4-679EC58503C4}" dt="2026-08-13T10:47:59.574" v="2793" actId="790"/>
          <ac:spMkLst>
            <pc:docMk/>
            <pc:sldMk cId="0" sldId="268"/>
            <ac:spMk id="6" creationId="{00000000-0000-0000-0000-000000000000}"/>
          </ac:spMkLst>
        </pc:spChg>
        <pc:spChg chg="mod">
          <ac:chgData name="Ilhan, Deren" userId="56d24305-45ef-46a8-865f-0f8ff87400d9" providerId="ADAL" clId="{7B930B07-0B8E-4C3E-BFF4-679EC58503C4}" dt="2026-08-13T10:49:33.070" v="3212" actId="790"/>
          <ac:spMkLst>
            <pc:docMk/>
            <pc:sldMk cId="0" sldId="268"/>
            <ac:spMk id="9" creationId="{00000000-0000-0000-0000-000000000000}"/>
          </ac:spMkLst>
        </pc:spChg>
      </pc:sldChg>
      <pc:sldChg chg="addSp delSp modSp mod">
        <pc:chgData name="Ilhan, Deren" userId="56d24305-45ef-46a8-865f-0f8ff87400d9" providerId="ADAL" clId="{7B930B07-0B8E-4C3E-BFF4-679EC58503C4}" dt="2026-08-13T10:51:44.769" v="3275" actId="790"/>
        <pc:sldMkLst>
          <pc:docMk/>
          <pc:sldMk cId="0" sldId="269"/>
        </pc:sldMkLst>
        <pc:spChg chg="mod">
          <ac:chgData name="Ilhan, Deren" userId="56d24305-45ef-46a8-865f-0f8ff87400d9" providerId="ADAL" clId="{7B930B07-0B8E-4C3E-BFF4-679EC58503C4}" dt="2026-08-13T08:59:13.881" v="18" actId="20577"/>
          <ac:spMkLst>
            <pc:docMk/>
            <pc:sldMk cId="0" sldId="269"/>
            <ac:spMk id="5" creationId="{00000000-0000-0000-0000-000000000000}"/>
          </ac:spMkLst>
        </pc:spChg>
        <pc:spChg chg="mod">
          <ac:chgData name="Ilhan, Deren" userId="56d24305-45ef-46a8-865f-0f8ff87400d9" providerId="ADAL" clId="{7B930B07-0B8E-4C3E-BFF4-679EC58503C4}" dt="2026-08-13T08:59:17.441" v="20" actId="20577"/>
          <ac:spMkLst>
            <pc:docMk/>
            <pc:sldMk cId="0" sldId="269"/>
            <ac:spMk id="9" creationId="{00000000-0000-0000-0000-000000000000}"/>
          </ac:spMkLst>
        </pc:spChg>
        <pc:spChg chg="mod">
          <ac:chgData name="Ilhan, Deren" userId="56d24305-45ef-46a8-865f-0f8ff87400d9" providerId="ADAL" clId="{7B930B07-0B8E-4C3E-BFF4-679EC58503C4}" dt="2026-08-13T10:51:25.693" v="3264" actId="20577"/>
          <ac:spMkLst>
            <pc:docMk/>
            <pc:sldMk cId="0" sldId="269"/>
            <ac:spMk id="11" creationId="{00000000-0000-0000-0000-000000000000}"/>
          </ac:spMkLst>
        </pc:spChg>
        <pc:spChg chg="mod">
          <ac:chgData name="Ilhan, Deren" userId="56d24305-45ef-46a8-865f-0f8ff87400d9" providerId="ADAL" clId="{7B930B07-0B8E-4C3E-BFF4-679EC58503C4}" dt="2026-08-13T08:59:15.628" v="19" actId="20577"/>
          <ac:spMkLst>
            <pc:docMk/>
            <pc:sldMk cId="0" sldId="269"/>
            <ac:spMk id="13" creationId="{00000000-0000-0000-0000-000000000000}"/>
          </ac:spMkLst>
        </pc:spChg>
        <pc:spChg chg="mod">
          <ac:chgData name="Ilhan, Deren" userId="56d24305-45ef-46a8-865f-0f8ff87400d9" providerId="ADAL" clId="{7B930B07-0B8E-4C3E-BFF4-679EC58503C4}" dt="2026-08-13T08:59:19.596" v="21" actId="20577"/>
          <ac:spMkLst>
            <pc:docMk/>
            <pc:sldMk cId="0" sldId="269"/>
            <ac:spMk id="17" creationId="{00000000-0000-0000-0000-000000000000}"/>
          </ac:spMkLst>
        </pc:spChg>
        <pc:spChg chg="mod">
          <ac:chgData name="Ilhan, Deren" userId="56d24305-45ef-46a8-865f-0f8ff87400d9" providerId="ADAL" clId="{7B930B07-0B8E-4C3E-BFF4-679EC58503C4}" dt="2026-08-13T10:51:44.769" v="3275" actId="790"/>
          <ac:spMkLst>
            <pc:docMk/>
            <pc:sldMk cId="0" sldId="269"/>
            <ac:spMk id="19" creationId="{00000000-0000-0000-0000-000000000000}"/>
          </ac:spMkLst>
        </pc:spChg>
        <pc:spChg chg="add del">
          <ac:chgData name="Ilhan, Deren" userId="56d24305-45ef-46a8-865f-0f8ff87400d9" providerId="ADAL" clId="{7B930B07-0B8E-4C3E-BFF4-679EC58503C4}" dt="2026-08-13T08:59:02.821" v="17" actId="478"/>
          <ac:spMkLst>
            <pc:docMk/>
            <pc:sldMk cId="0" sldId="269"/>
            <ac:spMk id="20" creationId="{00000000-0000-0000-0000-000000000000}"/>
          </ac:spMkLst>
        </pc:spChg>
        <pc:spChg chg="add del">
          <ac:chgData name="Ilhan, Deren" userId="56d24305-45ef-46a8-865f-0f8ff87400d9" providerId="ADAL" clId="{7B930B07-0B8E-4C3E-BFF4-679EC58503C4}" dt="2026-08-13T08:59:02.821" v="17" actId="478"/>
          <ac:spMkLst>
            <pc:docMk/>
            <pc:sldMk cId="0" sldId="269"/>
            <ac:spMk id="21" creationId="{00000000-0000-0000-0000-000000000000}"/>
          </ac:spMkLst>
        </pc:spChg>
        <pc:spChg chg="add del">
          <ac:chgData name="Ilhan, Deren" userId="56d24305-45ef-46a8-865f-0f8ff87400d9" providerId="ADAL" clId="{7B930B07-0B8E-4C3E-BFF4-679EC58503C4}" dt="2026-08-13T08:59:02.821" v="17" actId="478"/>
          <ac:spMkLst>
            <pc:docMk/>
            <pc:sldMk cId="0" sldId="269"/>
            <ac:spMk id="22" creationId="{00000000-0000-0000-0000-000000000000}"/>
          </ac:spMkLst>
        </pc:spChg>
        <pc:spChg chg="add del">
          <ac:chgData name="Ilhan, Deren" userId="56d24305-45ef-46a8-865f-0f8ff87400d9" providerId="ADAL" clId="{7B930B07-0B8E-4C3E-BFF4-679EC58503C4}" dt="2026-08-13T08:59:02.821" v="17" actId="478"/>
          <ac:spMkLst>
            <pc:docMk/>
            <pc:sldMk cId="0" sldId="269"/>
            <ac:spMk id="23" creationId="{00000000-0000-0000-0000-000000000000}"/>
          </ac:spMkLst>
        </pc:spChg>
        <pc:spChg chg="add del mod">
          <ac:chgData name="Ilhan, Deren" userId="56d24305-45ef-46a8-865f-0f8ff87400d9" providerId="ADAL" clId="{7B930B07-0B8E-4C3E-BFF4-679EC58503C4}" dt="2026-08-13T09:00:38.269" v="30" actId="478"/>
          <ac:spMkLst>
            <pc:docMk/>
            <pc:sldMk cId="0" sldId="269"/>
            <ac:spMk id="24" creationId="{00000000-0000-0000-0000-000000000000}"/>
          </ac:spMkLst>
        </pc:spChg>
        <pc:spChg chg="mod">
          <ac:chgData name="Ilhan, Deren" userId="56d24305-45ef-46a8-865f-0f8ff87400d9" providerId="ADAL" clId="{7B930B07-0B8E-4C3E-BFF4-679EC58503C4}" dt="2026-08-13T09:00:03.320" v="26" actId="1076"/>
          <ac:spMkLst>
            <pc:docMk/>
            <pc:sldMk cId="0" sldId="269"/>
            <ac:spMk id="25" creationId="{00000000-0000-0000-0000-000000000000}"/>
          </ac:spMkLst>
        </pc:spChg>
        <pc:spChg chg="mod">
          <ac:chgData name="Ilhan, Deren" userId="56d24305-45ef-46a8-865f-0f8ff87400d9" providerId="ADAL" clId="{7B930B07-0B8E-4C3E-BFF4-679EC58503C4}" dt="2026-08-13T09:00:03.320" v="26" actId="1076"/>
          <ac:spMkLst>
            <pc:docMk/>
            <pc:sldMk cId="0" sldId="269"/>
            <ac:spMk id="26" creationId="{00000000-0000-0000-0000-000000000000}"/>
          </ac:spMkLst>
        </pc:spChg>
        <pc:spChg chg="mod">
          <ac:chgData name="Ilhan, Deren" userId="56d24305-45ef-46a8-865f-0f8ff87400d9" providerId="ADAL" clId="{7B930B07-0B8E-4C3E-BFF4-679EC58503C4}" dt="2026-08-13T09:00:03.320" v="26" actId="1076"/>
          <ac:spMkLst>
            <pc:docMk/>
            <pc:sldMk cId="0" sldId="269"/>
            <ac:spMk id="27" creationId="{00000000-0000-0000-0000-000000000000}"/>
          </ac:spMkLst>
        </pc:spChg>
        <pc:spChg chg="add mod">
          <ac:chgData name="Ilhan, Deren" userId="56d24305-45ef-46a8-865f-0f8ff87400d9" providerId="ADAL" clId="{7B930B07-0B8E-4C3E-BFF4-679EC58503C4}" dt="2026-08-13T09:00:46.437" v="31" actId="1076"/>
          <ac:spMkLst>
            <pc:docMk/>
            <pc:sldMk cId="0" sldId="269"/>
            <ac:spMk id="29" creationId="{D08AFD38-CC94-6130-B1F9-38737C1D8E71}"/>
          </ac:spMkLst>
        </pc:spChg>
      </pc:sldChg>
      <pc:sldChg chg="addSp delSp modSp mod modNotesTx">
        <pc:chgData name="Ilhan, Deren" userId="56d24305-45ef-46a8-865f-0f8ff87400d9" providerId="ADAL" clId="{7B930B07-0B8E-4C3E-BFF4-679EC58503C4}" dt="2026-08-13T09:17:01.070" v="431" actId="1076"/>
        <pc:sldMkLst>
          <pc:docMk/>
          <pc:sldMk cId="0" sldId="270"/>
        </pc:sldMkLst>
        <pc:spChg chg="del mod">
          <ac:chgData name="Ilhan, Deren" userId="56d24305-45ef-46a8-865f-0f8ff87400d9" providerId="ADAL" clId="{7B930B07-0B8E-4C3E-BFF4-679EC58503C4}" dt="2026-08-13T09:14:15.944" v="401" actId="478"/>
          <ac:spMkLst>
            <pc:docMk/>
            <pc:sldMk cId="0" sldId="270"/>
            <ac:spMk id="4" creationId="{00000000-0000-0000-0000-000000000000}"/>
          </ac:spMkLst>
        </pc:spChg>
        <pc:spChg chg="add del">
          <ac:chgData name="Ilhan, Deren" userId="56d24305-45ef-46a8-865f-0f8ff87400d9" providerId="ADAL" clId="{7B930B07-0B8E-4C3E-BFF4-679EC58503C4}" dt="2026-08-13T09:16:00.909" v="424" actId="478"/>
          <ac:spMkLst>
            <pc:docMk/>
            <pc:sldMk cId="0" sldId="270"/>
            <ac:spMk id="5" creationId="{00000000-0000-0000-0000-000000000000}"/>
          </ac:spMkLst>
        </pc:spChg>
        <pc:spChg chg="add del">
          <ac:chgData name="Ilhan, Deren" userId="56d24305-45ef-46a8-865f-0f8ff87400d9" providerId="ADAL" clId="{7B930B07-0B8E-4C3E-BFF4-679EC58503C4}" dt="2026-08-13T09:16:00.909" v="424" actId="478"/>
          <ac:spMkLst>
            <pc:docMk/>
            <pc:sldMk cId="0" sldId="270"/>
            <ac:spMk id="6" creationId="{00000000-0000-0000-0000-000000000000}"/>
          </ac:spMkLst>
        </pc:spChg>
        <pc:spChg chg="add del">
          <ac:chgData name="Ilhan, Deren" userId="56d24305-45ef-46a8-865f-0f8ff87400d9" providerId="ADAL" clId="{7B930B07-0B8E-4C3E-BFF4-679EC58503C4}" dt="2026-08-13T09:16:00.909" v="424" actId="478"/>
          <ac:spMkLst>
            <pc:docMk/>
            <pc:sldMk cId="0" sldId="270"/>
            <ac:spMk id="7" creationId="{00000000-0000-0000-0000-000000000000}"/>
          </ac:spMkLst>
        </pc:spChg>
        <pc:spChg chg="mod">
          <ac:chgData name="Ilhan, Deren" userId="56d24305-45ef-46a8-865f-0f8ff87400d9" providerId="ADAL" clId="{7B930B07-0B8E-4C3E-BFF4-679EC58503C4}" dt="2026-08-13T09:17:01.070" v="431" actId="1076"/>
          <ac:spMkLst>
            <pc:docMk/>
            <pc:sldMk cId="0" sldId="270"/>
            <ac:spMk id="8" creationId="{00000000-0000-0000-0000-000000000000}"/>
          </ac:spMkLst>
        </pc:spChg>
        <pc:spChg chg="mod">
          <ac:chgData name="Ilhan, Deren" userId="56d24305-45ef-46a8-865f-0f8ff87400d9" providerId="ADAL" clId="{7B930B07-0B8E-4C3E-BFF4-679EC58503C4}" dt="2026-08-13T09:17:01.070" v="431" actId="1076"/>
          <ac:spMkLst>
            <pc:docMk/>
            <pc:sldMk cId="0" sldId="270"/>
            <ac:spMk id="9" creationId="{00000000-0000-0000-0000-000000000000}"/>
          </ac:spMkLst>
        </pc:spChg>
        <pc:spChg chg="mod">
          <ac:chgData name="Ilhan, Deren" userId="56d24305-45ef-46a8-865f-0f8ff87400d9" providerId="ADAL" clId="{7B930B07-0B8E-4C3E-BFF4-679EC58503C4}" dt="2026-08-13T09:17:01.070" v="431" actId="1076"/>
          <ac:spMkLst>
            <pc:docMk/>
            <pc:sldMk cId="0" sldId="270"/>
            <ac:spMk id="10" creationId="{00000000-0000-0000-0000-000000000000}"/>
          </ac:spMkLst>
        </pc:spChg>
        <pc:spChg chg="mod">
          <ac:chgData name="Ilhan, Deren" userId="56d24305-45ef-46a8-865f-0f8ff87400d9" providerId="ADAL" clId="{7B930B07-0B8E-4C3E-BFF4-679EC58503C4}" dt="2026-08-13T09:17:01.070" v="431" actId="1076"/>
          <ac:spMkLst>
            <pc:docMk/>
            <pc:sldMk cId="0" sldId="270"/>
            <ac:spMk id="11" creationId="{00000000-0000-0000-0000-000000000000}"/>
          </ac:spMkLst>
        </pc:spChg>
        <pc:spChg chg="mod">
          <ac:chgData name="Ilhan, Deren" userId="56d24305-45ef-46a8-865f-0f8ff87400d9" providerId="ADAL" clId="{7B930B07-0B8E-4C3E-BFF4-679EC58503C4}" dt="2026-08-13T09:17:01.070" v="431" actId="1076"/>
          <ac:spMkLst>
            <pc:docMk/>
            <pc:sldMk cId="0" sldId="270"/>
            <ac:spMk id="12" creationId="{00000000-0000-0000-0000-000000000000}"/>
          </ac:spMkLst>
        </pc:spChg>
        <pc:spChg chg="mod">
          <ac:chgData name="Ilhan, Deren" userId="56d24305-45ef-46a8-865f-0f8ff87400d9" providerId="ADAL" clId="{7B930B07-0B8E-4C3E-BFF4-679EC58503C4}" dt="2026-08-13T09:17:01.070" v="431" actId="1076"/>
          <ac:spMkLst>
            <pc:docMk/>
            <pc:sldMk cId="0" sldId="270"/>
            <ac:spMk id="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83305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419"/>
        </a:solidFill>
        <a:effectLst/>
      </p:bgPr>
    </p:bg>
    <p:spTree>
      <p:nvGrpSpPr>
        <p:cNvPr id="1" name=""/>
        <p:cNvGrpSpPr/>
        <p:nvPr/>
      </p:nvGrpSpPr>
      <p:grpSpPr>
        <a:xfrm>
          <a:off x="0" y="0"/>
          <a:ext cx="0" cy="0"/>
          <a:chOff x="0" y="0"/>
          <a:chExt cx="0" cy="0"/>
        </a:xfrm>
      </p:grpSpPr>
      <p:sp>
        <p:nvSpPr>
          <p:cNvPr id="2" name="Shape 0"/>
          <p:cNvSpPr/>
          <p:nvPr/>
        </p:nvSpPr>
        <p:spPr>
          <a:xfrm>
            <a:off x="640080" y="1783080"/>
            <a:ext cx="457200" cy="457200"/>
          </a:xfrm>
          <a:prstGeom prst="ellipse">
            <a:avLst/>
          </a:prstGeom>
          <a:solidFill>
            <a:srgbClr val="E23E3E"/>
          </a:solidFill>
          <a:ln/>
        </p:spPr>
        <p:txBody>
          <a:bodyPr/>
          <a:lstStyle/>
          <a:p>
            <a:endParaRPr lang="en-DE"/>
          </a:p>
        </p:txBody>
      </p:sp>
      <p:sp>
        <p:nvSpPr>
          <p:cNvPr id="3" name="Text 1"/>
          <p:cNvSpPr/>
          <p:nvPr/>
        </p:nvSpPr>
        <p:spPr>
          <a:xfrm>
            <a:off x="640080" y="2377440"/>
            <a:ext cx="10911535"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Audio Recorder App</a:t>
            </a:r>
            <a:endParaRPr lang="en-US" sz="4800" dirty="0"/>
          </a:p>
        </p:txBody>
      </p:sp>
      <p:sp>
        <p:nvSpPr>
          <p:cNvPr id="4" name="Text 2"/>
          <p:cNvSpPr/>
          <p:nvPr/>
        </p:nvSpPr>
        <p:spPr>
          <a:xfrm>
            <a:off x="640080" y="3291840"/>
            <a:ext cx="10911535" cy="457200"/>
          </a:xfrm>
          <a:prstGeom prst="rect">
            <a:avLst/>
          </a:prstGeom>
          <a:noFill/>
          <a:ln/>
        </p:spPr>
        <p:txBody>
          <a:bodyPr wrap="square" lIns="0" tIns="0" rIns="0" bIns="0" rtlCol="0" anchor="ctr"/>
          <a:lstStyle/>
          <a:p>
            <a:pPr marL="0" indent="0">
              <a:buNone/>
            </a:pPr>
            <a:r>
              <a:rPr lang="en-US" sz="2000" dirty="0">
                <a:solidFill>
                  <a:srgbClr val="9AA4B2"/>
                </a:solidFill>
                <a:latin typeface="Calibri" pitchFamily="34" charset="0"/>
                <a:ea typeface="Calibri" pitchFamily="34" charset="-122"/>
                <a:cs typeface="Calibri" pitchFamily="34" charset="-120"/>
              </a:rPr>
              <a:t>Eine hybride Android-App mit Ionic Capacitor</a:t>
            </a:r>
            <a:endParaRPr lang="en-US" sz="2000" dirty="0"/>
          </a:p>
        </p:txBody>
      </p:sp>
      <p:sp>
        <p:nvSpPr>
          <p:cNvPr id="5" name="Text 3"/>
          <p:cNvSpPr/>
          <p:nvPr/>
        </p:nvSpPr>
        <p:spPr>
          <a:xfrm>
            <a:off x="640080" y="5760720"/>
            <a:ext cx="10911535" cy="365760"/>
          </a:xfrm>
          <a:prstGeom prst="rect">
            <a:avLst/>
          </a:prstGeom>
          <a:noFill/>
          <a:ln/>
        </p:spPr>
        <p:txBody>
          <a:bodyPr wrap="square" lIns="0" tIns="0" rIns="0" bIns="0" rtlCol="0" anchor="ctr"/>
          <a:lstStyle/>
          <a:p>
            <a:pPr marL="0" indent="0">
              <a:buNone/>
            </a:pPr>
            <a:r>
              <a:rPr lang="en-US" sz="1300" dirty="0">
                <a:solidFill>
                  <a:srgbClr val="6B7683"/>
                </a:solidFill>
                <a:latin typeface="Calibri" pitchFamily="34" charset="0"/>
                <a:ea typeface="Calibri" pitchFamily="34" charset="-122"/>
                <a:cs typeface="Calibri" pitchFamily="34" charset="-120"/>
              </a:rPr>
              <a:t>Fallstudie Hybride App-Entwicklung  ·  Gruppe Dennis </a:t>
            </a:r>
            <a:r>
              <a:rPr lang="en-US" sz="1300" dirty="0" err="1">
                <a:solidFill>
                  <a:srgbClr val="6B7683"/>
                </a:solidFill>
                <a:latin typeface="Calibri" pitchFamily="34" charset="0"/>
                <a:ea typeface="Calibri" pitchFamily="34" charset="-122"/>
                <a:cs typeface="Calibri" pitchFamily="34" charset="-120"/>
              </a:rPr>
              <a:t>Grözinger</a:t>
            </a:r>
            <a:r>
              <a:rPr lang="en-US" sz="1300" dirty="0">
                <a:solidFill>
                  <a:srgbClr val="6B7683"/>
                </a:solidFill>
                <a:latin typeface="Calibri" pitchFamily="34" charset="0"/>
                <a:ea typeface="Calibri" pitchFamily="34" charset="-122"/>
                <a:cs typeface="Calibri" pitchFamily="34" charset="-120"/>
              </a:rPr>
              <a:t>, Denis Krebs, Deren Ilhan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Die Aufgabe</a:t>
            </a:r>
            <a:endParaRPr lang="en-US" sz="3200" dirty="0"/>
          </a:p>
        </p:txBody>
      </p:sp>
      <p:sp>
        <p:nvSpPr>
          <p:cNvPr id="4" name="Shape 2"/>
          <p:cNvSpPr/>
          <p:nvPr/>
        </p:nvSpPr>
        <p:spPr>
          <a:xfrm>
            <a:off x="640080" y="1463040"/>
            <a:ext cx="5227168" cy="4480560"/>
          </a:xfrm>
          <a:prstGeom prst="roundRect">
            <a:avLst>
              <a:gd name="adj" fmla="val 1633"/>
            </a:avLst>
          </a:prstGeom>
          <a:solidFill>
            <a:srgbClr val="F4F5F7"/>
          </a:solidFill>
          <a:ln/>
        </p:spPr>
        <p:txBody>
          <a:bodyPr/>
          <a:lstStyle/>
          <a:p>
            <a:endParaRPr lang="en-DE"/>
          </a:p>
        </p:txBody>
      </p:sp>
      <p:sp>
        <p:nvSpPr>
          <p:cNvPr id="5" name="Text 3"/>
          <p:cNvSpPr/>
          <p:nvPr/>
        </p:nvSpPr>
        <p:spPr>
          <a:xfrm>
            <a:off x="960120" y="1691640"/>
            <a:ext cx="4587088" cy="32004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Funktionale Anforderungen</a:t>
            </a:r>
            <a:endParaRPr lang="en-US" sz="1600" dirty="0"/>
          </a:p>
        </p:txBody>
      </p:sp>
      <p:sp>
        <p:nvSpPr>
          <p:cNvPr id="6" name="Text 4"/>
          <p:cNvSpPr/>
          <p:nvPr/>
        </p:nvSpPr>
        <p:spPr>
          <a:xfrm>
            <a:off x="960120" y="2148840"/>
            <a:ext cx="4587088"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Aufnehmen, pausieren, fortsetzen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Listenansicht mit allen Dateinamen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Neue Aufnahme sofort in der Liste</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Abspielen und Wiedergabe stoppen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Teilen über den System-Dialog</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Löschen einzelner Aufnahmen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Aufnahmen überleben den Neustart</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Berechtigungen selbst anfragen</a:t>
            </a:r>
            <a:endParaRPr lang="en-US" sz="1400" dirty="0"/>
          </a:p>
        </p:txBody>
      </p:sp>
      <p:sp>
        <p:nvSpPr>
          <p:cNvPr id="7" name="Shape 5"/>
          <p:cNvSpPr/>
          <p:nvPr/>
        </p:nvSpPr>
        <p:spPr>
          <a:xfrm>
            <a:off x="6324448" y="1463040"/>
            <a:ext cx="5227168" cy="4480560"/>
          </a:xfrm>
          <a:prstGeom prst="roundRect">
            <a:avLst>
              <a:gd name="adj" fmla="val 1633"/>
            </a:avLst>
          </a:prstGeom>
          <a:solidFill>
            <a:srgbClr val="F4F5F7"/>
          </a:solidFill>
          <a:ln/>
        </p:spPr>
        <p:txBody>
          <a:bodyPr/>
          <a:lstStyle/>
          <a:p>
            <a:endParaRPr lang="en-DE"/>
          </a:p>
        </p:txBody>
      </p:sp>
      <p:sp>
        <p:nvSpPr>
          <p:cNvPr id="8" name="Text 6"/>
          <p:cNvSpPr/>
          <p:nvPr/>
        </p:nvSpPr>
        <p:spPr>
          <a:xfrm>
            <a:off x="6644488" y="1691640"/>
            <a:ext cx="4587088" cy="32004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Rahmenbedingungen</a:t>
            </a:r>
            <a:endParaRPr lang="en-US" sz="1600" dirty="0"/>
          </a:p>
        </p:txBody>
      </p:sp>
      <p:sp>
        <p:nvSpPr>
          <p:cNvPr id="9" name="Text 7"/>
          <p:cNvSpPr/>
          <p:nvPr/>
        </p:nvSpPr>
        <p:spPr>
          <a:xfrm>
            <a:off x="6644488" y="2148840"/>
            <a:ext cx="4587088"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Fünf vorgegebene Capacitor-Plugins</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Zwei davon kostenpflichtig, mit Lizenzschlüssel</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Lizenzschlüssel darf nicht veröffentlicht werden</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Physisches Gerät mit Mikrofon nötig</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Schlichtes Design genügt</a:t>
            </a:r>
            <a:endParaRPr lang="en-US" sz="1400" dirty="0"/>
          </a:p>
          <a:p>
            <a:pPr marL="342900" indent="-342900">
              <a:spcAft>
                <a:spcPts val="800"/>
              </a:spcAft>
              <a:buSzPct val="100000"/>
              <a:buChar char="•"/>
            </a:pPr>
            <a:r>
              <a:rPr lang="en-US" sz="1400" dirty="0">
                <a:solidFill>
                  <a:srgbClr val="374151"/>
                </a:solidFill>
                <a:latin typeface="Calibri" pitchFamily="34" charset="0"/>
                <a:ea typeface="Calibri" pitchFamily="34" charset="-122"/>
                <a:cs typeface="Calibri" pitchFamily="34" charset="-120"/>
              </a:rPr>
              <a:t>Abgabe als öffentliches GitHub-Repository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Das Ergebnis</a:t>
            </a:r>
            <a:endParaRPr lang="en-US" sz="3200" dirty="0"/>
          </a:p>
        </p:txBody>
      </p:sp>
      <p:sp>
        <p:nvSpPr>
          <p:cNvPr id="4" name="Shape 2"/>
          <p:cNvSpPr/>
          <p:nvPr/>
        </p:nvSpPr>
        <p:spPr>
          <a:xfrm>
            <a:off x="640080" y="1554480"/>
            <a:ext cx="3393338" cy="1508760"/>
          </a:xfrm>
          <a:prstGeom prst="roundRect">
            <a:avLst>
              <a:gd name="adj" fmla="val 4848"/>
            </a:avLst>
          </a:prstGeom>
          <a:solidFill>
            <a:srgbClr val="F4F5F7"/>
          </a:solidFill>
          <a:ln/>
        </p:spPr>
        <p:txBody>
          <a:bodyPr/>
          <a:lstStyle/>
          <a:p>
            <a:endParaRPr lang="en-DE"/>
          </a:p>
        </p:txBody>
      </p:sp>
      <p:sp>
        <p:nvSpPr>
          <p:cNvPr id="5" name="Text 3"/>
          <p:cNvSpPr/>
          <p:nvPr/>
        </p:nvSpPr>
        <p:spPr>
          <a:xfrm>
            <a:off x="914400" y="1737360"/>
            <a:ext cx="2844698" cy="731520"/>
          </a:xfrm>
          <a:prstGeom prst="rect">
            <a:avLst/>
          </a:prstGeom>
          <a:noFill/>
          <a:ln/>
        </p:spPr>
        <p:txBody>
          <a:bodyPr wrap="square" lIns="0" tIns="0" rIns="0" bIns="0" rtlCol="0" anchor="ctr"/>
          <a:lstStyle/>
          <a:p>
            <a:pPr marL="0" indent="0">
              <a:buNone/>
            </a:pPr>
            <a:r>
              <a:rPr lang="en-US" sz="4000" b="1" dirty="0">
                <a:solidFill>
                  <a:srgbClr val="E23E3E"/>
                </a:solidFill>
                <a:latin typeface="Cambria" pitchFamily="34" charset="0"/>
                <a:ea typeface="Cambria" pitchFamily="34" charset="-122"/>
                <a:cs typeface="Cambria" pitchFamily="34" charset="-120"/>
              </a:rPr>
              <a:t>11 / 11</a:t>
            </a:r>
            <a:endParaRPr lang="en-US" sz="4000" dirty="0"/>
          </a:p>
        </p:txBody>
      </p:sp>
      <p:sp>
        <p:nvSpPr>
          <p:cNvPr id="6" name="Text 4"/>
          <p:cNvSpPr/>
          <p:nvPr/>
        </p:nvSpPr>
        <p:spPr>
          <a:xfrm>
            <a:off x="914400" y="2487168"/>
            <a:ext cx="2844698" cy="365760"/>
          </a:xfrm>
          <a:prstGeom prst="rect">
            <a:avLst/>
          </a:prstGeom>
          <a:noFill/>
          <a:ln/>
        </p:spPr>
        <p:txBody>
          <a:bodyPr wrap="square" lIns="0" tIns="0" rIns="0" bIns="0" rtlCol="0" anchor="ctr"/>
          <a:lstStyle/>
          <a:p>
            <a:pPr marL="0" indent="0">
              <a:buNone/>
            </a:pPr>
            <a:r>
              <a:rPr lang="en-US" sz="1300" dirty="0">
                <a:solidFill>
                  <a:srgbClr val="6B7280"/>
                </a:solidFill>
                <a:latin typeface="Calibri" pitchFamily="34" charset="0"/>
                <a:ea typeface="Calibri" pitchFamily="34" charset="-122"/>
                <a:cs typeface="Calibri" pitchFamily="34" charset="-120"/>
              </a:rPr>
              <a:t>Anforderungen erfüllt</a:t>
            </a:r>
            <a:endParaRPr lang="en-US" sz="1300" dirty="0"/>
          </a:p>
        </p:txBody>
      </p:sp>
      <p:sp>
        <p:nvSpPr>
          <p:cNvPr id="7" name="Shape 5"/>
          <p:cNvSpPr/>
          <p:nvPr/>
        </p:nvSpPr>
        <p:spPr>
          <a:xfrm>
            <a:off x="4399178" y="1554480"/>
            <a:ext cx="3393338" cy="1508760"/>
          </a:xfrm>
          <a:prstGeom prst="roundRect">
            <a:avLst>
              <a:gd name="adj" fmla="val 4848"/>
            </a:avLst>
          </a:prstGeom>
          <a:solidFill>
            <a:srgbClr val="F4F5F7"/>
          </a:solidFill>
          <a:ln/>
        </p:spPr>
        <p:txBody>
          <a:bodyPr/>
          <a:lstStyle/>
          <a:p>
            <a:endParaRPr lang="en-DE"/>
          </a:p>
        </p:txBody>
      </p:sp>
      <p:sp>
        <p:nvSpPr>
          <p:cNvPr id="8" name="Text 6"/>
          <p:cNvSpPr/>
          <p:nvPr/>
        </p:nvSpPr>
        <p:spPr>
          <a:xfrm>
            <a:off x="4673498" y="1737360"/>
            <a:ext cx="2844698" cy="731520"/>
          </a:xfrm>
          <a:prstGeom prst="rect">
            <a:avLst/>
          </a:prstGeom>
          <a:noFill/>
          <a:ln/>
        </p:spPr>
        <p:txBody>
          <a:bodyPr wrap="square" lIns="0" tIns="0" rIns="0" bIns="0" rtlCol="0" anchor="ctr"/>
          <a:lstStyle/>
          <a:p>
            <a:pPr marL="0" indent="0">
              <a:buNone/>
            </a:pPr>
            <a:r>
              <a:rPr lang="en-US" sz="4000" b="1" dirty="0">
                <a:solidFill>
                  <a:srgbClr val="111827"/>
                </a:solidFill>
                <a:latin typeface="Cambria" pitchFamily="34" charset="0"/>
                <a:ea typeface="Cambria" pitchFamily="34" charset="-122"/>
                <a:cs typeface="Cambria" pitchFamily="34" charset="-120"/>
              </a:rPr>
              <a:t>5</a:t>
            </a:r>
            <a:endParaRPr lang="en-US" sz="4000" dirty="0"/>
          </a:p>
        </p:txBody>
      </p:sp>
      <p:sp>
        <p:nvSpPr>
          <p:cNvPr id="9" name="Text 7"/>
          <p:cNvSpPr/>
          <p:nvPr/>
        </p:nvSpPr>
        <p:spPr>
          <a:xfrm>
            <a:off x="4673498" y="2487168"/>
            <a:ext cx="2844698" cy="365760"/>
          </a:xfrm>
          <a:prstGeom prst="rect">
            <a:avLst/>
          </a:prstGeom>
          <a:noFill/>
          <a:ln/>
        </p:spPr>
        <p:txBody>
          <a:bodyPr wrap="square" lIns="0" tIns="0" rIns="0" bIns="0" rtlCol="0" anchor="ctr"/>
          <a:lstStyle/>
          <a:p>
            <a:pPr marL="0" indent="0">
              <a:buNone/>
            </a:pPr>
            <a:r>
              <a:rPr lang="en-US" sz="1300" dirty="0">
                <a:solidFill>
                  <a:srgbClr val="6B7280"/>
                </a:solidFill>
                <a:latin typeface="Calibri" pitchFamily="34" charset="0"/>
                <a:ea typeface="Calibri" pitchFamily="34" charset="-122"/>
                <a:cs typeface="Calibri" pitchFamily="34" charset="-120"/>
              </a:rPr>
              <a:t>eingebundene Plugins</a:t>
            </a:r>
            <a:endParaRPr lang="en-US" sz="1300" dirty="0"/>
          </a:p>
        </p:txBody>
      </p:sp>
      <p:sp>
        <p:nvSpPr>
          <p:cNvPr id="10" name="Shape 8"/>
          <p:cNvSpPr/>
          <p:nvPr/>
        </p:nvSpPr>
        <p:spPr>
          <a:xfrm>
            <a:off x="8158277" y="1554480"/>
            <a:ext cx="3393338" cy="1508760"/>
          </a:xfrm>
          <a:prstGeom prst="roundRect">
            <a:avLst>
              <a:gd name="adj" fmla="val 4848"/>
            </a:avLst>
          </a:prstGeom>
          <a:solidFill>
            <a:srgbClr val="F4F5F7"/>
          </a:solidFill>
          <a:ln/>
        </p:spPr>
        <p:txBody>
          <a:bodyPr/>
          <a:lstStyle/>
          <a:p>
            <a:endParaRPr lang="en-DE"/>
          </a:p>
        </p:txBody>
      </p:sp>
      <p:sp>
        <p:nvSpPr>
          <p:cNvPr id="11" name="Text 9"/>
          <p:cNvSpPr/>
          <p:nvPr/>
        </p:nvSpPr>
        <p:spPr>
          <a:xfrm>
            <a:off x="8432597" y="1737360"/>
            <a:ext cx="2844698" cy="731520"/>
          </a:xfrm>
          <a:prstGeom prst="rect">
            <a:avLst/>
          </a:prstGeom>
          <a:noFill/>
          <a:ln/>
        </p:spPr>
        <p:txBody>
          <a:bodyPr wrap="square" lIns="0" tIns="0" rIns="0" bIns="0" rtlCol="0" anchor="ctr"/>
          <a:lstStyle/>
          <a:p>
            <a:pPr marL="0" indent="0">
              <a:buNone/>
            </a:pPr>
            <a:r>
              <a:rPr lang="en-US" sz="4000" b="1" dirty="0">
                <a:solidFill>
                  <a:srgbClr val="111827"/>
                </a:solidFill>
                <a:latin typeface="Cambria" pitchFamily="34" charset="0"/>
                <a:ea typeface="Cambria" pitchFamily="34" charset="-122"/>
                <a:cs typeface="Cambria" pitchFamily="34" charset="-120"/>
              </a:rPr>
              <a:t>1</a:t>
            </a:r>
            <a:endParaRPr lang="en-US" sz="4000" dirty="0"/>
          </a:p>
        </p:txBody>
      </p:sp>
      <p:sp>
        <p:nvSpPr>
          <p:cNvPr id="12" name="Text 10"/>
          <p:cNvSpPr/>
          <p:nvPr/>
        </p:nvSpPr>
        <p:spPr>
          <a:xfrm>
            <a:off x="8432597" y="2487168"/>
            <a:ext cx="2844698" cy="365760"/>
          </a:xfrm>
          <a:prstGeom prst="rect">
            <a:avLst/>
          </a:prstGeom>
          <a:noFill/>
          <a:ln/>
        </p:spPr>
        <p:txBody>
          <a:bodyPr wrap="square" lIns="0" tIns="0" rIns="0" bIns="0" rtlCol="0" anchor="ctr"/>
          <a:lstStyle/>
          <a:p>
            <a:pPr marL="0" indent="0">
              <a:buNone/>
            </a:pPr>
            <a:r>
              <a:rPr lang="en-US" sz="1300" dirty="0">
                <a:solidFill>
                  <a:srgbClr val="6B7280"/>
                </a:solidFill>
                <a:latin typeface="Calibri" pitchFamily="34" charset="0"/>
                <a:ea typeface="Calibri" pitchFamily="34" charset="-122"/>
                <a:cs typeface="Calibri" pitchFamily="34" charset="-120"/>
              </a:rPr>
              <a:t>Datei mit der gesamten Logik</a:t>
            </a:r>
            <a:endParaRPr lang="en-US" sz="1300" dirty="0"/>
          </a:p>
        </p:txBody>
      </p:sp>
      <p:sp>
        <p:nvSpPr>
          <p:cNvPr id="13" name="Text 11"/>
          <p:cNvSpPr/>
          <p:nvPr/>
        </p:nvSpPr>
        <p:spPr>
          <a:xfrm>
            <a:off x="640080" y="3383280"/>
            <a:ext cx="10911535" cy="32004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Was die App kann</a:t>
            </a:r>
            <a:endParaRPr lang="en-US" sz="1600" dirty="0"/>
          </a:p>
        </p:txBody>
      </p:sp>
      <p:sp>
        <p:nvSpPr>
          <p:cNvPr id="14" name="Text 12"/>
          <p:cNvSpPr/>
          <p:nvPr/>
        </p:nvSpPr>
        <p:spPr>
          <a:xfrm>
            <a:off x="640080" y="3840480"/>
            <a:ext cx="10911535" cy="2011680"/>
          </a:xfrm>
          <a:prstGeom prst="rect">
            <a:avLst/>
          </a:prstGeom>
          <a:noFill/>
          <a:ln/>
        </p:spPr>
        <p:txBody>
          <a:bodyPr wrap="square" lIns="0" tIns="0" rIns="0" bIns="0" rtlCol="0" anchor="t"/>
          <a:lstStyle/>
          <a:p>
            <a:pPr marL="342900" indent="-342900">
              <a:spcAft>
                <a:spcPts val="1000"/>
              </a:spcAft>
              <a:buSzPct val="100000"/>
              <a:buChar char="•"/>
            </a:pPr>
            <a:r>
              <a:rPr lang="de-DE" sz="1400" noProof="0" dirty="0">
                <a:solidFill>
                  <a:srgbClr val="374151"/>
                </a:solidFill>
                <a:latin typeface="Calibri" pitchFamily="34" charset="0"/>
                <a:ea typeface="Calibri" pitchFamily="34" charset="-122"/>
                <a:cs typeface="Calibri" pitchFamily="34" charset="-120"/>
              </a:rPr>
              <a:t>Sprachnotizen aufnehmen: mit </a:t>
            </a:r>
            <a:r>
              <a:rPr lang="en-US" sz="1400" dirty="0">
                <a:solidFill>
                  <a:srgbClr val="374151"/>
                </a:solidFill>
                <a:latin typeface="Calibri" pitchFamily="34" charset="0"/>
                <a:ea typeface="Calibri" pitchFamily="34" charset="-122"/>
                <a:cs typeface="Calibri" pitchFamily="34" charset="-120"/>
              </a:rPr>
              <a:t>Pause und Fortsetzen, samt laufender Zeitanzeige</a:t>
            </a:r>
            <a:endParaRPr lang="en-US" sz="1400" dirty="0"/>
          </a:p>
          <a:p>
            <a:pPr marL="342900" indent="-342900">
              <a:spcAft>
                <a:spcPts val="1000"/>
              </a:spcAft>
              <a:buSzPct val="100000"/>
              <a:buChar char="•"/>
            </a:pPr>
            <a:r>
              <a:rPr lang="en-US" sz="1400" dirty="0">
                <a:solidFill>
                  <a:srgbClr val="374151"/>
                </a:solidFill>
                <a:latin typeface="Calibri" pitchFamily="34" charset="0"/>
                <a:ea typeface="Calibri" pitchFamily="34" charset="-122"/>
                <a:cs typeface="Calibri" pitchFamily="34" charset="-120"/>
              </a:rPr>
              <a:t>Alle Aufnahmen in einer Liste, sortiert nach Datum, mit Zeitstempel im Dateinamen</a:t>
            </a:r>
            <a:endParaRPr lang="en-US" sz="1400" dirty="0"/>
          </a:p>
          <a:p>
            <a:pPr marL="342900" indent="-342900">
              <a:spcAft>
                <a:spcPts val="1000"/>
              </a:spcAft>
              <a:buSzPct val="100000"/>
              <a:buChar char="•"/>
            </a:pPr>
            <a:r>
              <a:rPr lang="en-US" sz="1400" dirty="0">
                <a:solidFill>
                  <a:srgbClr val="374151"/>
                </a:solidFill>
                <a:latin typeface="Calibri" pitchFamily="34" charset="0"/>
                <a:ea typeface="Calibri" pitchFamily="34" charset="-122"/>
                <a:cs typeface="Calibri" pitchFamily="34" charset="-120"/>
              </a:rPr>
              <a:t>Abspielen mit Fortschrittsbalken, jederzeit stoppbar</a:t>
            </a:r>
            <a:endParaRPr lang="en-US" sz="1400" dirty="0"/>
          </a:p>
          <a:p>
            <a:pPr marL="342900" indent="-342900">
              <a:spcAft>
                <a:spcPts val="1000"/>
              </a:spcAft>
              <a:buSzPct val="100000"/>
              <a:buChar char="•"/>
            </a:pPr>
            <a:r>
              <a:rPr lang="en-US" sz="1400" dirty="0">
                <a:solidFill>
                  <a:srgbClr val="374151"/>
                </a:solidFill>
                <a:latin typeface="Calibri" pitchFamily="34" charset="0"/>
                <a:ea typeface="Calibri" pitchFamily="34" charset="-122"/>
                <a:cs typeface="Calibri" pitchFamily="34" charset="-120"/>
              </a:rPr>
              <a:t>Teilen an jede andere App und Löschen direkt aus der Liste</a:t>
            </a:r>
            <a:endParaRPr lang="en-US" sz="1400" dirty="0"/>
          </a:p>
          <a:p>
            <a:pPr marL="342900" indent="-342900">
              <a:spcAft>
                <a:spcPts val="1000"/>
              </a:spcAft>
              <a:buSzPct val="100000"/>
              <a:buChar char="•"/>
            </a:pPr>
            <a:r>
              <a:rPr lang="en-US" sz="1400" dirty="0">
                <a:solidFill>
                  <a:srgbClr val="374151"/>
                </a:solidFill>
                <a:latin typeface="Calibri" pitchFamily="34" charset="0"/>
                <a:ea typeface="Calibri" pitchFamily="34" charset="-122"/>
                <a:cs typeface="Calibri" pitchFamily="34" charset="-120"/>
              </a:rPr>
              <a:t>Aufnahmen bleiben erhalten, bis der Nutzer sie löscht oder die App deinstalliert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419"/>
        </a:solidFill>
        <a:effectLst/>
      </p:bgPr>
    </p:bg>
    <p:spTree>
      <p:nvGrpSpPr>
        <p:cNvPr id="1" name=""/>
        <p:cNvGrpSpPr/>
        <p:nvPr/>
      </p:nvGrpSpPr>
      <p:grpSpPr>
        <a:xfrm>
          <a:off x="0" y="0"/>
          <a:ext cx="0" cy="0"/>
          <a:chOff x="0" y="0"/>
          <a:chExt cx="0" cy="0"/>
        </a:xfrm>
      </p:grpSpPr>
      <p:sp>
        <p:nvSpPr>
          <p:cNvPr id="2" name="Shape 0"/>
          <p:cNvSpPr/>
          <p:nvPr/>
        </p:nvSpPr>
        <p:spPr>
          <a:xfrm>
            <a:off x="640080" y="1417320"/>
            <a:ext cx="365760" cy="365760"/>
          </a:xfrm>
          <a:prstGeom prst="ellipse">
            <a:avLst/>
          </a:prstGeom>
          <a:solidFill>
            <a:srgbClr val="E23E3E"/>
          </a:solidFill>
          <a:ln/>
        </p:spPr>
        <p:txBody>
          <a:bodyPr/>
          <a:lstStyle/>
          <a:p>
            <a:endParaRPr lang="en-DE"/>
          </a:p>
        </p:txBody>
      </p:sp>
      <p:sp>
        <p:nvSpPr>
          <p:cNvPr id="3" name="Text 1"/>
          <p:cNvSpPr/>
          <p:nvPr/>
        </p:nvSpPr>
        <p:spPr>
          <a:xfrm>
            <a:off x="640080" y="1920240"/>
            <a:ext cx="10911535" cy="82296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Live-Demo</a:t>
            </a:r>
            <a:endParaRPr lang="en-US" sz="4400" dirty="0"/>
          </a:p>
        </p:txBody>
      </p:sp>
      <p:sp>
        <p:nvSpPr>
          <p:cNvPr id="4" name="Text 2"/>
          <p:cNvSpPr/>
          <p:nvPr/>
        </p:nvSpPr>
        <p:spPr>
          <a:xfrm>
            <a:off x="640080" y="2743200"/>
            <a:ext cx="10911535" cy="411480"/>
          </a:xfrm>
          <a:prstGeom prst="rect">
            <a:avLst/>
          </a:prstGeom>
          <a:noFill/>
          <a:ln/>
        </p:spPr>
        <p:txBody>
          <a:bodyPr wrap="square" lIns="0" tIns="0" rIns="0" bIns="0" rtlCol="0" anchor="ctr"/>
          <a:lstStyle/>
          <a:p>
            <a:pPr marL="0" indent="0">
              <a:buNone/>
            </a:pPr>
            <a:r>
              <a:rPr lang="en-US" sz="1700" dirty="0">
                <a:solidFill>
                  <a:srgbClr val="9AA4B2"/>
                </a:solidFill>
                <a:latin typeface="Calibri" pitchFamily="34" charset="0"/>
                <a:ea typeface="Calibri" pitchFamily="34" charset="-122"/>
                <a:cs typeface="Calibri" pitchFamily="34" charset="-120"/>
              </a:rPr>
              <a:t>am Gerät, nicht im Emulator</a:t>
            </a:r>
            <a:endParaRPr lang="en-US" sz="1700" dirty="0"/>
          </a:p>
        </p:txBody>
      </p:sp>
      <p:sp>
        <p:nvSpPr>
          <p:cNvPr id="5" name="Shape 3"/>
          <p:cNvSpPr/>
          <p:nvPr/>
        </p:nvSpPr>
        <p:spPr>
          <a:xfrm>
            <a:off x="640080" y="3566160"/>
            <a:ext cx="384048" cy="384048"/>
          </a:xfrm>
          <a:prstGeom prst="ellipse">
            <a:avLst/>
          </a:prstGeom>
          <a:solidFill>
            <a:srgbClr val="E23E3E"/>
          </a:solidFill>
          <a:ln/>
        </p:spPr>
        <p:txBody>
          <a:bodyPr/>
          <a:lstStyle/>
          <a:p>
            <a:endParaRPr lang="en-DE"/>
          </a:p>
        </p:txBody>
      </p:sp>
      <p:sp>
        <p:nvSpPr>
          <p:cNvPr id="6" name="Text 4"/>
          <p:cNvSpPr/>
          <p:nvPr/>
        </p:nvSpPr>
        <p:spPr>
          <a:xfrm>
            <a:off x="640080" y="35661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188720" y="3566160"/>
            <a:ext cx="4678528" cy="457200"/>
          </a:xfrm>
          <a:prstGeom prst="rect">
            <a:avLst/>
          </a:prstGeom>
          <a:noFill/>
          <a:ln/>
        </p:spPr>
        <p:txBody>
          <a:bodyPr wrap="square" lIns="0" tIns="0" rIns="0" bIns="0" rtlCol="0" anchor="ctr"/>
          <a:lstStyle/>
          <a:p>
            <a:pPr marL="0" indent="0">
              <a:buNone/>
            </a:pPr>
            <a:r>
              <a:rPr lang="en-US" sz="1400" dirty="0">
                <a:solidFill>
                  <a:srgbClr val="E5E7EB"/>
                </a:solidFill>
                <a:latin typeface="Calibri" pitchFamily="34" charset="0"/>
                <a:ea typeface="Calibri" pitchFamily="34" charset="-122"/>
                <a:cs typeface="Calibri" pitchFamily="34" charset="-120"/>
              </a:rPr>
              <a:t>Aufnehmen, pausieren, fortsetzen, stoppen</a:t>
            </a:r>
            <a:endParaRPr lang="en-US" sz="1400" dirty="0"/>
          </a:p>
        </p:txBody>
      </p:sp>
      <p:sp>
        <p:nvSpPr>
          <p:cNvPr id="8" name="Shape 6"/>
          <p:cNvSpPr/>
          <p:nvPr/>
        </p:nvSpPr>
        <p:spPr>
          <a:xfrm>
            <a:off x="6324448" y="3566160"/>
            <a:ext cx="384048" cy="384048"/>
          </a:xfrm>
          <a:prstGeom prst="ellipse">
            <a:avLst/>
          </a:prstGeom>
          <a:solidFill>
            <a:srgbClr val="2F6FED"/>
          </a:solidFill>
          <a:ln/>
        </p:spPr>
        <p:txBody>
          <a:bodyPr/>
          <a:lstStyle/>
          <a:p>
            <a:endParaRPr lang="en-DE"/>
          </a:p>
        </p:txBody>
      </p:sp>
      <p:sp>
        <p:nvSpPr>
          <p:cNvPr id="9" name="Text 7"/>
          <p:cNvSpPr/>
          <p:nvPr/>
        </p:nvSpPr>
        <p:spPr>
          <a:xfrm>
            <a:off x="6324448" y="35661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6873088" y="3566160"/>
            <a:ext cx="4678528" cy="457200"/>
          </a:xfrm>
          <a:prstGeom prst="rect">
            <a:avLst/>
          </a:prstGeom>
          <a:noFill/>
          <a:ln/>
        </p:spPr>
        <p:txBody>
          <a:bodyPr wrap="square" lIns="0" tIns="0" rIns="0" bIns="0" rtlCol="0" anchor="ctr"/>
          <a:lstStyle/>
          <a:p>
            <a:pPr marL="0" indent="0">
              <a:buNone/>
            </a:pPr>
            <a:r>
              <a:rPr lang="en-US" sz="1400" dirty="0">
                <a:solidFill>
                  <a:srgbClr val="E5E7EB"/>
                </a:solidFill>
                <a:latin typeface="Calibri" pitchFamily="34" charset="0"/>
                <a:ea typeface="Calibri" pitchFamily="34" charset="-122"/>
                <a:cs typeface="Calibri" pitchFamily="34" charset="-120"/>
              </a:rPr>
              <a:t>Aufnahme erscheint sofort in der Liste</a:t>
            </a:r>
            <a:endParaRPr lang="en-US" sz="1400" dirty="0"/>
          </a:p>
        </p:txBody>
      </p:sp>
      <p:sp>
        <p:nvSpPr>
          <p:cNvPr id="11" name="Shape 9"/>
          <p:cNvSpPr/>
          <p:nvPr/>
        </p:nvSpPr>
        <p:spPr>
          <a:xfrm>
            <a:off x="640080" y="4343400"/>
            <a:ext cx="384048" cy="384048"/>
          </a:xfrm>
          <a:prstGeom prst="ellipse">
            <a:avLst/>
          </a:prstGeom>
          <a:solidFill>
            <a:srgbClr val="E23E3E"/>
          </a:solidFill>
          <a:ln/>
        </p:spPr>
        <p:txBody>
          <a:bodyPr/>
          <a:lstStyle/>
          <a:p>
            <a:endParaRPr lang="en-DE"/>
          </a:p>
        </p:txBody>
      </p:sp>
      <p:sp>
        <p:nvSpPr>
          <p:cNvPr id="12" name="Text 10"/>
          <p:cNvSpPr/>
          <p:nvPr/>
        </p:nvSpPr>
        <p:spPr>
          <a:xfrm>
            <a:off x="640080" y="43434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3" name="Text 11"/>
          <p:cNvSpPr/>
          <p:nvPr/>
        </p:nvSpPr>
        <p:spPr>
          <a:xfrm>
            <a:off x="1188720" y="4343400"/>
            <a:ext cx="4678528" cy="457200"/>
          </a:xfrm>
          <a:prstGeom prst="rect">
            <a:avLst/>
          </a:prstGeom>
          <a:noFill/>
          <a:ln/>
        </p:spPr>
        <p:txBody>
          <a:bodyPr wrap="square" lIns="0" tIns="0" rIns="0" bIns="0" rtlCol="0" anchor="ctr"/>
          <a:lstStyle/>
          <a:p>
            <a:pPr marL="0" indent="0">
              <a:buNone/>
            </a:pPr>
            <a:r>
              <a:rPr lang="en-US" sz="1400" dirty="0">
                <a:solidFill>
                  <a:srgbClr val="E5E7EB"/>
                </a:solidFill>
                <a:latin typeface="Calibri" pitchFamily="34" charset="0"/>
                <a:ea typeface="Calibri" pitchFamily="34" charset="-122"/>
                <a:cs typeface="Calibri" pitchFamily="34" charset="-120"/>
              </a:rPr>
              <a:t>Abspielen mit Fortschritt, Wiedergabe stoppen</a:t>
            </a:r>
            <a:endParaRPr lang="en-US" sz="1400" dirty="0"/>
          </a:p>
        </p:txBody>
      </p:sp>
      <p:sp>
        <p:nvSpPr>
          <p:cNvPr id="14" name="Shape 12"/>
          <p:cNvSpPr/>
          <p:nvPr/>
        </p:nvSpPr>
        <p:spPr>
          <a:xfrm>
            <a:off x="6324448" y="4343400"/>
            <a:ext cx="384048" cy="384048"/>
          </a:xfrm>
          <a:prstGeom prst="ellipse">
            <a:avLst/>
          </a:prstGeom>
          <a:solidFill>
            <a:srgbClr val="2F6FED"/>
          </a:solidFill>
          <a:ln/>
        </p:spPr>
        <p:txBody>
          <a:bodyPr/>
          <a:lstStyle/>
          <a:p>
            <a:endParaRPr lang="en-DE"/>
          </a:p>
        </p:txBody>
      </p:sp>
      <p:sp>
        <p:nvSpPr>
          <p:cNvPr id="15" name="Text 13"/>
          <p:cNvSpPr/>
          <p:nvPr/>
        </p:nvSpPr>
        <p:spPr>
          <a:xfrm>
            <a:off x="6324448" y="43434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6" name="Text 14"/>
          <p:cNvSpPr/>
          <p:nvPr/>
        </p:nvSpPr>
        <p:spPr>
          <a:xfrm>
            <a:off x="6873088" y="4343400"/>
            <a:ext cx="4678528" cy="457200"/>
          </a:xfrm>
          <a:prstGeom prst="rect">
            <a:avLst/>
          </a:prstGeom>
          <a:noFill/>
          <a:ln/>
        </p:spPr>
        <p:txBody>
          <a:bodyPr wrap="square" lIns="0" tIns="0" rIns="0" bIns="0" rtlCol="0" anchor="ctr"/>
          <a:lstStyle/>
          <a:p>
            <a:pPr marL="0" indent="0">
              <a:buNone/>
            </a:pPr>
            <a:r>
              <a:rPr lang="en-US" sz="1400" dirty="0">
                <a:solidFill>
                  <a:srgbClr val="E5E7EB"/>
                </a:solidFill>
                <a:latin typeface="Calibri" pitchFamily="34" charset="0"/>
                <a:ea typeface="Calibri" pitchFamily="34" charset="-122"/>
                <a:cs typeface="Calibri" pitchFamily="34" charset="-120"/>
              </a:rPr>
              <a:t>Teilen an eine andere App</a:t>
            </a:r>
            <a:endParaRPr lang="en-US" sz="1400" dirty="0"/>
          </a:p>
        </p:txBody>
      </p:sp>
      <p:sp>
        <p:nvSpPr>
          <p:cNvPr id="17" name="Shape 15"/>
          <p:cNvSpPr/>
          <p:nvPr/>
        </p:nvSpPr>
        <p:spPr>
          <a:xfrm>
            <a:off x="640080" y="5120640"/>
            <a:ext cx="384048" cy="384048"/>
          </a:xfrm>
          <a:prstGeom prst="ellipse">
            <a:avLst/>
          </a:prstGeom>
          <a:solidFill>
            <a:srgbClr val="E23E3E"/>
          </a:solidFill>
          <a:ln/>
        </p:spPr>
        <p:txBody>
          <a:bodyPr/>
          <a:lstStyle/>
          <a:p>
            <a:endParaRPr lang="en-DE"/>
          </a:p>
        </p:txBody>
      </p:sp>
      <p:sp>
        <p:nvSpPr>
          <p:cNvPr id="18" name="Text 16"/>
          <p:cNvSpPr/>
          <p:nvPr/>
        </p:nvSpPr>
        <p:spPr>
          <a:xfrm>
            <a:off x="640080" y="51206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9" name="Text 17"/>
          <p:cNvSpPr/>
          <p:nvPr/>
        </p:nvSpPr>
        <p:spPr>
          <a:xfrm>
            <a:off x="1188720" y="5120640"/>
            <a:ext cx="4678528" cy="457200"/>
          </a:xfrm>
          <a:prstGeom prst="rect">
            <a:avLst/>
          </a:prstGeom>
          <a:noFill/>
          <a:ln/>
        </p:spPr>
        <p:txBody>
          <a:bodyPr wrap="square" lIns="0" tIns="0" rIns="0" bIns="0" rtlCol="0" anchor="ctr"/>
          <a:lstStyle/>
          <a:p>
            <a:pPr marL="0" indent="0">
              <a:buNone/>
            </a:pPr>
            <a:r>
              <a:rPr lang="de-DE" sz="1400" noProof="0" dirty="0">
                <a:solidFill>
                  <a:srgbClr val="E5E7EB"/>
                </a:solidFill>
                <a:latin typeface="Calibri" pitchFamily="34" charset="0"/>
                <a:ea typeface="Calibri" pitchFamily="34" charset="-122"/>
                <a:cs typeface="Calibri" pitchFamily="34" charset="-120"/>
              </a:rPr>
              <a:t>App schließen und neu öffnen (Aufnahme ist noch da)</a:t>
            </a:r>
            <a:endParaRPr lang="de-DE" sz="1400" noProof="0" dirty="0"/>
          </a:p>
        </p:txBody>
      </p:sp>
      <p:sp>
        <p:nvSpPr>
          <p:cNvPr id="20" name="Shape 18"/>
          <p:cNvSpPr/>
          <p:nvPr/>
        </p:nvSpPr>
        <p:spPr>
          <a:xfrm>
            <a:off x="6324448" y="5120640"/>
            <a:ext cx="384048" cy="384048"/>
          </a:xfrm>
          <a:prstGeom prst="ellipse">
            <a:avLst/>
          </a:prstGeom>
          <a:solidFill>
            <a:srgbClr val="2F6FED"/>
          </a:solidFill>
          <a:ln/>
        </p:spPr>
        <p:txBody>
          <a:bodyPr/>
          <a:lstStyle/>
          <a:p>
            <a:endParaRPr lang="en-DE"/>
          </a:p>
        </p:txBody>
      </p:sp>
      <p:sp>
        <p:nvSpPr>
          <p:cNvPr id="21" name="Text 19"/>
          <p:cNvSpPr/>
          <p:nvPr/>
        </p:nvSpPr>
        <p:spPr>
          <a:xfrm>
            <a:off x="6324448" y="51206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2" name="Text 20"/>
          <p:cNvSpPr/>
          <p:nvPr/>
        </p:nvSpPr>
        <p:spPr>
          <a:xfrm>
            <a:off x="6873088" y="5120640"/>
            <a:ext cx="4678528" cy="457200"/>
          </a:xfrm>
          <a:prstGeom prst="rect">
            <a:avLst/>
          </a:prstGeom>
          <a:noFill/>
          <a:ln/>
        </p:spPr>
        <p:txBody>
          <a:bodyPr wrap="square" lIns="0" tIns="0" rIns="0" bIns="0" rtlCol="0" anchor="ctr"/>
          <a:lstStyle/>
          <a:p>
            <a:pPr marL="0" indent="0">
              <a:buNone/>
            </a:pPr>
            <a:r>
              <a:rPr lang="en-US" sz="1400" dirty="0">
                <a:solidFill>
                  <a:srgbClr val="E5E7EB"/>
                </a:solidFill>
                <a:latin typeface="Calibri" pitchFamily="34" charset="0"/>
                <a:ea typeface="Calibri" pitchFamily="34" charset="-122"/>
                <a:cs typeface="Calibri" pitchFamily="34" charset="-120"/>
              </a:rPr>
              <a:t>Löschen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Nativ, hybrid oder cross-platform?</a:t>
            </a:r>
            <a:endParaRPr lang="en-US" sz="3200" dirty="0"/>
          </a:p>
        </p:txBody>
      </p:sp>
      <p:sp>
        <p:nvSpPr>
          <p:cNvPr id="4" name="Text 2"/>
          <p:cNvSpPr/>
          <p:nvPr/>
        </p:nvSpPr>
        <p:spPr>
          <a:xfrm>
            <a:off x="932688" y="932688"/>
            <a:ext cx="10618927" cy="320040"/>
          </a:xfrm>
          <a:prstGeom prst="rect">
            <a:avLst/>
          </a:prstGeom>
          <a:noFill/>
          <a:ln/>
        </p:spPr>
        <p:txBody>
          <a:bodyPr wrap="square" lIns="0" tIns="0" rIns="0" bIns="0" rtlCol="0" anchor="ctr"/>
          <a:lstStyle/>
          <a:p>
            <a:pPr marL="0" indent="0">
              <a:buNone/>
            </a:pPr>
            <a:r>
              <a:rPr lang="en-US" sz="1400" dirty="0">
                <a:solidFill>
                  <a:srgbClr val="6B7280"/>
                </a:solidFill>
                <a:latin typeface="Calibri" pitchFamily="34" charset="0"/>
                <a:ea typeface="Calibri" pitchFamily="34" charset="-122"/>
                <a:cs typeface="Calibri" pitchFamily="34" charset="-120"/>
              </a:rPr>
              <a:t>Die Vorgabe der Plugins hat die Entscheidung faktisch vorweggenommen</a:t>
            </a:r>
            <a:endParaRPr lang="en-US" sz="1400" dirty="0"/>
          </a:p>
        </p:txBody>
      </p:sp>
      <p:sp>
        <p:nvSpPr>
          <p:cNvPr id="5" name="Shape 3"/>
          <p:cNvSpPr/>
          <p:nvPr/>
        </p:nvSpPr>
        <p:spPr>
          <a:xfrm>
            <a:off x="640080" y="1691640"/>
            <a:ext cx="3393338" cy="3931920"/>
          </a:xfrm>
          <a:prstGeom prst="roundRect">
            <a:avLst>
              <a:gd name="adj" fmla="val 2156"/>
            </a:avLst>
          </a:prstGeom>
          <a:solidFill>
            <a:srgbClr val="F4F5F7"/>
          </a:solidFill>
          <a:ln/>
        </p:spPr>
        <p:txBody>
          <a:bodyPr/>
          <a:lstStyle/>
          <a:p>
            <a:endParaRPr lang="en-DE"/>
          </a:p>
        </p:txBody>
      </p:sp>
      <p:sp>
        <p:nvSpPr>
          <p:cNvPr id="6" name="Text 4"/>
          <p:cNvSpPr/>
          <p:nvPr/>
        </p:nvSpPr>
        <p:spPr>
          <a:xfrm>
            <a:off x="914400" y="1920240"/>
            <a:ext cx="2844698" cy="411480"/>
          </a:xfrm>
          <a:prstGeom prst="rect">
            <a:avLst/>
          </a:prstGeom>
          <a:noFill/>
          <a:ln/>
        </p:spPr>
        <p:txBody>
          <a:bodyPr wrap="square" lIns="0" tIns="0" rIns="0" bIns="0" rtlCol="0" anchor="ctr"/>
          <a:lstStyle/>
          <a:p>
            <a:pPr marL="0" indent="0">
              <a:buNone/>
            </a:pPr>
            <a:r>
              <a:rPr lang="en-US" sz="2200" b="1" dirty="0">
                <a:solidFill>
                  <a:srgbClr val="111827"/>
                </a:solidFill>
                <a:latin typeface="Cambria" pitchFamily="34" charset="0"/>
                <a:ea typeface="Cambria" pitchFamily="34" charset="-122"/>
                <a:cs typeface="Cambria" pitchFamily="34" charset="-120"/>
              </a:rPr>
              <a:t>Nativ</a:t>
            </a:r>
            <a:endParaRPr lang="en-US" sz="2200" dirty="0"/>
          </a:p>
        </p:txBody>
      </p:sp>
      <p:sp>
        <p:nvSpPr>
          <p:cNvPr id="7" name="Text 5"/>
          <p:cNvSpPr/>
          <p:nvPr/>
        </p:nvSpPr>
        <p:spPr>
          <a:xfrm>
            <a:off x="914400" y="2359152"/>
            <a:ext cx="2844698" cy="54864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Kotlin oder Java, direkt gegen Android</a:t>
            </a:r>
            <a:endParaRPr lang="en-US" sz="1200" dirty="0"/>
          </a:p>
        </p:txBody>
      </p:sp>
      <p:sp>
        <p:nvSpPr>
          <p:cNvPr id="8" name="Text 6"/>
          <p:cNvSpPr/>
          <p:nvPr/>
        </p:nvSpPr>
        <p:spPr>
          <a:xfrm>
            <a:off x="914400" y="2971800"/>
            <a:ext cx="2844698" cy="20116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Volle Kontrolle</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Beste Performance</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Pro Plattform komplett neu</a:t>
            </a:r>
            <a:endParaRPr lang="en-US" sz="1300" dirty="0"/>
          </a:p>
        </p:txBody>
      </p:sp>
      <p:sp>
        <p:nvSpPr>
          <p:cNvPr id="9" name="Shape 7"/>
          <p:cNvSpPr/>
          <p:nvPr/>
        </p:nvSpPr>
        <p:spPr>
          <a:xfrm>
            <a:off x="4399178" y="1691640"/>
            <a:ext cx="3393338" cy="3931920"/>
          </a:xfrm>
          <a:prstGeom prst="roundRect">
            <a:avLst>
              <a:gd name="adj" fmla="val 2156"/>
            </a:avLst>
          </a:prstGeom>
          <a:solidFill>
            <a:srgbClr val="0F1419"/>
          </a:solidFill>
          <a:ln/>
        </p:spPr>
        <p:txBody>
          <a:bodyPr/>
          <a:lstStyle/>
          <a:p>
            <a:endParaRPr lang="en-DE"/>
          </a:p>
        </p:txBody>
      </p:sp>
      <p:sp>
        <p:nvSpPr>
          <p:cNvPr id="10" name="Text 8"/>
          <p:cNvSpPr/>
          <p:nvPr/>
        </p:nvSpPr>
        <p:spPr>
          <a:xfrm>
            <a:off x="4673498" y="1920240"/>
            <a:ext cx="2844698" cy="41148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Hybrid</a:t>
            </a:r>
            <a:endParaRPr lang="en-US" sz="2200" dirty="0"/>
          </a:p>
        </p:txBody>
      </p:sp>
      <p:sp>
        <p:nvSpPr>
          <p:cNvPr id="11" name="Text 9"/>
          <p:cNvSpPr/>
          <p:nvPr/>
        </p:nvSpPr>
        <p:spPr>
          <a:xfrm>
            <a:off x="4673498" y="2359152"/>
            <a:ext cx="2844698" cy="548640"/>
          </a:xfrm>
          <a:prstGeom prst="rect">
            <a:avLst/>
          </a:prstGeom>
          <a:noFill/>
          <a:ln/>
        </p:spPr>
        <p:txBody>
          <a:bodyPr wrap="square" lIns="0" tIns="0" rIns="0" bIns="0" rtlCol="0" anchor="ctr"/>
          <a:lstStyle/>
          <a:p>
            <a:pPr marL="0" indent="0">
              <a:buNone/>
            </a:pPr>
            <a:r>
              <a:rPr lang="en-US" sz="1200" dirty="0">
                <a:solidFill>
                  <a:srgbClr val="9AA4B2"/>
                </a:solidFill>
                <a:latin typeface="Calibri" pitchFamily="34" charset="0"/>
                <a:ea typeface="Calibri" pitchFamily="34" charset="-122"/>
                <a:cs typeface="Calibri" pitchFamily="34" charset="-120"/>
              </a:rPr>
              <a:t>Webseite in einer App-Hülle</a:t>
            </a:r>
            <a:endParaRPr lang="en-US" sz="1200" dirty="0"/>
          </a:p>
        </p:txBody>
      </p:sp>
      <p:sp>
        <p:nvSpPr>
          <p:cNvPr id="12" name="Text 10"/>
          <p:cNvSpPr/>
          <p:nvPr/>
        </p:nvSpPr>
        <p:spPr>
          <a:xfrm>
            <a:off x="4673498" y="2971800"/>
            <a:ext cx="2844698" cy="20116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E5E7EB"/>
                </a:solidFill>
                <a:latin typeface="Calibri" pitchFamily="34" charset="0"/>
                <a:ea typeface="Calibri" pitchFamily="34" charset="-122"/>
                <a:cs typeface="Calibri" pitchFamily="34" charset="-120"/>
              </a:rPr>
              <a:t>Eine Codebasis für Android und iOS</a:t>
            </a:r>
            <a:endParaRPr lang="en-US" sz="1300" dirty="0"/>
          </a:p>
          <a:p>
            <a:pPr marL="342900" indent="-342900">
              <a:spcAft>
                <a:spcPts val="1000"/>
              </a:spcAft>
              <a:buSzPct val="100000"/>
              <a:buChar char="•"/>
            </a:pPr>
            <a:r>
              <a:rPr lang="en-US" sz="1300" dirty="0">
                <a:solidFill>
                  <a:srgbClr val="E5E7EB"/>
                </a:solidFill>
                <a:latin typeface="Calibri" pitchFamily="34" charset="0"/>
                <a:ea typeface="Calibri" pitchFamily="34" charset="-122"/>
                <a:cs typeface="Calibri" pitchFamily="34" charset="-120"/>
              </a:rPr>
              <a:t>Web-Kenntnisse genügen</a:t>
            </a:r>
            <a:endParaRPr lang="en-US" sz="1300" dirty="0"/>
          </a:p>
          <a:p>
            <a:pPr marL="342900" indent="-342900">
              <a:spcAft>
                <a:spcPts val="1000"/>
              </a:spcAft>
              <a:buSzPct val="100000"/>
              <a:buChar char="•"/>
            </a:pPr>
            <a:r>
              <a:rPr lang="en-US" sz="1300" dirty="0">
                <a:solidFill>
                  <a:srgbClr val="E5E7EB"/>
                </a:solidFill>
                <a:latin typeface="Calibri" pitchFamily="34" charset="0"/>
                <a:ea typeface="Calibri" pitchFamily="34" charset="-122"/>
                <a:cs typeface="Calibri" pitchFamily="34" charset="-120"/>
              </a:rPr>
              <a:t>Gerätezugriff nur über Plugins</a:t>
            </a:r>
            <a:endParaRPr lang="en-US" sz="1300" dirty="0"/>
          </a:p>
        </p:txBody>
      </p:sp>
      <p:sp>
        <p:nvSpPr>
          <p:cNvPr id="13" name="Text 11"/>
          <p:cNvSpPr/>
          <p:nvPr/>
        </p:nvSpPr>
        <p:spPr>
          <a:xfrm>
            <a:off x="4673498" y="5074920"/>
            <a:ext cx="2844698" cy="320040"/>
          </a:xfrm>
          <a:prstGeom prst="rect">
            <a:avLst/>
          </a:prstGeom>
          <a:noFill/>
          <a:ln/>
        </p:spPr>
        <p:txBody>
          <a:bodyPr wrap="square" lIns="0" tIns="0" rIns="0" bIns="0" rtlCol="0" anchor="ctr"/>
          <a:lstStyle/>
          <a:p>
            <a:pPr marL="0" indent="0">
              <a:buNone/>
            </a:pPr>
            <a:r>
              <a:rPr lang="en-US" sz="1200" b="1" dirty="0">
                <a:solidFill>
                  <a:srgbClr val="E23E3E"/>
                </a:solidFill>
                <a:latin typeface="Calibri" pitchFamily="34" charset="0"/>
                <a:ea typeface="Calibri" pitchFamily="34" charset="-122"/>
                <a:cs typeface="Calibri" pitchFamily="34" charset="-120"/>
              </a:rPr>
              <a:t>unsere Wahl</a:t>
            </a:r>
            <a:endParaRPr lang="en-US" sz="1200" dirty="0"/>
          </a:p>
        </p:txBody>
      </p:sp>
      <p:sp>
        <p:nvSpPr>
          <p:cNvPr id="14" name="Shape 12"/>
          <p:cNvSpPr/>
          <p:nvPr/>
        </p:nvSpPr>
        <p:spPr>
          <a:xfrm>
            <a:off x="8158277" y="1691640"/>
            <a:ext cx="3393338" cy="3931920"/>
          </a:xfrm>
          <a:prstGeom prst="roundRect">
            <a:avLst>
              <a:gd name="adj" fmla="val 2156"/>
            </a:avLst>
          </a:prstGeom>
          <a:solidFill>
            <a:srgbClr val="F4F5F7"/>
          </a:solidFill>
          <a:ln/>
        </p:spPr>
        <p:txBody>
          <a:bodyPr/>
          <a:lstStyle/>
          <a:p>
            <a:endParaRPr lang="en-DE"/>
          </a:p>
        </p:txBody>
      </p:sp>
      <p:sp>
        <p:nvSpPr>
          <p:cNvPr id="15" name="Text 13"/>
          <p:cNvSpPr/>
          <p:nvPr/>
        </p:nvSpPr>
        <p:spPr>
          <a:xfrm>
            <a:off x="8432597" y="1920240"/>
            <a:ext cx="2844698" cy="411480"/>
          </a:xfrm>
          <a:prstGeom prst="rect">
            <a:avLst/>
          </a:prstGeom>
          <a:noFill/>
          <a:ln/>
        </p:spPr>
        <p:txBody>
          <a:bodyPr wrap="square" lIns="0" tIns="0" rIns="0" bIns="0" rtlCol="0" anchor="ctr"/>
          <a:lstStyle/>
          <a:p>
            <a:pPr marL="0" indent="0">
              <a:buNone/>
            </a:pPr>
            <a:r>
              <a:rPr lang="en-US" sz="2200" b="1" dirty="0">
                <a:solidFill>
                  <a:srgbClr val="111827"/>
                </a:solidFill>
                <a:latin typeface="Cambria" pitchFamily="34" charset="0"/>
                <a:ea typeface="Cambria" pitchFamily="34" charset="-122"/>
                <a:cs typeface="Cambria" pitchFamily="34" charset="-120"/>
              </a:rPr>
              <a:t>Cross-Platform</a:t>
            </a:r>
            <a:endParaRPr lang="en-US" sz="2200" dirty="0"/>
          </a:p>
        </p:txBody>
      </p:sp>
      <p:sp>
        <p:nvSpPr>
          <p:cNvPr id="16" name="Text 14"/>
          <p:cNvSpPr/>
          <p:nvPr/>
        </p:nvSpPr>
        <p:spPr>
          <a:xfrm>
            <a:off x="8432597" y="2359152"/>
            <a:ext cx="2844698" cy="54864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Flutter, React Native</a:t>
            </a:r>
            <a:endParaRPr lang="en-US" sz="1200" dirty="0"/>
          </a:p>
        </p:txBody>
      </p:sp>
      <p:sp>
        <p:nvSpPr>
          <p:cNvPr id="17" name="Text 15"/>
          <p:cNvSpPr/>
          <p:nvPr/>
        </p:nvSpPr>
        <p:spPr>
          <a:xfrm>
            <a:off x="8432597" y="2971800"/>
            <a:ext cx="2844698" cy="20116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Eine Codebasis, native Oberfläche</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Eigenes Ökosystem</a:t>
            </a:r>
            <a:endParaRPr lang="en-US" sz="1300" dirty="0"/>
          </a:p>
          <a:p>
            <a:pPr marL="342900" indent="-342900">
              <a:spcAft>
                <a:spcPts val="1000"/>
              </a:spcAft>
              <a:buSzPct val="100000"/>
              <a:buChar char="•"/>
            </a:pPr>
            <a:r>
              <a:rPr lang="en-US" sz="1300" dirty="0">
                <a:solidFill>
                  <a:srgbClr val="374151"/>
                </a:solidFill>
                <a:latin typeface="Calibri" pitchFamily="34" charset="0"/>
                <a:ea typeface="Calibri" pitchFamily="34" charset="-122"/>
                <a:cs typeface="Calibri" pitchFamily="34" charset="-120"/>
              </a:rPr>
              <a:t>Neue Sprache nötig</a:t>
            </a:r>
            <a:endParaRPr lang="en-US" sz="1300" dirty="0"/>
          </a:p>
        </p:txBody>
      </p:sp>
      <p:sp>
        <p:nvSpPr>
          <p:cNvPr id="18" name="Text 16"/>
          <p:cNvSpPr/>
          <p:nvPr/>
        </p:nvSpPr>
        <p:spPr>
          <a:xfrm>
            <a:off x="640080" y="5897880"/>
            <a:ext cx="10911535" cy="365760"/>
          </a:xfrm>
          <a:prstGeom prst="rect">
            <a:avLst/>
          </a:prstGeom>
          <a:noFill/>
          <a:ln/>
        </p:spPr>
        <p:txBody>
          <a:bodyPr wrap="square" lIns="0" tIns="0" rIns="0" bIns="0" rtlCol="0" anchor="ctr"/>
          <a:lstStyle/>
          <a:p>
            <a:pPr marL="0" indent="0">
              <a:buNone/>
            </a:pPr>
            <a:r>
              <a:rPr lang="de-DE" sz="1300" i="1" noProof="0" dirty="0">
                <a:solidFill>
                  <a:srgbClr val="6B7280"/>
                </a:solidFill>
                <a:latin typeface="Calibri" pitchFamily="34" charset="0"/>
                <a:ea typeface="Calibri" pitchFamily="34" charset="-122"/>
                <a:cs typeface="Calibri" pitchFamily="34" charset="-120"/>
              </a:rPr>
              <a:t>Die genannten Plugins gibt es nur für </a:t>
            </a:r>
            <a:r>
              <a:rPr lang="de-DE" sz="1300" i="1" noProof="0" dirty="0" err="1">
                <a:solidFill>
                  <a:srgbClr val="6B7280"/>
                </a:solidFill>
                <a:latin typeface="Calibri" pitchFamily="34" charset="0"/>
                <a:ea typeface="Calibri" pitchFamily="34" charset="-122"/>
                <a:cs typeface="Calibri" pitchFamily="34" charset="-120"/>
              </a:rPr>
              <a:t>Capacitor</a:t>
            </a:r>
            <a:r>
              <a:rPr lang="de-DE" sz="1300" i="1" noProof="0" dirty="0">
                <a:solidFill>
                  <a:srgbClr val="6B7280"/>
                </a:solidFill>
                <a:latin typeface="Calibri" pitchFamily="34" charset="0"/>
                <a:ea typeface="Calibri" pitchFamily="34" charset="-122"/>
                <a:cs typeface="Calibri" pitchFamily="34" charset="-120"/>
              </a:rPr>
              <a:t>, womit der hybride Weg gesetzt war.</a:t>
            </a:r>
            <a:endParaRPr lang="de-DE" sz="1300"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Die nativen Schnittstellen</a:t>
            </a:r>
            <a:endParaRPr lang="en-US" sz="3200" dirty="0"/>
          </a:p>
        </p:txBody>
      </p:sp>
      <p:sp>
        <p:nvSpPr>
          <p:cNvPr id="4" name="Text 2"/>
          <p:cNvSpPr/>
          <p:nvPr/>
        </p:nvSpPr>
        <p:spPr>
          <a:xfrm>
            <a:off x="932688" y="932688"/>
            <a:ext cx="10618927" cy="320040"/>
          </a:xfrm>
          <a:prstGeom prst="rect">
            <a:avLst/>
          </a:prstGeom>
          <a:noFill/>
          <a:ln/>
        </p:spPr>
        <p:txBody>
          <a:bodyPr wrap="square" lIns="0" tIns="0" rIns="0" bIns="0" rtlCol="0" anchor="ctr"/>
          <a:lstStyle/>
          <a:p>
            <a:pPr marL="0" indent="0">
              <a:buNone/>
            </a:pPr>
            <a:r>
              <a:rPr lang="en-US" sz="1400" dirty="0" err="1">
                <a:solidFill>
                  <a:srgbClr val="6B7280"/>
                </a:solidFill>
                <a:latin typeface="Calibri" pitchFamily="34" charset="0"/>
                <a:ea typeface="Calibri" pitchFamily="34" charset="-122"/>
                <a:cs typeface="Calibri" pitchFamily="34" charset="-120"/>
              </a:rPr>
              <a:t>Fünf</a:t>
            </a:r>
            <a:r>
              <a:rPr lang="en-US" sz="1400" dirty="0">
                <a:solidFill>
                  <a:srgbClr val="6B7280"/>
                </a:solidFill>
                <a:latin typeface="Calibri" pitchFamily="34" charset="0"/>
                <a:ea typeface="Calibri" pitchFamily="34" charset="-122"/>
                <a:cs typeface="Calibri" pitchFamily="34" charset="-120"/>
              </a:rPr>
              <a:t> Plugins | und was zwischen JavaScript und Android passiert</a:t>
            </a:r>
            <a:endParaRPr lang="en-US" sz="1400" dirty="0"/>
          </a:p>
        </p:txBody>
      </p:sp>
      <p:sp>
        <p:nvSpPr>
          <p:cNvPr id="5" name="Shape 3"/>
          <p:cNvSpPr/>
          <p:nvPr/>
        </p:nvSpPr>
        <p:spPr>
          <a:xfrm>
            <a:off x="640080" y="1645920"/>
            <a:ext cx="5227168" cy="4114800"/>
          </a:xfrm>
          <a:prstGeom prst="roundRect">
            <a:avLst>
              <a:gd name="adj" fmla="val 1778"/>
            </a:avLst>
          </a:prstGeom>
          <a:solidFill>
            <a:srgbClr val="F4F5F7"/>
          </a:solidFill>
          <a:ln/>
        </p:spPr>
        <p:txBody>
          <a:bodyPr/>
          <a:lstStyle/>
          <a:p>
            <a:endParaRPr lang="en-DE"/>
          </a:p>
        </p:txBody>
      </p:sp>
      <p:sp>
        <p:nvSpPr>
          <p:cNvPr id="6" name="Text 4"/>
          <p:cNvSpPr/>
          <p:nvPr/>
        </p:nvSpPr>
        <p:spPr>
          <a:xfrm>
            <a:off x="960120" y="1847088"/>
            <a:ext cx="4587088" cy="32004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Welche Plugins</a:t>
            </a:r>
            <a:endParaRPr lang="en-US" sz="1500" dirty="0"/>
          </a:p>
        </p:txBody>
      </p:sp>
      <p:sp>
        <p:nvSpPr>
          <p:cNvPr id="7" name="Shape 5"/>
          <p:cNvSpPr/>
          <p:nvPr/>
        </p:nvSpPr>
        <p:spPr>
          <a:xfrm>
            <a:off x="987552" y="2340864"/>
            <a:ext cx="109728" cy="109728"/>
          </a:xfrm>
          <a:prstGeom prst="ellipse">
            <a:avLst/>
          </a:prstGeom>
          <a:solidFill>
            <a:srgbClr val="E23E3E"/>
          </a:solidFill>
          <a:ln/>
        </p:spPr>
        <p:txBody>
          <a:bodyPr/>
          <a:lstStyle/>
          <a:p>
            <a:endParaRPr lang="en-DE"/>
          </a:p>
        </p:txBody>
      </p:sp>
      <p:sp>
        <p:nvSpPr>
          <p:cNvPr id="8" name="Text 6"/>
          <p:cNvSpPr/>
          <p:nvPr/>
        </p:nvSpPr>
        <p:spPr>
          <a:xfrm>
            <a:off x="1207008" y="2221992"/>
            <a:ext cx="4358488" cy="274320"/>
          </a:xfrm>
          <a:prstGeom prst="rect">
            <a:avLst/>
          </a:prstGeom>
          <a:noFill/>
          <a:ln/>
        </p:spPr>
        <p:txBody>
          <a:bodyPr wrap="square" lIns="0" tIns="0" rIns="0" bIns="0" rtlCol="0" anchor="ctr"/>
          <a:lstStyle/>
          <a:p>
            <a:pPr marL="0" indent="0">
              <a:buNone/>
            </a:pPr>
            <a:r>
              <a:rPr lang="en-US" sz="1350" b="1" dirty="0">
                <a:solidFill>
                  <a:srgbClr val="111827"/>
                </a:solidFill>
                <a:latin typeface="Calibri" pitchFamily="34" charset="0"/>
                <a:ea typeface="Calibri" pitchFamily="34" charset="-122"/>
                <a:cs typeface="Calibri" pitchFamily="34" charset="-120"/>
              </a:rPr>
              <a:t>Audio Recorder</a:t>
            </a:r>
            <a:endParaRPr lang="en-US" sz="1350" dirty="0"/>
          </a:p>
        </p:txBody>
      </p:sp>
      <p:sp>
        <p:nvSpPr>
          <p:cNvPr id="9" name="Text 7"/>
          <p:cNvSpPr/>
          <p:nvPr/>
        </p:nvSpPr>
        <p:spPr>
          <a:xfrm>
            <a:off x="1207008" y="2478024"/>
            <a:ext cx="4358488" cy="347472"/>
          </a:xfrm>
          <a:prstGeom prst="rect">
            <a:avLst/>
          </a:prstGeom>
          <a:noFill/>
          <a:ln/>
        </p:spPr>
        <p:txBody>
          <a:bodyPr wrap="square" lIns="0" tIns="0" rIns="0" bIns="0" rtlCol="0" anchor="t"/>
          <a:lstStyle/>
          <a:p>
            <a:pPr marL="0" indent="0">
              <a:buNone/>
            </a:pPr>
            <a:r>
              <a:rPr lang="en-US" sz="1200" dirty="0">
                <a:solidFill>
                  <a:srgbClr val="374151"/>
                </a:solidFill>
                <a:latin typeface="Calibri" pitchFamily="34" charset="0"/>
                <a:ea typeface="Calibri" pitchFamily="34" charset="-122"/>
                <a:cs typeface="Calibri" pitchFamily="34" charset="-120"/>
              </a:rPr>
              <a:t>Aufnehmen, pausieren, fortsetzen, Mikrofon-Berechtigung</a:t>
            </a:r>
            <a:endParaRPr lang="en-US" sz="1200" dirty="0"/>
          </a:p>
        </p:txBody>
      </p:sp>
      <p:sp>
        <p:nvSpPr>
          <p:cNvPr id="10" name="Shape 8"/>
          <p:cNvSpPr/>
          <p:nvPr/>
        </p:nvSpPr>
        <p:spPr>
          <a:xfrm>
            <a:off x="987552" y="2962656"/>
            <a:ext cx="109728" cy="109728"/>
          </a:xfrm>
          <a:prstGeom prst="ellipse">
            <a:avLst/>
          </a:prstGeom>
          <a:solidFill>
            <a:srgbClr val="E23E3E"/>
          </a:solidFill>
          <a:ln/>
        </p:spPr>
        <p:txBody>
          <a:bodyPr/>
          <a:lstStyle/>
          <a:p>
            <a:endParaRPr lang="en-DE"/>
          </a:p>
        </p:txBody>
      </p:sp>
      <p:sp>
        <p:nvSpPr>
          <p:cNvPr id="11" name="Text 9"/>
          <p:cNvSpPr/>
          <p:nvPr/>
        </p:nvSpPr>
        <p:spPr>
          <a:xfrm>
            <a:off x="1207008" y="2843784"/>
            <a:ext cx="4358488" cy="274320"/>
          </a:xfrm>
          <a:prstGeom prst="rect">
            <a:avLst/>
          </a:prstGeom>
          <a:noFill/>
          <a:ln/>
        </p:spPr>
        <p:txBody>
          <a:bodyPr wrap="square" lIns="0" tIns="0" rIns="0" bIns="0" rtlCol="0" anchor="ctr"/>
          <a:lstStyle/>
          <a:p>
            <a:pPr marL="0" indent="0">
              <a:buNone/>
            </a:pPr>
            <a:r>
              <a:rPr lang="en-US" sz="1350" b="1" dirty="0">
                <a:solidFill>
                  <a:srgbClr val="111827"/>
                </a:solidFill>
                <a:latin typeface="Calibri" pitchFamily="34" charset="0"/>
                <a:ea typeface="Calibri" pitchFamily="34" charset="-122"/>
                <a:cs typeface="Calibri" pitchFamily="34" charset="-120"/>
              </a:rPr>
              <a:t>Audio Player</a:t>
            </a:r>
            <a:endParaRPr lang="en-US" sz="1350" dirty="0"/>
          </a:p>
        </p:txBody>
      </p:sp>
      <p:sp>
        <p:nvSpPr>
          <p:cNvPr id="12" name="Text 10"/>
          <p:cNvSpPr/>
          <p:nvPr/>
        </p:nvSpPr>
        <p:spPr>
          <a:xfrm>
            <a:off x="1207008" y="3099816"/>
            <a:ext cx="4358488" cy="347472"/>
          </a:xfrm>
          <a:prstGeom prst="rect">
            <a:avLst/>
          </a:prstGeom>
          <a:noFill/>
          <a:ln/>
        </p:spPr>
        <p:txBody>
          <a:bodyPr wrap="square" lIns="0" tIns="0" rIns="0" bIns="0" rtlCol="0" anchor="t"/>
          <a:lstStyle/>
          <a:p>
            <a:pPr marL="0" indent="0">
              <a:buNone/>
            </a:pPr>
            <a:r>
              <a:rPr lang="en-US" sz="1200" dirty="0">
                <a:solidFill>
                  <a:srgbClr val="374151"/>
                </a:solidFill>
                <a:latin typeface="Calibri" pitchFamily="34" charset="0"/>
                <a:ea typeface="Calibri" pitchFamily="34" charset="-122"/>
                <a:cs typeface="Calibri" pitchFamily="34" charset="-120"/>
              </a:rPr>
              <a:t>Abspielen, Position und Dauer, meldet das Ende</a:t>
            </a:r>
            <a:endParaRPr lang="en-US" sz="1200" dirty="0"/>
          </a:p>
        </p:txBody>
      </p:sp>
      <p:sp>
        <p:nvSpPr>
          <p:cNvPr id="13" name="Shape 11"/>
          <p:cNvSpPr/>
          <p:nvPr/>
        </p:nvSpPr>
        <p:spPr>
          <a:xfrm>
            <a:off x="987552" y="3584448"/>
            <a:ext cx="109728" cy="109728"/>
          </a:xfrm>
          <a:prstGeom prst="ellipse">
            <a:avLst/>
          </a:prstGeom>
          <a:solidFill>
            <a:srgbClr val="2F6FED"/>
          </a:solidFill>
          <a:ln/>
        </p:spPr>
        <p:txBody>
          <a:bodyPr/>
          <a:lstStyle/>
          <a:p>
            <a:endParaRPr lang="en-DE"/>
          </a:p>
        </p:txBody>
      </p:sp>
      <p:sp>
        <p:nvSpPr>
          <p:cNvPr id="14" name="Text 12"/>
          <p:cNvSpPr/>
          <p:nvPr/>
        </p:nvSpPr>
        <p:spPr>
          <a:xfrm>
            <a:off x="1207008" y="3465576"/>
            <a:ext cx="4358488" cy="274320"/>
          </a:xfrm>
          <a:prstGeom prst="rect">
            <a:avLst/>
          </a:prstGeom>
          <a:noFill/>
          <a:ln/>
        </p:spPr>
        <p:txBody>
          <a:bodyPr wrap="square" lIns="0" tIns="0" rIns="0" bIns="0" rtlCol="0" anchor="ctr"/>
          <a:lstStyle/>
          <a:p>
            <a:pPr marL="0" indent="0">
              <a:buNone/>
            </a:pPr>
            <a:r>
              <a:rPr lang="en-US" sz="1350" b="1" dirty="0">
                <a:solidFill>
                  <a:srgbClr val="111827"/>
                </a:solidFill>
                <a:latin typeface="Calibri" pitchFamily="34" charset="0"/>
                <a:ea typeface="Calibri" pitchFamily="34" charset="-122"/>
                <a:cs typeface="Calibri" pitchFamily="34" charset="-120"/>
              </a:rPr>
              <a:t>File Picker</a:t>
            </a:r>
            <a:endParaRPr lang="en-US" sz="1350" dirty="0"/>
          </a:p>
        </p:txBody>
      </p:sp>
      <p:sp>
        <p:nvSpPr>
          <p:cNvPr id="15" name="Text 13"/>
          <p:cNvSpPr/>
          <p:nvPr/>
        </p:nvSpPr>
        <p:spPr>
          <a:xfrm>
            <a:off x="1207008" y="3721608"/>
            <a:ext cx="4358488" cy="347472"/>
          </a:xfrm>
          <a:prstGeom prst="rect">
            <a:avLst/>
          </a:prstGeom>
          <a:noFill/>
          <a:ln/>
        </p:spPr>
        <p:txBody>
          <a:bodyPr wrap="square" lIns="0" tIns="0" rIns="0" bIns="0" rtlCol="0" anchor="t"/>
          <a:lstStyle/>
          <a:p>
            <a:pPr marL="0" indent="0">
              <a:buNone/>
            </a:pPr>
            <a:r>
              <a:rPr lang="en-US" sz="1200" dirty="0">
                <a:solidFill>
                  <a:srgbClr val="374151"/>
                </a:solidFill>
                <a:latin typeface="Calibri" pitchFamily="34" charset="0"/>
                <a:ea typeface="Calibri" pitchFamily="34" charset="-122"/>
                <a:cs typeface="Calibri" pitchFamily="34" charset="-120"/>
              </a:rPr>
              <a:t>Kopiert die Aufnahme aus dem Zwischenspeicher</a:t>
            </a:r>
            <a:endParaRPr lang="en-US" sz="1200" dirty="0"/>
          </a:p>
        </p:txBody>
      </p:sp>
      <p:sp>
        <p:nvSpPr>
          <p:cNvPr id="16" name="Shape 14"/>
          <p:cNvSpPr/>
          <p:nvPr/>
        </p:nvSpPr>
        <p:spPr>
          <a:xfrm>
            <a:off x="987552" y="4206240"/>
            <a:ext cx="109728" cy="109728"/>
          </a:xfrm>
          <a:prstGeom prst="ellipse">
            <a:avLst/>
          </a:prstGeom>
          <a:solidFill>
            <a:srgbClr val="2F6FED"/>
          </a:solidFill>
          <a:ln/>
        </p:spPr>
        <p:txBody>
          <a:bodyPr/>
          <a:lstStyle/>
          <a:p>
            <a:endParaRPr lang="en-DE"/>
          </a:p>
        </p:txBody>
      </p:sp>
      <p:sp>
        <p:nvSpPr>
          <p:cNvPr id="17" name="Text 15"/>
          <p:cNvSpPr/>
          <p:nvPr/>
        </p:nvSpPr>
        <p:spPr>
          <a:xfrm>
            <a:off x="1207008" y="4087368"/>
            <a:ext cx="4358488" cy="274320"/>
          </a:xfrm>
          <a:prstGeom prst="rect">
            <a:avLst/>
          </a:prstGeom>
          <a:noFill/>
          <a:ln/>
        </p:spPr>
        <p:txBody>
          <a:bodyPr wrap="square" lIns="0" tIns="0" rIns="0" bIns="0" rtlCol="0" anchor="ctr"/>
          <a:lstStyle/>
          <a:p>
            <a:pPr marL="0" indent="0">
              <a:buNone/>
            </a:pPr>
            <a:r>
              <a:rPr lang="en-US" sz="1350" b="1" dirty="0">
                <a:solidFill>
                  <a:srgbClr val="111827"/>
                </a:solidFill>
                <a:latin typeface="Calibri" pitchFamily="34" charset="0"/>
                <a:ea typeface="Calibri" pitchFamily="34" charset="-122"/>
                <a:cs typeface="Calibri" pitchFamily="34" charset="-120"/>
              </a:rPr>
              <a:t>Filesystem</a:t>
            </a:r>
            <a:endParaRPr lang="en-US" sz="1350" dirty="0"/>
          </a:p>
        </p:txBody>
      </p:sp>
      <p:sp>
        <p:nvSpPr>
          <p:cNvPr id="18" name="Text 16"/>
          <p:cNvSpPr/>
          <p:nvPr/>
        </p:nvSpPr>
        <p:spPr>
          <a:xfrm>
            <a:off x="1207008" y="4343400"/>
            <a:ext cx="4358488" cy="347472"/>
          </a:xfrm>
          <a:prstGeom prst="rect">
            <a:avLst/>
          </a:prstGeom>
          <a:noFill/>
          <a:ln/>
        </p:spPr>
        <p:txBody>
          <a:bodyPr wrap="square" lIns="0" tIns="0" rIns="0" bIns="0" rtlCol="0" anchor="t"/>
          <a:lstStyle/>
          <a:p>
            <a:pPr marL="0" indent="0">
              <a:buNone/>
            </a:pPr>
            <a:r>
              <a:rPr lang="en-US" sz="1200" dirty="0">
                <a:solidFill>
                  <a:srgbClr val="374151"/>
                </a:solidFill>
                <a:latin typeface="Calibri" pitchFamily="34" charset="0"/>
                <a:ea typeface="Calibri" pitchFamily="34" charset="-122"/>
                <a:cs typeface="Calibri" pitchFamily="34" charset="-120"/>
              </a:rPr>
              <a:t>Ordner anlegen und lesen, umbenennen, löschen</a:t>
            </a:r>
            <a:endParaRPr lang="en-US" sz="1200" dirty="0"/>
          </a:p>
        </p:txBody>
      </p:sp>
      <p:sp>
        <p:nvSpPr>
          <p:cNvPr id="19" name="Shape 17"/>
          <p:cNvSpPr/>
          <p:nvPr/>
        </p:nvSpPr>
        <p:spPr>
          <a:xfrm>
            <a:off x="987552" y="4828032"/>
            <a:ext cx="109728" cy="109728"/>
          </a:xfrm>
          <a:prstGeom prst="ellipse">
            <a:avLst/>
          </a:prstGeom>
          <a:solidFill>
            <a:srgbClr val="2F6FED"/>
          </a:solidFill>
          <a:ln/>
        </p:spPr>
        <p:txBody>
          <a:bodyPr/>
          <a:lstStyle/>
          <a:p>
            <a:endParaRPr lang="en-DE"/>
          </a:p>
        </p:txBody>
      </p:sp>
      <p:sp>
        <p:nvSpPr>
          <p:cNvPr id="20" name="Text 18"/>
          <p:cNvSpPr/>
          <p:nvPr/>
        </p:nvSpPr>
        <p:spPr>
          <a:xfrm>
            <a:off x="1207008" y="4709160"/>
            <a:ext cx="4358488" cy="274320"/>
          </a:xfrm>
          <a:prstGeom prst="rect">
            <a:avLst/>
          </a:prstGeom>
          <a:noFill/>
          <a:ln/>
        </p:spPr>
        <p:txBody>
          <a:bodyPr wrap="square" lIns="0" tIns="0" rIns="0" bIns="0" rtlCol="0" anchor="ctr"/>
          <a:lstStyle/>
          <a:p>
            <a:pPr marL="0" indent="0">
              <a:buNone/>
            </a:pPr>
            <a:r>
              <a:rPr lang="en-US" sz="1350" b="1" dirty="0">
                <a:solidFill>
                  <a:srgbClr val="111827"/>
                </a:solidFill>
                <a:latin typeface="Calibri" pitchFamily="34" charset="0"/>
                <a:ea typeface="Calibri" pitchFamily="34" charset="-122"/>
                <a:cs typeface="Calibri" pitchFamily="34" charset="-120"/>
              </a:rPr>
              <a:t>Share</a:t>
            </a:r>
            <a:endParaRPr lang="en-US" sz="1350" dirty="0"/>
          </a:p>
        </p:txBody>
      </p:sp>
      <p:sp>
        <p:nvSpPr>
          <p:cNvPr id="21" name="Text 19"/>
          <p:cNvSpPr/>
          <p:nvPr/>
        </p:nvSpPr>
        <p:spPr>
          <a:xfrm>
            <a:off x="1207008" y="4965192"/>
            <a:ext cx="4358488" cy="347472"/>
          </a:xfrm>
          <a:prstGeom prst="rect">
            <a:avLst/>
          </a:prstGeom>
          <a:noFill/>
          <a:ln/>
        </p:spPr>
        <p:txBody>
          <a:bodyPr wrap="square" lIns="0" tIns="0" rIns="0" bIns="0" rtlCol="0" anchor="t"/>
          <a:lstStyle/>
          <a:p>
            <a:pPr marL="0" indent="0">
              <a:buNone/>
            </a:pPr>
            <a:r>
              <a:rPr lang="en-US" sz="1200" dirty="0">
                <a:solidFill>
                  <a:srgbClr val="374151"/>
                </a:solidFill>
                <a:latin typeface="Calibri" pitchFamily="34" charset="0"/>
                <a:ea typeface="Calibri" pitchFamily="34" charset="-122"/>
                <a:cs typeface="Calibri" pitchFamily="34" charset="-120"/>
              </a:rPr>
              <a:t>Öffnet den Teilen-Dialog des Systems</a:t>
            </a:r>
            <a:endParaRPr lang="en-US" sz="1200" dirty="0"/>
          </a:p>
        </p:txBody>
      </p:sp>
      <p:sp>
        <p:nvSpPr>
          <p:cNvPr id="22" name="Text 20"/>
          <p:cNvSpPr/>
          <p:nvPr/>
        </p:nvSpPr>
        <p:spPr>
          <a:xfrm>
            <a:off x="960120" y="5394960"/>
            <a:ext cx="4587088" cy="320040"/>
          </a:xfrm>
          <a:prstGeom prst="rect">
            <a:avLst/>
          </a:prstGeom>
          <a:noFill/>
          <a:ln/>
        </p:spPr>
        <p:txBody>
          <a:bodyPr wrap="square" lIns="0" tIns="0" rIns="0" bIns="0" rtlCol="0" anchor="ctr"/>
          <a:lstStyle/>
          <a:p>
            <a:pPr marL="0" indent="0">
              <a:buNone/>
            </a:pPr>
            <a:r>
              <a:rPr lang="en-US" sz="1150" i="1" dirty="0">
                <a:solidFill>
                  <a:srgbClr val="6B7280"/>
                </a:solidFill>
                <a:latin typeface="Calibri" pitchFamily="34" charset="0"/>
                <a:ea typeface="Calibri" pitchFamily="34" charset="-122"/>
                <a:cs typeface="Calibri" pitchFamily="34" charset="-120"/>
              </a:rPr>
              <a:t>Die beiden roten sind kostenpflichtig und brauchen einen Lizenzschlüssel.</a:t>
            </a:r>
            <a:endParaRPr lang="en-US" sz="1150" dirty="0"/>
          </a:p>
        </p:txBody>
      </p:sp>
      <p:sp>
        <p:nvSpPr>
          <p:cNvPr id="23" name="Shape 21"/>
          <p:cNvSpPr/>
          <p:nvPr/>
        </p:nvSpPr>
        <p:spPr>
          <a:xfrm>
            <a:off x="6324448" y="1645920"/>
            <a:ext cx="5227168" cy="4114800"/>
          </a:xfrm>
          <a:prstGeom prst="roundRect">
            <a:avLst>
              <a:gd name="adj" fmla="val 1778"/>
            </a:avLst>
          </a:prstGeom>
          <a:solidFill>
            <a:srgbClr val="0F1419"/>
          </a:solidFill>
          <a:ln/>
        </p:spPr>
        <p:txBody>
          <a:bodyPr/>
          <a:lstStyle/>
          <a:p>
            <a:endParaRPr lang="en-DE"/>
          </a:p>
        </p:txBody>
      </p:sp>
      <p:sp>
        <p:nvSpPr>
          <p:cNvPr id="24" name="Text 22"/>
          <p:cNvSpPr/>
          <p:nvPr/>
        </p:nvSpPr>
        <p:spPr>
          <a:xfrm>
            <a:off x="6644488" y="1847088"/>
            <a:ext cx="4587088"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Wie sie funktionieren</a:t>
            </a:r>
            <a:endParaRPr lang="en-US" sz="1500" dirty="0"/>
          </a:p>
        </p:txBody>
      </p:sp>
      <p:sp>
        <p:nvSpPr>
          <p:cNvPr id="25" name="Shape 23"/>
          <p:cNvSpPr/>
          <p:nvPr/>
        </p:nvSpPr>
        <p:spPr>
          <a:xfrm>
            <a:off x="6644488" y="2240280"/>
            <a:ext cx="384048" cy="384048"/>
          </a:xfrm>
          <a:prstGeom prst="ellipse">
            <a:avLst/>
          </a:prstGeom>
          <a:solidFill>
            <a:srgbClr val="2F6FED"/>
          </a:solidFill>
          <a:ln/>
        </p:spPr>
        <p:txBody>
          <a:bodyPr/>
          <a:lstStyle/>
          <a:p>
            <a:endParaRPr lang="en-DE"/>
          </a:p>
        </p:txBody>
      </p:sp>
      <p:sp>
        <p:nvSpPr>
          <p:cNvPr id="26" name="Text 24"/>
          <p:cNvSpPr/>
          <p:nvPr/>
        </p:nvSpPr>
        <p:spPr>
          <a:xfrm>
            <a:off x="6644488" y="22402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7" name="Text 25"/>
          <p:cNvSpPr/>
          <p:nvPr/>
        </p:nvSpPr>
        <p:spPr>
          <a:xfrm>
            <a:off x="7165696" y="2221992"/>
            <a:ext cx="4038448" cy="32004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JavaScript ruft auf</a:t>
            </a:r>
            <a:endParaRPr lang="en-US" sz="1350" dirty="0"/>
          </a:p>
        </p:txBody>
      </p:sp>
      <p:sp>
        <p:nvSpPr>
          <p:cNvPr id="28" name="Text 26"/>
          <p:cNvSpPr/>
          <p:nvPr/>
        </p:nvSpPr>
        <p:spPr>
          <a:xfrm>
            <a:off x="7165696" y="2551176"/>
            <a:ext cx="4038448" cy="365760"/>
          </a:xfrm>
          <a:prstGeom prst="rect">
            <a:avLst/>
          </a:prstGeom>
          <a:noFill/>
          <a:ln/>
        </p:spPr>
        <p:txBody>
          <a:bodyPr wrap="square" lIns="0" tIns="0" rIns="0" bIns="0" rtlCol="0" anchor="t"/>
          <a:lstStyle/>
          <a:p>
            <a:pPr marL="0" indent="0">
              <a:buNone/>
            </a:pPr>
            <a:r>
              <a:rPr lang="en-US" sz="1150" dirty="0">
                <a:solidFill>
                  <a:srgbClr val="9AA4B2"/>
                </a:solidFill>
                <a:latin typeface="Calibri" pitchFamily="34" charset="0"/>
                <a:ea typeface="Calibri" pitchFamily="34" charset="-122"/>
                <a:cs typeface="Calibri" pitchFamily="34" charset="-120"/>
              </a:rPr>
              <a:t>Im Code steht ein gewöhnlicher Funktionsaufruf</a:t>
            </a:r>
            <a:endParaRPr lang="en-US" sz="1150" dirty="0"/>
          </a:p>
        </p:txBody>
      </p:sp>
      <p:sp>
        <p:nvSpPr>
          <p:cNvPr id="29" name="Shape 27"/>
          <p:cNvSpPr/>
          <p:nvPr/>
        </p:nvSpPr>
        <p:spPr>
          <a:xfrm>
            <a:off x="6644488" y="2971800"/>
            <a:ext cx="384048" cy="384048"/>
          </a:xfrm>
          <a:prstGeom prst="ellipse">
            <a:avLst/>
          </a:prstGeom>
          <a:solidFill>
            <a:srgbClr val="2F6FED"/>
          </a:solidFill>
          <a:ln/>
        </p:spPr>
        <p:txBody>
          <a:bodyPr/>
          <a:lstStyle/>
          <a:p>
            <a:endParaRPr lang="en-DE"/>
          </a:p>
        </p:txBody>
      </p:sp>
      <p:sp>
        <p:nvSpPr>
          <p:cNvPr id="30" name="Text 28"/>
          <p:cNvSpPr/>
          <p:nvPr/>
        </p:nvSpPr>
        <p:spPr>
          <a:xfrm>
            <a:off x="6644488" y="29718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31" name="Text 29"/>
          <p:cNvSpPr/>
          <p:nvPr/>
        </p:nvSpPr>
        <p:spPr>
          <a:xfrm>
            <a:off x="7165696" y="2953512"/>
            <a:ext cx="4038448" cy="32004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Die Capacitor-Bridge übersetzt</a:t>
            </a:r>
            <a:endParaRPr lang="en-US" sz="1350" dirty="0"/>
          </a:p>
        </p:txBody>
      </p:sp>
      <p:sp>
        <p:nvSpPr>
          <p:cNvPr id="32" name="Text 30"/>
          <p:cNvSpPr/>
          <p:nvPr/>
        </p:nvSpPr>
        <p:spPr>
          <a:xfrm>
            <a:off x="7165696" y="3282696"/>
            <a:ext cx="4038448" cy="365760"/>
          </a:xfrm>
          <a:prstGeom prst="rect">
            <a:avLst/>
          </a:prstGeom>
          <a:noFill/>
          <a:ln/>
        </p:spPr>
        <p:txBody>
          <a:bodyPr wrap="square" lIns="0" tIns="0" rIns="0" bIns="0" rtlCol="0" anchor="t"/>
          <a:lstStyle/>
          <a:p>
            <a:pPr marL="0" indent="0">
              <a:buNone/>
            </a:pPr>
            <a:r>
              <a:rPr lang="en-US" sz="1150" dirty="0">
                <a:solidFill>
                  <a:srgbClr val="9AA4B2"/>
                </a:solidFill>
                <a:latin typeface="Calibri" pitchFamily="34" charset="0"/>
                <a:ea typeface="Calibri" pitchFamily="34" charset="-122"/>
                <a:cs typeface="Calibri" pitchFamily="34" charset="-120"/>
              </a:rPr>
              <a:t>Sie reicht den Aufruf aus dem Web-Fenster nach unten durch</a:t>
            </a:r>
            <a:endParaRPr lang="en-US" sz="1150" dirty="0"/>
          </a:p>
        </p:txBody>
      </p:sp>
      <p:sp>
        <p:nvSpPr>
          <p:cNvPr id="33" name="Shape 31"/>
          <p:cNvSpPr/>
          <p:nvPr/>
        </p:nvSpPr>
        <p:spPr>
          <a:xfrm>
            <a:off x="6644488" y="3703320"/>
            <a:ext cx="384048" cy="384048"/>
          </a:xfrm>
          <a:prstGeom prst="ellipse">
            <a:avLst/>
          </a:prstGeom>
          <a:solidFill>
            <a:srgbClr val="2F6FED"/>
          </a:solidFill>
          <a:ln/>
        </p:spPr>
        <p:txBody>
          <a:bodyPr/>
          <a:lstStyle/>
          <a:p>
            <a:endParaRPr lang="en-DE"/>
          </a:p>
        </p:txBody>
      </p:sp>
      <p:sp>
        <p:nvSpPr>
          <p:cNvPr id="34" name="Text 32"/>
          <p:cNvSpPr/>
          <p:nvPr/>
        </p:nvSpPr>
        <p:spPr>
          <a:xfrm>
            <a:off x="6644488" y="37033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5" name="Text 33"/>
          <p:cNvSpPr/>
          <p:nvPr/>
        </p:nvSpPr>
        <p:spPr>
          <a:xfrm>
            <a:off x="7165696" y="3685032"/>
            <a:ext cx="4038448" cy="32004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Nativer Plugin-Code läuft</a:t>
            </a:r>
            <a:endParaRPr lang="en-US" sz="1350" dirty="0"/>
          </a:p>
        </p:txBody>
      </p:sp>
      <p:sp>
        <p:nvSpPr>
          <p:cNvPr id="36" name="Text 34"/>
          <p:cNvSpPr/>
          <p:nvPr/>
        </p:nvSpPr>
        <p:spPr>
          <a:xfrm>
            <a:off x="7165696" y="4014216"/>
            <a:ext cx="4038448" cy="365760"/>
          </a:xfrm>
          <a:prstGeom prst="rect">
            <a:avLst/>
          </a:prstGeom>
          <a:noFill/>
          <a:ln/>
        </p:spPr>
        <p:txBody>
          <a:bodyPr wrap="square" lIns="0" tIns="0" rIns="0" bIns="0" rtlCol="0" anchor="t"/>
          <a:lstStyle/>
          <a:p>
            <a:pPr marL="0" indent="0">
              <a:buNone/>
            </a:pPr>
            <a:r>
              <a:rPr lang="en-US" sz="1150" dirty="0">
                <a:solidFill>
                  <a:srgbClr val="9AA4B2"/>
                </a:solidFill>
                <a:latin typeface="Calibri" pitchFamily="34" charset="0"/>
                <a:ea typeface="Calibri" pitchFamily="34" charset="-122"/>
                <a:cs typeface="Calibri" pitchFamily="34" charset="-120"/>
              </a:rPr>
              <a:t>In Kotlin bzw. Java </a:t>
            </a:r>
            <a:r>
              <a:rPr lang="de-DE" sz="1150" noProof="0" dirty="0">
                <a:solidFill>
                  <a:srgbClr val="9AA4B2"/>
                </a:solidFill>
                <a:latin typeface="Calibri" pitchFamily="34" charset="0"/>
                <a:ea typeface="Calibri" pitchFamily="34" charset="-122"/>
                <a:cs typeface="Calibri" pitchFamily="34" charset="-120"/>
              </a:rPr>
              <a:t>geschrieben  </a:t>
            </a:r>
            <a:endParaRPr lang="en-US" sz="1150" dirty="0"/>
          </a:p>
        </p:txBody>
      </p:sp>
      <p:sp>
        <p:nvSpPr>
          <p:cNvPr id="37" name="Shape 35"/>
          <p:cNvSpPr/>
          <p:nvPr/>
        </p:nvSpPr>
        <p:spPr>
          <a:xfrm>
            <a:off x="6644488" y="4434840"/>
            <a:ext cx="384048" cy="384048"/>
          </a:xfrm>
          <a:prstGeom prst="ellipse">
            <a:avLst/>
          </a:prstGeom>
          <a:solidFill>
            <a:srgbClr val="2F6FED"/>
          </a:solidFill>
          <a:ln/>
        </p:spPr>
        <p:txBody>
          <a:bodyPr/>
          <a:lstStyle/>
          <a:p>
            <a:endParaRPr lang="en-DE"/>
          </a:p>
        </p:txBody>
      </p:sp>
      <p:sp>
        <p:nvSpPr>
          <p:cNvPr id="38" name="Text 36"/>
          <p:cNvSpPr/>
          <p:nvPr/>
        </p:nvSpPr>
        <p:spPr>
          <a:xfrm>
            <a:off x="6644488" y="44348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9" name="Text 37"/>
          <p:cNvSpPr/>
          <p:nvPr/>
        </p:nvSpPr>
        <p:spPr>
          <a:xfrm>
            <a:off x="7165696" y="4416552"/>
            <a:ext cx="4038448" cy="32004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Die Antwort kommt zurück</a:t>
            </a:r>
            <a:endParaRPr lang="en-US" sz="1350" dirty="0"/>
          </a:p>
        </p:txBody>
      </p:sp>
      <p:sp>
        <p:nvSpPr>
          <p:cNvPr id="40" name="Text 38"/>
          <p:cNvSpPr/>
          <p:nvPr/>
        </p:nvSpPr>
        <p:spPr>
          <a:xfrm>
            <a:off x="7165696" y="4745736"/>
            <a:ext cx="4038448" cy="365760"/>
          </a:xfrm>
          <a:prstGeom prst="rect">
            <a:avLst/>
          </a:prstGeom>
          <a:noFill/>
          <a:ln/>
        </p:spPr>
        <p:txBody>
          <a:bodyPr wrap="square" lIns="0" tIns="0" rIns="0" bIns="0" rtlCol="0" anchor="t"/>
          <a:lstStyle/>
          <a:p>
            <a:pPr marL="0" indent="0">
              <a:buNone/>
            </a:pPr>
            <a:r>
              <a:rPr lang="en-US" sz="1150" dirty="0">
                <a:solidFill>
                  <a:srgbClr val="9AA4B2"/>
                </a:solidFill>
                <a:latin typeface="Calibri" pitchFamily="34" charset="0"/>
                <a:ea typeface="Calibri" pitchFamily="34" charset="-122"/>
                <a:cs typeface="Calibri" pitchFamily="34" charset="-120"/>
              </a:rPr>
              <a:t>Wieder über die Bridge, als Ergebnis im JavaScript</a:t>
            </a:r>
            <a:endParaRPr lang="en-US" sz="1150" dirty="0"/>
          </a:p>
        </p:txBody>
      </p:sp>
      <p:sp>
        <p:nvSpPr>
          <p:cNvPr id="41" name="Text 39"/>
          <p:cNvSpPr/>
          <p:nvPr/>
        </p:nvSpPr>
        <p:spPr>
          <a:xfrm>
            <a:off x="6644488" y="5394960"/>
            <a:ext cx="4587088" cy="320040"/>
          </a:xfrm>
          <a:prstGeom prst="rect">
            <a:avLst/>
          </a:prstGeom>
          <a:noFill/>
          <a:ln/>
        </p:spPr>
        <p:txBody>
          <a:bodyPr wrap="square" lIns="0" tIns="0" rIns="0" bIns="0" rtlCol="0" anchor="ctr"/>
          <a:lstStyle/>
          <a:p>
            <a:pPr marL="0" indent="0">
              <a:buNone/>
            </a:pPr>
            <a:r>
              <a:rPr lang="en-US" sz="1150" i="1" dirty="0">
                <a:solidFill>
                  <a:srgbClr val="D1D5DB"/>
                </a:solidFill>
                <a:latin typeface="Calibri" pitchFamily="34" charset="0"/>
                <a:ea typeface="Calibri" pitchFamily="34" charset="-122"/>
                <a:cs typeface="Calibri" pitchFamily="34" charset="-120"/>
              </a:rPr>
              <a:t>Der native Code steckt in den Plugins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Wie wir vorgegangen sind</a:t>
            </a:r>
            <a:endParaRPr lang="en-US" sz="3200" dirty="0"/>
          </a:p>
        </p:txBody>
      </p:sp>
      <p:sp>
        <p:nvSpPr>
          <p:cNvPr id="4" name="Shape 2"/>
          <p:cNvSpPr/>
          <p:nvPr/>
        </p:nvSpPr>
        <p:spPr>
          <a:xfrm>
            <a:off x="640080" y="2160303"/>
            <a:ext cx="384048" cy="384048"/>
          </a:xfrm>
          <a:prstGeom prst="ellipse">
            <a:avLst/>
          </a:prstGeom>
          <a:solidFill>
            <a:srgbClr val="2F6FED"/>
          </a:solidFill>
          <a:ln/>
        </p:spPr>
        <p:txBody>
          <a:bodyPr/>
          <a:lstStyle/>
          <a:p>
            <a:endParaRPr lang="en-DE"/>
          </a:p>
        </p:txBody>
      </p:sp>
      <p:sp>
        <p:nvSpPr>
          <p:cNvPr id="5" name="Text 3"/>
          <p:cNvSpPr/>
          <p:nvPr/>
        </p:nvSpPr>
        <p:spPr>
          <a:xfrm>
            <a:off x="640080" y="2160303"/>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640080" y="2708943"/>
            <a:ext cx="1926275" cy="36576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Analyse</a:t>
            </a:r>
            <a:endParaRPr lang="en-US" sz="1600" dirty="0"/>
          </a:p>
        </p:txBody>
      </p:sp>
      <p:sp>
        <p:nvSpPr>
          <p:cNvPr id="7" name="Text 5"/>
          <p:cNvSpPr/>
          <p:nvPr/>
        </p:nvSpPr>
        <p:spPr>
          <a:xfrm>
            <a:off x="640080" y="3120423"/>
            <a:ext cx="1926275" cy="1737360"/>
          </a:xfrm>
          <a:prstGeom prst="rect">
            <a:avLst/>
          </a:prstGeom>
          <a:noFill/>
          <a:ln/>
        </p:spPr>
        <p:txBody>
          <a:bodyPr wrap="square" lIns="0" tIns="0" rIns="0" bIns="0" rtlCol="0" anchor="t"/>
          <a:lstStyle/>
          <a:p>
            <a:pPr marL="0" indent="0">
              <a:buNone/>
            </a:pPr>
            <a:r>
              <a:rPr lang="en-US" sz="1250" dirty="0">
                <a:solidFill>
                  <a:srgbClr val="374151"/>
                </a:solidFill>
                <a:latin typeface="Calibri" pitchFamily="34" charset="0"/>
                <a:ea typeface="Calibri" pitchFamily="34" charset="-122"/>
                <a:cs typeface="Calibri" pitchFamily="34" charset="-120"/>
              </a:rPr>
              <a:t>Anforderungen aufgeschlüsselt, Plugins und deren Dokumentation gesichtet</a:t>
            </a:r>
            <a:endParaRPr lang="en-US" sz="1250" dirty="0"/>
          </a:p>
        </p:txBody>
      </p:sp>
      <p:sp>
        <p:nvSpPr>
          <p:cNvPr id="8" name="Shape 6"/>
          <p:cNvSpPr/>
          <p:nvPr/>
        </p:nvSpPr>
        <p:spPr>
          <a:xfrm>
            <a:off x="2886395" y="2160303"/>
            <a:ext cx="384048" cy="384048"/>
          </a:xfrm>
          <a:prstGeom prst="ellipse">
            <a:avLst/>
          </a:prstGeom>
          <a:solidFill>
            <a:srgbClr val="2F6FED"/>
          </a:solidFill>
          <a:ln/>
        </p:spPr>
        <p:txBody>
          <a:bodyPr/>
          <a:lstStyle/>
          <a:p>
            <a:endParaRPr lang="en-DE"/>
          </a:p>
        </p:txBody>
      </p:sp>
      <p:sp>
        <p:nvSpPr>
          <p:cNvPr id="9" name="Text 7"/>
          <p:cNvSpPr/>
          <p:nvPr/>
        </p:nvSpPr>
        <p:spPr>
          <a:xfrm>
            <a:off x="2886395" y="2160303"/>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2886395" y="2708943"/>
            <a:ext cx="1926275" cy="36576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Erster Wurf</a:t>
            </a:r>
            <a:endParaRPr lang="en-US" sz="1600" dirty="0"/>
          </a:p>
        </p:txBody>
      </p:sp>
      <p:sp>
        <p:nvSpPr>
          <p:cNvPr id="11" name="Text 9"/>
          <p:cNvSpPr/>
          <p:nvPr/>
        </p:nvSpPr>
        <p:spPr>
          <a:xfrm>
            <a:off x="2886395" y="3120423"/>
            <a:ext cx="1926275" cy="1737360"/>
          </a:xfrm>
          <a:prstGeom prst="rect">
            <a:avLst/>
          </a:prstGeom>
          <a:noFill/>
          <a:ln/>
        </p:spPr>
        <p:txBody>
          <a:bodyPr wrap="square" lIns="0" tIns="0" rIns="0" bIns="0" rtlCol="0" anchor="t"/>
          <a:lstStyle/>
          <a:p>
            <a:pPr marL="0" indent="0">
              <a:buNone/>
            </a:pPr>
            <a:r>
              <a:rPr lang="de-DE" sz="1250" noProof="0" dirty="0">
                <a:solidFill>
                  <a:srgbClr val="374151"/>
                </a:solidFill>
                <a:latin typeface="Calibri" pitchFamily="34" charset="0"/>
                <a:ea typeface="Calibri" pitchFamily="34" charset="-122"/>
                <a:cs typeface="Calibri" pitchFamily="34" charset="-120"/>
              </a:rPr>
              <a:t>Prototyp mit KI-Unterstützung gebaut </a:t>
            </a:r>
          </a:p>
          <a:p>
            <a:pPr marL="0" indent="0">
              <a:buNone/>
            </a:pPr>
            <a:r>
              <a:rPr lang="de-DE" sz="1250" noProof="0" dirty="0">
                <a:solidFill>
                  <a:srgbClr val="374151"/>
                </a:solidFill>
                <a:latin typeface="Calibri" pitchFamily="34" charset="0"/>
                <a:ea typeface="Calibri" pitchFamily="34" charset="-122"/>
                <a:cs typeface="Calibri" pitchFamily="34" charset="-120"/>
                <a:sym typeface="Wingdings" panose="05000000000000000000" pitchFamily="2" charset="2"/>
              </a:rPr>
              <a:t> zwar </a:t>
            </a:r>
            <a:r>
              <a:rPr lang="de-DE" sz="1250" noProof="0" dirty="0">
                <a:solidFill>
                  <a:srgbClr val="374151"/>
                </a:solidFill>
                <a:latin typeface="Calibri" pitchFamily="34" charset="0"/>
                <a:ea typeface="Calibri" pitchFamily="34" charset="-122"/>
                <a:cs typeface="Calibri" pitchFamily="34" charset="-120"/>
              </a:rPr>
              <a:t>lauffähig, aber am Ziel vorbei</a:t>
            </a:r>
            <a:endParaRPr lang="de-DE" sz="1250" noProof="0" dirty="0"/>
          </a:p>
        </p:txBody>
      </p:sp>
      <p:sp>
        <p:nvSpPr>
          <p:cNvPr id="12" name="Shape 10"/>
          <p:cNvSpPr/>
          <p:nvPr/>
        </p:nvSpPr>
        <p:spPr>
          <a:xfrm>
            <a:off x="5132710" y="2160303"/>
            <a:ext cx="384048" cy="384048"/>
          </a:xfrm>
          <a:prstGeom prst="ellipse">
            <a:avLst/>
          </a:prstGeom>
          <a:solidFill>
            <a:srgbClr val="E23E3E"/>
          </a:solidFill>
          <a:ln/>
        </p:spPr>
        <p:txBody>
          <a:bodyPr/>
          <a:lstStyle/>
          <a:p>
            <a:endParaRPr lang="en-DE"/>
          </a:p>
        </p:txBody>
      </p:sp>
      <p:sp>
        <p:nvSpPr>
          <p:cNvPr id="13" name="Text 11"/>
          <p:cNvSpPr/>
          <p:nvPr/>
        </p:nvSpPr>
        <p:spPr>
          <a:xfrm>
            <a:off x="5132710" y="2160303"/>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5132710" y="2708943"/>
            <a:ext cx="1926275" cy="36576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Kurskorrektur</a:t>
            </a:r>
            <a:endParaRPr lang="en-US" sz="1600" dirty="0"/>
          </a:p>
        </p:txBody>
      </p:sp>
      <p:sp>
        <p:nvSpPr>
          <p:cNvPr id="15" name="Text 13"/>
          <p:cNvSpPr/>
          <p:nvPr/>
        </p:nvSpPr>
        <p:spPr>
          <a:xfrm>
            <a:off x="5132710" y="3120423"/>
            <a:ext cx="1926275" cy="1737360"/>
          </a:xfrm>
          <a:prstGeom prst="rect">
            <a:avLst/>
          </a:prstGeom>
          <a:noFill/>
          <a:ln/>
        </p:spPr>
        <p:txBody>
          <a:bodyPr wrap="square" lIns="0" tIns="0" rIns="0" bIns="0" rtlCol="0" anchor="t"/>
          <a:lstStyle/>
          <a:p>
            <a:pPr marL="0" indent="0">
              <a:buNone/>
            </a:pPr>
            <a:r>
              <a:rPr lang="en-US" sz="1250" dirty="0">
                <a:solidFill>
                  <a:srgbClr val="374151"/>
                </a:solidFill>
                <a:latin typeface="Calibri" pitchFamily="34" charset="0"/>
                <a:ea typeface="Calibri" pitchFamily="34" charset="-122"/>
                <a:cs typeface="Calibri" pitchFamily="34" charset="-120"/>
              </a:rPr>
              <a:t>Architektur verworfen und auf Capacitor neu aufgesetzt</a:t>
            </a:r>
            <a:endParaRPr lang="en-US" sz="1250" dirty="0"/>
          </a:p>
        </p:txBody>
      </p:sp>
      <p:sp>
        <p:nvSpPr>
          <p:cNvPr id="16" name="Shape 14"/>
          <p:cNvSpPr/>
          <p:nvPr/>
        </p:nvSpPr>
        <p:spPr>
          <a:xfrm>
            <a:off x="7379025" y="2160303"/>
            <a:ext cx="384048" cy="384048"/>
          </a:xfrm>
          <a:prstGeom prst="ellipse">
            <a:avLst/>
          </a:prstGeom>
          <a:solidFill>
            <a:srgbClr val="2F6FED"/>
          </a:solidFill>
          <a:ln/>
        </p:spPr>
        <p:txBody>
          <a:bodyPr/>
          <a:lstStyle/>
          <a:p>
            <a:endParaRPr lang="en-DE"/>
          </a:p>
        </p:txBody>
      </p:sp>
      <p:sp>
        <p:nvSpPr>
          <p:cNvPr id="17" name="Text 15"/>
          <p:cNvSpPr/>
          <p:nvPr/>
        </p:nvSpPr>
        <p:spPr>
          <a:xfrm>
            <a:off x="7379025" y="2160303"/>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7379025" y="2708943"/>
            <a:ext cx="1926275" cy="36576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Umsetzung</a:t>
            </a:r>
            <a:endParaRPr lang="en-US" sz="1600" dirty="0"/>
          </a:p>
        </p:txBody>
      </p:sp>
      <p:sp>
        <p:nvSpPr>
          <p:cNvPr id="19" name="Text 17"/>
          <p:cNvSpPr/>
          <p:nvPr/>
        </p:nvSpPr>
        <p:spPr>
          <a:xfrm>
            <a:off x="7379025" y="3120423"/>
            <a:ext cx="1926275" cy="1737360"/>
          </a:xfrm>
          <a:prstGeom prst="rect">
            <a:avLst/>
          </a:prstGeom>
          <a:noFill/>
          <a:ln/>
        </p:spPr>
        <p:txBody>
          <a:bodyPr wrap="square" lIns="0" tIns="0" rIns="0" bIns="0" rtlCol="0" anchor="t"/>
          <a:lstStyle/>
          <a:p>
            <a:pPr marL="0" indent="0">
              <a:buNone/>
            </a:pPr>
            <a:r>
              <a:rPr lang="en-US" sz="1250" dirty="0">
                <a:solidFill>
                  <a:srgbClr val="374151"/>
                </a:solidFill>
                <a:latin typeface="Calibri" pitchFamily="34" charset="0"/>
                <a:ea typeface="Calibri" pitchFamily="34" charset="-122"/>
                <a:cs typeface="Calibri" pitchFamily="34" charset="-120"/>
              </a:rPr>
              <a:t>Aufnahme, Wiedergabe, Dateiverwaltung und Oberfläche gebaut</a:t>
            </a:r>
            <a:endParaRPr lang="en-US" sz="1250" dirty="0"/>
          </a:p>
        </p:txBody>
      </p:sp>
      <p:sp>
        <p:nvSpPr>
          <p:cNvPr id="20" name="Shape 18"/>
          <p:cNvSpPr/>
          <p:nvPr/>
        </p:nvSpPr>
        <p:spPr>
          <a:xfrm>
            <a:off x="9625340" y="2160303"/>
            <a:ext cx="384048" cy="384048"/>
          </a:xfrm>
          <a:prstGeom prst="ellipse">
            <a:avLst/>
          </a:prstGeom>
          <a:solidFill>
            <a:srgbClr val="2F6FED"/>
          </a:solidFill>
          <a:ln/>
        </p:spPr>
        <p:txBody>
          <a:bodyPr/>
          <a:lstStyle/>
          <a:p>
            <a:endParaRPr lang="en-DE"/>
          </a:p>
        </p:txBody>
      </p:sp>
      <p:sp>
        <p:nvSpPr>
          <p:cNvPr id="21" name="Text 19"/>
          <p:cNvSpPr/>
          <p:nvPr/>
        </p:nvSpPr>
        <p:spPr>
          <a:xfrm>
            <a:off x="9625340" y="2160303"/>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p:nvPr/>
        </p:nvSpPr>
        <p:spPr>
          <a:xfrm>
            <a:off x="9625340" y="2708943"/>
            <a:ext cx="1926275" cy="36576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Absicherung</a:t>
            </a:r>
            <a:endParaRPr lang="en-US" sz="1600" dirty="0"/>
          </a:p>
        </p:txBody>
      </p:sp>
      <p:sp>
        <p:nvSpPr>
          <p:cNvPr id="23" name="Text 21"/>
          <p:cNvSpPr/>
          <p:nvPr/>
        </p:nvSpPr>
        <p:spPr>
          <a:xfrm>
            <a:off x="9625340" y="3120423"/>
            <a:ext cx="1926275" cy="1737360"/>
          </a:xfrm>
          <a:prstGeom prst="rect">
            <a:avLst/>
          </a:prstGeom>
          <a:noFill/>
          <a:ln/>
        </p:spPr>
        <p:txBody>
          <a:bodyPr wrap="square" lIns="0" tIns="0" rIns="0" bIns="0" rtlCol="0" anchor="t"/>
          <a:lstStyle/>
          <a:p>
            <a:pPr marL="0" indent="0">
              <a:buNone/>
            </a:pPr>
            <a:r>
              <a:rPr lang="en-US" sz="1250" dirty="0">
                <a:solidFill>
                  <a:srgbClr val="374151"/>
                </a:solidFill>
                <a:latin typeface="Calibri" pitchFamily="34" charset="0"/>
                <a:ea typeface="Calibri" pitchFamily="34" charset="-122"/>
                <a:cs typeface="Calibri" pitchFamily="34" charset="-120"/>
              </a:rPr>
              <a:t>Build geprüft, Repository bereinigt, auf Gerät getestet</a:t>
            </a:r>
            <a:endParaRPr lang="en-US" sz="1250" dirty="0"/>
          </a:p>
        </p:txBody>
      </p:sp>
      <p:sp>
        <p:nvSpPr>
          <p:cNvPr id="25" name="Text 23"/>
          <p:cNvSpPr/>
          <p:nvPr/>
        </p:nvSpPr>
        <p:spPr>
          <a:xfrm>
            <a:off x="1005840" y="4983480"/>
            <a:ext cx="10180015" cy="777240"/>
          </a:xfrm>
          <a:prstGeom prst="rect">
            <a:avLst/>
          </a:prstGeom>
          <a:noFill/>
          <a:ln/>
        </p:spPr>
        <p:txBody>
          <a:bodyPr wrap="square" lIns="0" tIns="0" rIns="0" bIns="0" rtlCol="0" anchor="ctr"/>
          <a:lstStyle/>
          <a:p>
            <a:pPr marL="0" indent="0">
              <a:buNone/>
            </a:pP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KI-Agenten als Werkzeug</a:t>
            </a:r>
            <a:endParaRPr lang="en-US" sz="3200" dirty="0"/>
          </a:p>
        </p:txBody>
      </p:sp>
      <p:sp>
        <p:nvSpPr>
          <p:cNvPr id="4" name="Text 2"/>
          <p:cNvSpPr/>
          <p:nvPr/>
        </p:nvSpPr>
        <p:spPr>
          <a:xfrm>
            <a:off x="932688" y="932688"/>
            <a:ext cx="10618927" cy="320040"/>
          </a:xfrm>
          <a:prstGeom prst="rect">
            <a:avLst/>
          </a:prstGeom>
          <a:noFill/>
          <a:ln/>
        </p:spPr>
        <p:txBody>
          <a:bodyPr wrap="square" lIns="0" tIns="0" rIns="0" bIns="0" rtlCol="0" anchor="ctr"/>
          <a:lstStyle/>
          <a:p>
            <a:pPr marL="0" indent="0">
              <a:buNone/>
            </a:pPr>
            <a:r>
              <a:rPr lang="de-DE" sz="1400" noProof="0" dirty="0">
                <a:solidFill>
                  <a:srgbClr val="6B7280"/>
                </a:solidFill>
                <a:latin typeface="Calibri" pitchFamily="34" charset="0"/>
                <a:ea typeface="Calibri" pitchFamily="34" charset="-122"/>
                <a:cs typeface="Calibri" pitchFamily="34" charset="-120"/>
              </a:rPr>
              <a:t>Claude und Gemini wurden durchgehend eingesetzt und zeigten dabei jeweils klare Stärken und Grenzen</a:t>
            </a:r>
            <a:endParaRPr lang="de-DE" sz="1400" noProof="0" dirty="0"/>
          </a:p>
        </p:txBody>
      </p:sp>
      <p:sp>
        <p:nvSpPr>
          <p:cNvPr id="5" name="Shape 3"/>
          <p:cNvSpPr/>
          <p:nvPr/>
        </p:nvSpPr>
        <p:spPr>
          <a:xfrm>
            <a:off x="640080" y="1600200"/>
            <a:ext cx="5227168" cy="2286000"/>
          </a:xfrm>
          <a:prstGeom prst="roundRect">
            <a:avLst>
              <a:gd name="adj" fmla="val 3200"/>
            </a:avLst>
          </a:prstGeom>
          <a:solidFill>
            <a:srgbClr val="F4F5F7"/>
          </a:solidFill>
          <a:ln/>
        </p:spPr>
        <p:txBody>
          <a:bodyPr/>
          <a:lstStyle/>
          <a:p>
            <a:endParaRPr lang="en-DE"/>
          </a:p>
        </p:txBody>
      </p:sp>
      <p:sp>
        <p:nvSpPr>
          <p:cNvPr id="6" name="Text 4"/>
          <p:cNvSpPr/>
          <p:nvPr/>
        </p:nvSpPr>
        <p:spPr>
          <a:xfrm>
            <a:off x="960120" y="1810512"/>
            <a:ext cx="4587088" cy="32004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Wobei es gut funktioniert hat</a:t>
            </a:r>
            <a:endParaRPr lang="en-US" sz="1500" dirty="0"/>
          </a:p>
        </p:txBody>
      </p:sp>
      <p:sp>
        <p:nvSpPr>
          <p:cNvPr id="7" name="Text 5"/>
          <p:cNvSpPr/>
          <p:nvPr/>
        </p:nvSpPr>
        <p:spPr>
          <a:xfrm>
            <a:off x="960120" y="2212848"/>
            <a:ext cx="4587088" cy="15544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Überblick über eine unbekannte Dateistruktur gewinnen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Plugin-Dokumentation zusammenfassen und einordnen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Fehlermeldungen einordnen, die nichts über die Ursache verraten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Routinearbeit: Konfiguration, Gerüstcode, Dokumentation</a:t>
            </a:r>
            <a:endParaRPr lang="en-US" sz="1250" dirty="0"/>
          </a:p>
        </p:txBody>
      </p:sp>
      <p:sp>
        <p:nvSpPr>
          <p:cNvPr id="8" name="Shape 6"/>
          <p:cNvSpPr/>
          <p:nvPr/>
        </p:nvSpPr>
        <p:spPr>
          <a:xfrm>
            <a:off x="6324448" y="1600200"/>
            <a:ext cx="5227168" cy="2286000"/>
          </a:xfrm>
          <a:prstGeom prst="roundRect">
            <a:avLst>
              <a:gd name="adj" fmla="val 3200"/>
            </a:avLst>
          </a:prstGeom>
          <a:solidFill>
            <a:srgbClr val="F4F5F7"/>
          </a:solidFill>
          <a:ln/>
        </p:spPr>
        <p:txBody>
          <a:bodyPr/>
          <a:lstStyle/>
          <a:p>
            <a:endParaRPr lang="en-DE"/>
          </a:p>
        </p:txBody>
      </p:sp>
      <p:sp>
        <p:nvSpPr>
          <p:cNvPr id="9" name="Text 7"/>
          <p:cNvSpPr/>
          <p:nvPr/>
        </p:nvSpPr>
        <p:spPr>
          <a:xfrm>
            <a:off x="6644488" y="1810512"/>
            <a:ext cx="4587088" cy="32004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Wo wir aufpassen mussten</a:t>
            </a:r>
            <a:endParaRPr lang="en-US" sz="1500" dirty="0"/>
          </a:p>
        </p:txBody>
      </p:sp>
      <p:sp>
        <p:nvSpPr>
          <p:cNvPr id="10" name="Text 8"/>
          <p:cNvSpPr/>
          <p:nvPr/>
        </p:nvSpPr>
        <p:spPr>
          <a:xfrm>
            <a:off x="6644488" y="2212848"/>
            <a:ext cx="4587088" cy="15544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Überzeugend formulierte Lösungen, die an der Aufgabe vorbeigehen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Veraltete Annahmen über Versionen und </a:t>
            </a:r>
            <a:r>
              <a:rPr lang="de-DE" sz="1250" noProof="0" dirty="0">
                <a:solidFill>
                  <a:srgbClr val="374151"/>
                </a:solidFill>
                <a:latin typeface="Calibri" pitchFamily="34" charset="0"/>
                <a:ea typeface="Calibri" pitchFamily="34" charset="-122"/>
                <a:cs typeface="Calibri" pitchFamily="34" charset="-120"/>
              </a:rPr>
              <a:t>Bezugsquellen</a:t>
            </a:r>
            <a:endParaRPr lang="en-US" sz="1250" dirty="0"/>
          </a:p>
          <a:p>
            <a:pPr marL="342900" indent="-342900">
              <a:spcAft>
                <a:spcPts val="700"/>
              </a:spcAft>
              <a:buSzPct val="100000"/>
              <a:buChar char="•"/>
            </a:pPr>
            <a:r>
              <a:rPr lang="en-US" sz="1250" dirty="0">
                <a:solidFill>
                  <a:srgbClr val="374151"/>
                </a:solidFill>
                <a:latin typeface="Calibri" pitchFamily="34" charset="0"/>
                <a:ea typeface="Calibri" pitchFamily="34" charset="-122"/>
                <a:cs typeface="Calibri" pitchFamily="34" charset="-120"/>
              </a:rPr>
              <a:t>Kein Ersatz für den Test auf echter Hardware</a:t>
            </a:r>
            <a:endParaRPr lang="en-US" sz="1250" dirty="0"/>
          </a:p>
        </p:txBody>
      </p:sp>
      <p:sp>
        <p:nvSpPr>
          <p:cNvPr id="11" name="Shape 9"/>
          <p:cNvSpPr/>
          <p:nvPr/>
        </p:nvSpPr>
        <p:spPr>
          <a:xfrm>
            <a:off x="640080" y="4114800"/>
            <a:ext cx="10911535" cy="1783080"/>
          </a:xfrm>
          <a:prstGeom prst="roundRect">
            <a:avLst>
              <a:gd name="adj" fmla="val 4103"/>
            </a:avLst>
          </a:prstGeom>
          <a:solidFill>
            <a:srgbClr val="0F1419"/>
          </a:solidFill>
          <a:ln/>
        </p:spPr>
        <p:txBody>
          <a:bodyPr/>
          <a:lstStyle/>
          <a:p>
            <a:endParaRPr lang="en-DE" dirty="0"/>
          </a:p>
        </p:txBody>
      </p:sp>
      <p:sp>
        <p:nvSpPr>
          <p:cNvPr id="12" name="Shape 10"/>
          <p:cNvSpPr/>
          <p:nvPr/>
        </p:nvSpPr>
        <p:spPr>
          <a:xfrm>
            <a:off x="1005840" y="4416552"/>
            <a:ext cx="146304" cy="146304"/>
          </a:xfrm>
          <a:prstGeom prst="ellipse">
            <a:avLst/>
          </a:prstGeom>
          <a:solidFill>
            <a:srgbClr val="E23E3E"/>
          </a:solidFill>
          <a:ln/>
        </p:spPr>
        <p:txBody>
          <a:bodyPr/>
          <a:lstStyle/>
          <a:p>
            <a:endParaRPr lang="en-DE"/>
          </a:p>
        </p:txBody>
      </p:sp>
      <p:sp>
        <p:nvSpPr>
          <p:cNvPr id="13" name="Text 11"/>
          <p:cNvSpPr/>
          <p:nvPr/>
        </p:nvSpPr>
        <p:spPr>
          <a:xfrm>
            <a:off x="1298448" y="4315968"/>
            <a:ext cx="9814255"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Unsere Regel daraus</a:t>
            </a:r>
            <a:endParaRPr lang="en-US" sz="1500" dirty="0"/>
          </a:p>
        </p:txBody>
      </p:sp>
      <p:sp>
        <p:nvSpPr>
          <p:cNvPr id="14" name="Text 12"/>
          <p:cNvSpPr/>
          <p:nvPr/>
        </p:nvSpPr>
        <p:spPr>
          <a:xfrm>
            <a:off x="1005840" y="4754880"/>
            <a:ext cx="10180015" cy="960120"/>
          </a:xfrm>
          <a:prstGeom prst="rect">
            <a:avLst/>
          </a:prstGeom>
          <a:noFill/>
          <a:ln/>
        </p:spPr>
        <p:txBody>
          <a:bodyPr wrap="square" lIns="0" tIns="0" rIns="0" bIns="0" rtlCol="0" anchor="t"/>
          <a:lstStyle/>
          <a:p>
            <a:pPr marL="0" indent="0">
              <a:buNone/>
            </a:pPr>
            <a:r>
              <a:rPr lang="de-DE" sz="1350" noProof="0" dirty="0">
                <a:solidFill>
                  <a:srgbClr val="D1D5DB"/>
                </a:solidFill>
                <a:latin typeface="Calibri" pitchFamily="34" charset="0"/>
                <a:ea typeface="Calibri" pitchFamily="34" charset="-122"/>
                <a:cs typeface="Calibri" pitchFamily="34" charset="-120"/>
              </a:rPr>
              <a:t>Ein Agent liefert einen Vorschlag, kein Ergebnis. Entscheidend ist die Aufgabenstellung, nicht ob der Code läuft. Nach jeder Kurskorrektur haben wir jede Anforderung systematisch mit dem Code abgeglichen.  </a:t>
            </a:r>
            <a:endParaRPr lang="de-DE" sz="1350"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Problem 1: Die Lösung war fertig und falsch</a:t>
            </a:r>
            <a:endParaRPr lang="en-US" sz="3200" dirty="0"/>
          </a:p>
        </p:txBody>
      </p:sp>
      <p:sp>
        <p:nvSpPr>
          <p:cNvPr id="4" name="Shape 2"/>
          <p:cNvSpPr/>
          <p:nvPr/>
        </p:nvSpPr>
        <p:spPr>
          <a:xfrm>
            <a:off x="640080" y="1554480"/>
            <a:ext cx="5227168" cy="3200400"/>
          </a:xfrm>
          <a:prstGeom prst="roundRect">
            <a:avLst>
              <a:gd name="adj" fmla="val 2286"/>
            </a:avLst>
          </a:prstGeom>
          <a:solidFill>
            <a:srgbClr val="F4F5F7"/>
          </a:solidFill>
          <a:ln/>
        </p:spPr>
        <p:txBody>
          <a:bodyPr/>
          <a:lstStyle/>
          <a:p>
            <a:endParaRPr lang="en-DE"/>
          </a:p>
        </p:txBody>
      </p:sp>
      <p:sp>
        <p:nvSpPr>
          <p:cNvPr id="5" name="Text 3"/>
          <p:cNvSpPr/>
          <p:nvPr/>
        </p:nvSpPr>
        <p:spPr>
          <a:xfrm>
            <a:off x="960120" y="1783080"/>
            <a:ext cx="4587088" cy="320040"/>
          </a:xfrm>
          <a:prstGeom prst="rect">
            <a:avLst/>
          </a:prstGeom>
          <a:noFill/>
          <a:ln/>
        </p:spPr>
        <p:txBody>
          <a:bodyPr wrap="square" lIns="0" tIns="0" rIns="0" bIns="0" rtlCol="0" anchor="ctr"/>
          <a:lstStyle/>
          <a:p>
            <a:pPr marL="0" indent="0">
              <a:buNone/>
            </a:pPr>
            <a:r>
              <a:rPr lang="en-US" sz="1500" b="1" dirty="0">
                <a:solidFill>
                  <a:srgbClr val="E23E3E"/>
                </a:solidFill>
                <a:latin typeface="Calibri" pitchFamily="34" charset="0"/>
                <a:ea typeface="Calibri" pitchFamily="34" charset="-122"/>
                <a:cs typeface="Calibri" pitchFamily="34" charset="-120"/>
              </a:rPr>
              <a:t>Was wir hatten</a:t>
            </a:r>
            <a:endParaRPr lang="en-US" sz="1500" dirty="0"/>
          </a:p>
        </p:txBody>
      </p:sp>
      <p:sp>
        <p:nvSpPr>
          <p:cNvPr id="6" name="Text 4"/>
          <p:cNvSpPr/>
          <p:nvPr/>
        </p:nvSpPr>
        <p:spPr>
          <a:xfrm>
            <a:off x="960120" y="2194560"/>
            <a:ext cx="4587088" cy="22860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374151"/>
                </a:solidFill>
                <a:latin typeface="Calibri" pitchFamily="34" charset="0"/>
                <a:ea typeface="Calibri" pitchFamily="34" charset="-122"/>
                <a:cs typeface="Calibri" pitchFamily="34" charset="-120"/>
              </a:rPr>
              <a:t>Eine native Android-App in Kotlin</a:t>
            </a:r>
            <a:endParaRPr lang="en-US" sz="1350" dirty="0"/>
          </a:p>
          <a:p>
            <a:pPr marL="342900" indent="-342900">
              <a:spcAft>
                <a:spcPts val="900"/>
              </a:spcAft>
              <a:buSzPct val="100000"/>
              <a:buChar char="•"/>
            </a:pPr>
            <a:r>
              <a:rPr lang="en-US" sz="1350" dirty="0">
                <a:solidFill>
                  <a:srgbClr val="374151"/>
                </a:solidFill>
                <a:latin typeface="Calibri" pitchFamily="34" charset="0"/>
                <a:ea typeface="Calibri" pitchFamily="34" charset="-122"/>
                <a:cs typeface="Calibri" pitchFamily="34" charset="-120"/>
              </a:rPr>
              <a:t>Alle elf Anforderungen sichtbar erfüllt</a:t>
            </a:r>
            <a:endParaRPr lang="en-US" sz="1350" dirty="0"/>
          </a:p>
          <a:p>
            <a:pPr marL="342900" indent="-342900">
              <a:spcAft>
                <a:spcPts val="900"/>
              </a:spcAft>
              <a:buSzPct val="100000"/>
              <a:buChar char="•"/>
            </a:pPr>
            <a:r>
              <a:rPr lang="en-US" sz="1350" dirty="0">
                <a:solidFill>
                  <a:srgbClr val="374151"/>
                </a:solidFill>
                <a:latin typeface="Calibri" pitchFamily="34" charset="0"/>
                <a:ea typeface="Calibri" pitchFamily="34" charset="-122"/>
                <a:cs typeface="Calibri" pitchFamily="34" charset="-120"/>
              </a:rPr>
              <a:t>Lief einwandfrei auf dem Gerät</a:t>
            </a:r>
            <a:endParaRPr lang="en-US" sz="1350" dirty="0"/>
          </a:p>
          <a:p>
            <a:pPr marL="342900" indent="-342900">
              <a:spcAft>
                <a:spcPts val="900"/>
              </a:spcAft>
              <a:buSzPct val="100000"/>
              <a:buChar char="•"/>
            </a:pPr>
            <a:r>
              <a:rPr lang="en-US" sz="1350" dirty="0">
                <a:solidFill>
                  <a:srgbClr val="374151"/>
                </a:solidFill>
                <a:latin typeface="Calibri" pitchFamily="34" charset="0"/>
                <a:ea typeface="Calibri" pitchFamily="34" charset="-122"/>
                <a:cs typeface="Calibri" pitchFamily="34" charset="-120"/>
              </a:rPr>
              <a:t>Die Plugins waren nachgebaut statt eingebunden</a:t>
            </a:r>
            <a:endParaRPr lang="en-US" sz="1350" dirty="0"/>
          </a:p>
        </p:txBody>
      </p:sp>
      <p:sp>
        <p:nvSpPr>
          <p:cNvPr id="7" name="Shape 5"/>
          <p:cNvSpPr/>
          <p:nvPr/>
        </p:nvSpPr>
        <p:spPr>
          <a:xfrm>
            <a:off x="6324448" y="1554480"/>
            <a:ext cx="5227168" cy="3200400"/>
          </a:xfrm>
          <a:prstGeom prst="roundRect">
            <a:avLst>
              <a:gd name="adj" fmla="val 2286"/>
            </a:avLst>
          </a:prstGeom>
          <a:solidFill>
            <a:srgbClr val="0F1419"/>
          </a:solidFill>
          <a:ln/>
        </p:spPr>
        <p:txBody>
          <a:bodyPr/>
          <a:lstStyle/>
          <a:p>
            <a:endParaRPr lang="en-DE"/>
          </a:p>
        </p:txBody>
      </p:sp>
      <p:sp>
        <p:nvSpPr>
          <p:cNvPr id="8" name="Text 6"/>
          <p:cNvSpPr/>
          <p:nvPr/>
        </p:nvSpPr>
        <p:spPr>
          <a:xfrm>
            <a:off x="6644488" y="1783080"/>
            <a:ext cx="4587088"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Was gefordert war</a:t>
            </a:r>
            <a:endParaRPr lang="en-US" sz="1500" dirty="0"/>
          </a:p>
        </p:txBody>
      </p:sp>
      <p:sp>
        <p:nvSpPr>
          <p:cNvPr id="9" name="Text 7"/>
          <p:cNvSpPr/>
          <p:nvPr/>
        </p:nvSpPr>
        <p:spPr>
          <a:xfrm>
            <a:off x="6644488" y="2194560"/>
            <a:ext cx="4587088" cy="22860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rgbClr val="E5E7EB"/>
                </a:solidFill>
                <a:latin typeface="Calibri" pitchFamily="34" charset="0"/>
                <a:ea typeface="Calibri" pitchFamily="34" charset="-122"/>
                <a:cs typeface="Calibri" pitchFamily="34" charset="-120"/>
              </a:rPr>
              <a:t>Eine hybride App mit Ionic Capacitor</a:t>
            </a:r>
            <a:endParaRPr lang="en-US" sz="1350" dirty="0"/>
          </a:p>
          <a:p>
            <a:pPr marL="342900" indent="-342900">
              <a:spcAft>
                <a:spcPts val="900"/>
              </a:spcAft>
              <a:buSzPct val="100000"/>
              <a:buChar char="•"/>
            </a:pPr>
            <a:r>
              <a:rPr lang="en-US" sz="1350" dirty="0">
                <a:solidFill>
                  <a:srgbClr val="E5E7EB"/>
                </a:solidFill>
                <a:latin typeface="Calibri" pitchFamily="34" charset="0"/>
                <a:ea typeface="Calibri" pitchFamily="34" charset="-122"/>
                <a:cs typeface="Calibri" pitchFamily="34" charset="-120"/>
              </a:rPr>
              <a:t>Die fünf genannten Plugins im Einsatz</a:t>
            </a:r>
            <a:endParaRPr lang="en-US" sz="1350" dirty="0"/>
          </a:p>
          <a:p>
            <a:pPr marL="342900" indent="-342900">
              <a:spcAft>
                <a:spcPts val="900"/>
              </a:spcAft>
              <a:buSzPct val="100000"/>
              <a:buChar char="•"/>
            </a:pPr>
            <a:r>
              <a:rPr lang="en-US" sz="1350" dirty="0">
                <a:solidFill>
                  <a:srgbClr val="E5E7EB"/>
                </a:solidFill>
                <a:latin typeface="Calibri" pitchFamily="34" charset="0"/>
                <a:ea typeface="Calibri" pitchFamily="34" charset="-122"/>
                <a:cs typeface="Calibri" pitchFamily="34" charset="-120"/>
              </a:rPr>
              <a:t>Modul heißt „Hybride App-Entwicklung"</a:t>
            </a:r>
            <a:endParaRPr lang="en-US" sz="1350" dirty="0"/>
          </a:p>
          <a:p>
            <a:pPr marL="342900" indent="-342900">
              <a:spcAft>
                <a:spcPts val="900"/>
              </a:spcAft>
              <a:buSzPct val="100000"/>
              <a:buChar char="•"/>
            </a:pPr>
            <a:r>
              <a:rPr lang="en-US" sz="1350" dirty="0">
                <a:solidFill>
                  <a:srgbClr val="E5E7EB"/>
                </a:solidFill>
                <a:latin typeface="Calibri" pitchFamily="34" charset="0"/>
                <a:ea typeface="Calibri" pitchFamily="34" charset="-122"/>
                <a:cs typeface="Calibri" pitchFamily="34" charset="-120"/>
              </a:rPr>
              <a:t>Die Lizenzschlüssel ergeben nur mit den echten Plugins Sinn</a:t>
            </a:r>
            <a:endParaRPr lang="en-US" sz="1350" dirty="0"/>
          </a:p>
        </p:txBody>
      </p:sp>
      <p:sp>
        <p:nvSpPr>
          <p:cNvPr id="10" name="Text 8"/>
          <p:cNvSpPr/>
          <p:nvPr/>
        </p:nvSpPr>
        <p:spPr>
          <a:xfrm>
            <a:off x="640080" y="5029200"/>
            <a:ext cx="10911535" cy="822960"/>
          </a:xfrm>
          <a:prstGeom prst="rect">
            <a:avLst/>
          </a:prstGeom>
          <a:noFill/>
          <a:ln/>
        </p:spPr>
        <p:txBody>
          <a:bodyPr wrap="square" lIns="0" tIns="0" rIns="0" bIns="0" rtlCol="0" anchor="ctr"/>
          <a:lstStyle/>
          <a:p>
            <a:pPr marL="0" indent="0">
              <a:buNone/>
            </a:pPr>
            <a:r>
              <a:rPr lang="en-US" sz="1900" i="1" dirty="0">
                <a:solidFill>
                  <a:srgbClr val="111827"/>
                </a:solidFill>
                <a:latin typeface="Cambria" pitchFamily="34" charset="0"/>
                <a:ea typeface="Cambria" pitchFamily="34" charset="-122"/>
                <a:cs typeface="Cambria" pitchFamily="34" charset="-120"/>
              </a:rPr>
              <a:t>Eine App, die tut was sie soll, kann die Aufgabe trotzdem verfehlen. „Funktioniert" ist kein Abnahmekriterium.</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Problem 2: Die Werkzeugkette</a:t>
            </a:r>
            <a:endParaRPr lang="en-US" sz="3200" dirty="0"/>
          </a:p>
        </p:txBody>
      </p:sp>
      <p:sp>
        <p:nvSpPr>
          <p:cNvPr id="4" name="Text 2"/>
          <p:cNvSpPr/>
          <p:nvPr/>
        </p:nvSpPr>
        <p:spPr>
          <a:xfrm>
            <a:off x="932688" y="932688"/>
            <a:ext cx="10618927" cy="320040"/>
          </a:xfrm>
          <a:prstGeom prst="rect">
            <a:avLst/>
          </a:prstGeom>
          <a:noFill/>
          <a:ln/>
        </p:spPr>
        <p:txBody>
          <a:bodyPr wrap="square" lIns="0" tIns="0" rIns="0" bIns="0" rtlCol="0" anchor="ctr"/>
          <a:lstStyle/>
          <a:p>
            <a:pPr marL="0" indent="0">
              <a:buNone/>
            </a:pPr>
            <a:r>
              <a:rPr lang="en-US" sz="1400" dirty="0">
                <a:solidFill>
                  <a:srgbClr val="6B7280"/>
                </a:solidFill>
                <a:latin typeface="Calibri" pitchFamily="34" charset="0"/>
                <a:ea typeface="Calibri" pitchFamily="34" charset="-122"/>
                <a:cs typeface="Calibri" pitchFamily="34" charset="-120"/>
              </a:rPr>
              <a:t>Zwei Blocker, die nichts mit unserem Code zu tun hatten</a:t>
            </a:r>
            <a:endParaRPr lang="en-US" sz="1400" dirty="0"/>
          </a:p>
        </p:txBody>
      </p:sp>
      <p:sp>
        <p:nvSpPr>
          <p:cNvPr id="5" name="Shape 3"/>
          <p:cNvSpPr/>
          <p:nvPr/>
        </p:nvSpPr>
        <p:spPr>
          <a:xfrm>
            <a:off x="640080" y="1645920"/>
            <a:ext cx="5227168" cy="4023360"/>
          </a:xfrm>
          <a:prstGeom prst="roundRect">
            <a:avLst>
              <a:gd name="adj" fmla="val 1818"/>
            </a:avLst>
          </a:prstGeom>
          <a:solidFill>
            <a:srgbClr val="F4F5F7"/>
          </a:solidFill>
          <a:ln/>
        </p:spPr>
        <p:txBody>
          <a:bodyPr/>
          <a:lstStyle/>
          <a:p>
            <a:endParaRPr lang="en-DE" dirty="0"/>
          </a:p>
        </p:txBody>
      </p:sp>
      <p:sp>
        <p:nvSpPr>
          <p:cNvPr id="6" name="Shape 4"/>
          <p:cNvSpPr/>
          <p:nvPr/>
        </p:nvSpPr>
        <p:spPr>
          <a:xfrm>
            <a:off x="960120" y="1874520"/>
            <a:ext cx="384048" cy="384048"/>
          </a:xfrm>
          <a:prstGeom prst="ellipse">
            <a:avLst/>
          </a:prstGeom>
          <a:solidFill>
            <a:srgbClr val="2F6FED"/>
          </a:solidFill>
          <a:ln/>
        </p:spPr>
        <p:txBody>
          <a:bodyPr/>
          <a:lstStyle/>
          <a:p>
            <a:endParaRPr lang="en-DE"/>
          </a:p>
        </p:txBody>
      </p:sp>
      <p:sp>
        <p:nvSpPr>
          <p:cNvPr id="7" name="Text 5"/>
          <p:cNvSpPr/>
          <p:nvPr/>
        </p:nvSpPr>
        <p:spPr>
          <a:xfrm>
            <a:off x="960120"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63040" y="1874520"/>
            <a:ext cx="4084168" cy="41148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Die Bezugsquelle war umgezogen</a:t>
            </a:r>
            <a:endParaRPr lang="en-US" sz="1500" dirty="0"/>
          </a:p>
        </p:txBody>
      </p:sp>
      <p:sp>
        <p:nvSpPr>
          <p:cNvPr id="9" name="Text 7"/>
          <p:cNvSpPr/>
          <p:nvPr/>
        </p:nvSpPr>
        <p:spPr>
          <a:xfrm>
            <a:off x="960120" y="2423160"/>
            <a:ext cx="4587088" cy="3017520"/>
          </a:xfrm>
          <a:prstGeom prst="rect">
            <a:avLst/>
          </a:prstGeom>
          <a:noFill/>
          <a:ln/>
        </p:spPr>
        <p:txBody>
          <a:bodyPr wrap="square" lIns="0" tIns="0" rIns="0" bIns="0" rtlCol="0" anchor="t"/>
          <a:lstStyle/>
          <a:p>
            <a:pPr marL="0" indent="0">
              <a:buNone/>
            </a:pPr>
            <a:r>
              <a:rPr lang="de-DE" sz="1300" noProof="0" dirty="0"/>
              <a:t>Die beiden kostenpflichtigen Plugins werden über eine private Paketquelle bezogen. Die im Kurs hinterlegte Adresse war nicht mehr gültig und verwies auf eine geparkte Domain mit abgelaufenem Zertifikat.</a:t>
            </a:r>
            <a:br>
              <a:rPr lang="de-DE" sz="1300" noProof="0" dirty="0"/>
            </a:br>
            <a:br>
              <a:rPr lang="de-DE" sz="1300" noProof="0" dirty="0"/>
            </a:br>
            <a:r>
              <a:rPr lang="de-DE" sz="1300" noProof="0" dirty="0"/>
              <a:t>Die Fehlermeldung deutete daher fälschlicherweise auf ein Zertifikatsproblem hin. Die eigentliche Ursache war die veraltete Repository-Adresse, die durch die aktuelle Adresse aus der Anbieterdokumentation ersetzt wurde.  </a:t>
            </a:r>
          </a:p>
        </p:txBody>
      </p:sp>
      <p:sp>
        <p:nvSpPr>
          <p:cNvPr id="10" name="Shape 8"/>
          <p:cNvSpPr/>
          <p:nvPr/>
        </p:nvSpPr>
        <p:spPr>
          <a:xfrm>
            <a:off x="6324448" y="1645920"/>
            <a:ext cx="5227168" cy="4023360"/>
          </a:xfrm>
          <a:prstGeom prst="roundRect">
            <a:avLst>
              <a:gd name="adj" fmla="val 1818"/>
            </a:avLst>
          </a:prstGeom>
          <a:solidFill>
            <a:srgbClr val="F4F5F7"/>
          </a:solidFill>
          <a:ln/>
        </p:spPr>
        <p:txBody>
          <a:bodyPr/>
          <a:lstStyle/>
          <a:p>
            <a:endParaRPr lang="en-DE"/>
          </a:p>
        </p:txBody>
      </p:sp>
      <p:sp>
        <p:nvSpPr>
          <p:cNvPr id="11" name="Shape 9"/>
          <p:cNvSpPr/>
          <p:nvPr/>
        </p:nvSpPr>
        <p:spPr>
          <a:xfrm>
            <a:off x="6644488" y="1874520"/>
            <a:ext cx="384048" cy="384048"/>
          </a:xfrm>
          <a:prstGeom prst="ellipse">
            <a:avLst/>
          </a:prstGeom>
          <a:solidFill>
            <a:srgbClr val="2F6FED"/>
          </a:solidFill>
          <a:ln/>
        </p:spPr>
        <p:txBody>
          <a:bodyPr/>
          <a:lstStyle/>
          <a:p>
            <a:endParaRPr lang="en-DE"/>
          </a:p>
        </p:txBody>
      </p:sp>
      <p:sp>
        <p:nvSpPr>
          <p:cNvPr id="12" name="Text 10"/>
          <p:cNvSpPr/>
          <p:nvPr/>
        </p:nvSpPr>
        <p:spPr>
          <a:xfrm>
            <a:off x="6644488"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7147408" y="1874520"/>
            <a:ext cx="4084168" cy="41148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Die Java-Version zwischen zwei Stühlen</a:t>
            </a:r>
            <a:endParaRPr lang="en-US" sz="1500" dirty="0"/>
          </a:p>
        </p:txBody>
      </p:sp>
      <p:sp>
        <p:nvSpPr>
          <p:cNvPr id="14" name="Text 12"/>
          <p:cNvSpPr/>
          <p:nvPr/>
        </p:nvSpPr>
        <p:spPr>
          <a:xfrm>
            <a:off x="6644488" y="2423160"/>
            <a:ext cx="4587088" cy="3017520"/>
          </a:xfrm>
          <a:prstGeom prst="rect">
            <a:avLst/>
          </a:prstGeom>
          <a:noFill/>
          <a:ln/>
        </p:spPr>
        <p:txBody>
          <a:bodyPr wrap="square" lIns="0" tIns="0" rIns="0" bIns="0" rtlCol="0" anchor="t"/>
          <a:lstStyle/>
          <a:p>
            <a:pPr marL="0" indent="0">
              <a:buNone/>
            </a:pPr>
            <a:r>
              <a:rPr lang="de-DE" sz="1300" noProof="0" dirty="0">
                <a:solidFill>
                  <a:srgbClr val="374151"/>
                </a:solidFill>
                <a:latin typeface="Calibri" pitchFamily="34" charset="0"/>
                <a:ea typeface="Calibri" pitchFamily="34" charset="-122"/>
                <a:cs typeface="Calibri" pitchFamily="34" charset="-120"/>
              </a:rPr>
              <a:t>Der </a:t>
            </a:r>
            <a:r>
              <a:rPr lang="de-DE" sz="1300" noProof="0" dirty="0" err="1">
                <a:solidFill>
                  <a:srgbClr val="374151"/>
                </a:solidFill>
                <a:latin typeface="Calibri" pitchFamily="34" charset="0"/>
                <a:ea typeface="Calibri" pitchFamily="34" charset="-122"/>
                <a:cs typeface="Calibri" pitchFamily="34" charset="-120"/>
              </a:rPr>
              <a:t>Build</a:t>
            </a:r>
            <a:r>
              <a:rPr lang="de-DE" sz="1300" noProof="0" dirty="0">
                <a:solidFill>
                  <a:srgbClr val="374151"/>
                </a:solidFill>
                <a:latin typeface="Calibri" pitchFamily="34" charset="0"/>
                <a:ea typeface="Calibri" pitchFamily="34" charset="-122"/>
                <a:cs typeface="Calibri" pitchFamily="34" charset="-120"/>
              </a:rPr>
              <a:t> erfordert eine spezifische Java-Version. Sowohl ältere als auch neuere Versionen führten zu Fehlern, deren Meldungen die tatsächliche Ursache nicht erkennen ließen.  </a:t>
            </a:r>
          </a:p>
          <a:p>
            <a:pPr marL="0" indent="0">
              <a:buNone/>
            </a:pPr>
            <a:endParaRPr lang="de-DE" sz="1300" dirty="0">
              <a:solidFill>
                <a:srgbClr val="374151"/>
              </a:solidFill>
              <a:latin typeface="Calibri" pitchFamily="34" charset="0"/>
              <a:ea typeface="Calibri" pitchFamily="34" charset="-122"/>
              <a:cs typeface="Calibri" pitchFamily="34" charset="-120"/>
            </a:endParaRPr>
          </a:p>
          <a:p>
            <a:pPr marL="0" indent="0">
              <a:buNone/>
            </a:pPr>
            <a:r>
              <a:rPr lang="de-DE" sz="1300" noProof="0" dirty="0">
                <a:solidFill>
                  <a:srgbClr val="374151"/>
                </a:solidFill>
                <a:latin typeface="Calibri" pitchFamily="34" charset="0"/>
                <a:ea typeface="Calibri" pitchFamily="34" charset="-122"/>
                <a:cs typeface="Calibri" pitchFamily="34" charset="-120"/>
              </a:rPr>
              <a:t>Zur Behebung wurde die benötigte Java-Version fest im Projekt definiert. Das </a:t>
            </a:r>
            <a:r>
              <a:rPr lang="de-DE" sz="1300" noProof="0" dirty="0" err="1">
                <a:solidFill>
                  <a:srgbClr val="374151"/>
                </a:solidFill>
                <a:latin typeface="Calibri" pitchFamily="34" charset="0"/>
                <a:ea typeface="Calibri" pitchFamily="34" charset="-122"/>
                <a:cs typeface="Calibri" pitchFamily="34" charset="-120"/>
              </a:rPr>
              <a:t>Build</a:t>
            </a:r>
            <a:r>
              <a:rPr lang="de-DE" sz="1300" noProof="0" dirty="0">
                <a:solidFill>
                  <a:srgbClr val="374151"/>
                </a:solidFill>
                <a:latin typeface="Calibri" pitchFamily="34" charset="0"/>
                <a:ea typeface="Calibri" pitchFamily="34" charset="-122"/>
                <a:cs typeface="Calibri" pitchFamily="34" charset="-120"/>
              </a:rPr>
              <a:t>-System lädt diese automatisch herunter und stellt so reproduzierbare </a:t>
            </a:r>
            <a:r>
              <a:rPr lang="de-DE" sz="1300" noProof="0" dirty="0" err="1">
                <a:solidFill>
                  <a:srgbClr val="374151"/>
                </a:solidFill>
                <a:latin typeface="Calibri" pitchFamily="34" charset="0"/>
                <a:ea typeface="Calibri" pitchFamily="34" charset="-122"/>
                <a:cs typeface="Calibri" pitchFamily="34" charset="-120"/>
              </a:rPr>
              <a:t>Builds</a:t>
            </a:r>
            <a:r>
              <a:rPr lang="de-DE" sz="1300" noProof="0" dirty="0">
                <a:solidFill>
                  <a:srgbClr val="374151"/>
                </a:solidFill>
                <a:latin typeface="Calibri" pitchFamily="34" charset="0"/>
                <a:ea typeface="Calibri" pitchFamily="34" charset="-122"/>
                <a:cs typeface="Calibri" pitchFamily="34" charset="-120"/>
              </a:rPr>
              <a:t> auf jedem Rechner sicher.  </a:t>
            </a:r>
            <a:endParaRPr lang="de-DE" sz="130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Problem 3: Eigenheiten der Plattform</a:t>
            </a:r>
            <a:endParaRPr lang="en-US" sz="3200" dirty="0"/>
          </a:p>
        </p:txBody>
      </p:sp>
      <p:sp>
        <p:nvSpPr>
          <p:cNvPr id="4" name="Shape 2"/>
          <p:cNvSpPr/>
          <p:nvPr/>
        </p:nvSpPr>
        <p:spPr>
          <a:xfrm>
            <a:off x="640080" y="1600200"/>
            <a:ext cx="10911535" cy="1371600"/>
          </a:xfrm>
          <a:prstGeom prst="roundRect">
            <a:avLst>
              <a:gd name="adj" fmla="val 5333"/>
            </a:avLst>
          </a:prstGeom>
          <a:solidFill>
            <a:srgbClr val="F4F5F7"/>
          </a:solidFill>
          <a:ln/>
        </p:spPr>
        <p:txBody>
          <a:bodyPr/>
          <a:lstStyle/>
          <a:p>
            <a:endParaRPr lang="en-DE"/>
          </a:p>
        </p:txBody>
      </p:sp>
      <p:sp>
        <p:nvSpPr>
          <p:cNvPr id="5" name="Shape 3"/>
          <p:cNvSpPr/>
          <p:nvPr/>
        </p:nvSpPr>
        <p:spPr>
          <a:xfrm>
            <a:off x="960120" y="1892808"/>
            <a:ext cx="384048" cy="384048"/>
          </a:xfrm>
          <a:prstGeom prst="ellipse">
            <a:avLst/>
          </a:prstGeom>
          <a:solidFill>
            <a:srgbClr val="2F6FED"/>
          </a:solidFill>
          <a:ln/>
        </p:spPr>
        <p:txBody>
          <a:bodyPr/>
          <a:lstStyle/>
          <a:p>
            <a:endParaRPr lang="en-DE"/>
          </a:p>
        </p:txBody>
      </p:sp>
      <p:sp>
        <p:nvSpPr>
          <p:cNvPr id="6" name="Text 4"/>
          <p:cNvSpPr/>
          <p:nvPr/>
        </p:nvSpPr>
        <p:spPr>
          <a:xfrm>
            <a:off x="960120" y="189280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508760" y="1801368"/>
            <a:ext cx="9677095" cy="32004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Teilen scheiterte am Sicherheitsmodell</a:t>
            </a:r>
            <a:endParaRPr lang="en-US" sz="1500" dirty="0"/>
          </a:p>
        </p:txBody>
      </p:sp>
      <p:sp>
        <p:nvSpPr>
          <p:cNvPr id="8" name="Text 6"/>
          <p:cNvSpPr/>
          <p:nvPr/>
        </p:nvSpPr>
        <p:spPr>
          <a:xfrm>
            <a:off x="1508760" y="2148840"/>
            <a:ext cx="9677095" cy="731520"/>
          </a:xfrm>
          <a:prstGeom prst="rect">
            <a:avLst/>
          </a:prstGeom>
          <a:noFill/>
          <a:ln/>
        </p:spPr>
        <p:txBody>
          <a:bodyPr wrap="square" lIns="0" tIns="0" rIns="0" bIns="0" rtlCol="0" anchor="t"/>
          <a:lstStyle/>
          <a:p>
            <a:pPr marL="0" indent="0">
              <a:buNone/>
            </a:pPr>
            <a:r>
              <a:rPr lang="de-DE" sz="1250" noProof="0" dirty="0"/>
              <a:t>Android verbietet es, den eigenen Dateipfad an eine fremde App weiterzugeben. Stattdessen muss ein kontrollierter und explizit freigegebener Zugriffweg verwendet werden. Ohne diese Freigabe schlägt das Teilen fehl, die Fehlermeldung nennt jedoch lediglich eine Ausnahme und nicht die eigentliche Ursache.  </a:t>
            </a:r>
          </a:p>
        </p:txBody>
      </p:sp>
      <p:sp>
        <p:nvSpPr>
          <p:cNvPr id="9" name="Shape 7"/>
          <p:cNvSpPr/>
          <p:nvPr/>
        </p:nvSpPr>
        <p:spPr>
          <a:xfrm>
            <a:off x="640080" y="3108960"/>
            <a:ext cx="10911535" cy="1371600"/>
          </a:xfrm>
          <a:prstGeom prst="roundRect">
            <a:avLst>
              <a:gd name="adj" fmla="val 5333"/>
            </a:avLst>
          </a:prstGeom>
          <a:solidFill>
            <a:srgbClr val="F4F5F7"/>
          </a:solidFill>
          <a:ln/>
        </p:spPr>
        <p:txBody>
          <a:bodyPr/>
          <a:lstStyle/>
          <a:p>
            <a:endParaRPr lang="en-DE"/>
          </a:p>
        </p:txBody>
      </p:sp>
      <p:sp>
        <p:nvSpPr>
          <p:cNvPr id="10" name="Shape 8"/>
          <p:cNvSpPr/>
          <p:nvPr/>
        </p:nvSpPr>
        <p:spPr>
          <a:xfrm>
            <a:off x="960120" y="3401568"/>
            <a:ext cx="384048" cy="384048"/>
          </a:xfrm>
          <a:prstGeom prst="ellipse">
            <a:avLst/>
          </a:prstGeom>
          <a:solidFill>
            <a:srgbClr val="E23E3E"/>
          </a:solidFill>
          <a:ln/>
        </p:spPr>
        <p:txBody>
          <a:bodyPr/>
          <a:lstStyle/>
          <a:p>
            <a:endParaRPr lang="en-DE"/>
          </a:p>
        </p:txBody>
      </p:sp>
      <p:sp>
        <p:nvSpPr>
          <p:cNvPr id="11" name="Text 9"/>
          <p:cNvSpPr/>
          <p:nvPr/>
        </p:nvSpPr>
        <p:spPr>
          <a:xfrm>
            <a:off x="960120" y="340156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3310128"/>
            <a:ext cx="9677095" cy="32004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Der Emulator hat kein Mikrofon</a:t>
            </a:r>
            <a:endParaRPr lang="en-US" sz="1500" dirty="0"/>
          </a:p>
        </p:txBody>
      </p:sp>
      <p:sp>
        <p:nvSpPr>
          <p:cNvPr id="13" name="Text 11"/>
          <p:cNvSpPr/>
          <p:nvPr/>
        </p:nvSpPr>
        <p:spPr>
          <a:xfrm>
            <a:off x="1508760" y="3657600"/>
            <a:ext cx="9677095" cy="731520"/>
          </a:xfrm>
          <a:prstGeom prst="rect">
            <a:avLst/>
          </a:prstGeom>
          <a:noFill/>
          <a:ln/>
        </p:spPr>
        <p:txBody>
          <a:bodyPr wrap="square" lIns="0" tIns="0" rIns="0" bIns="0" rtlCol="0" anchor="t"/>
          <a:lstStyle/>
          <a:p>
            <a:pPr marL="0" indent="0">
              <a:buNone/>
            </a:pPr>
            <a:r>
              <a:rPr lang="en-US" sz="1250" dirty="0">
                <a:solidFill>
                  <a:srgbClr val="374151"/>
                </a:solidFill>
                <a:latin typeface="Calibri" pitchFamily="34" charset="0"/>
                <a:ea typeface="Calibri" pitchFamily="34" charset="-122"/>
                <a:cs typeface="Calibri" pitchFamily="34" charset="-120"/>
              </a:rPr>
              <a:t>Die Audioeingabe des Emulators ist standardmäßig abgeschaltet und muss erst auf das Mikrofon des Rechners umgeleitet werden. Für belastbare Aussagen zur Aufnahmequalität führt trotzdem kein Weg an echter Hardware vorbei — die Aufgabenstellung sagt das nicht ohne Grund.</a:t>
            </a:r>
            <a:endParaRPr lang="en-US" sz="1250" dirty="0"/>
          </a:p>
        </p:txBody>
      </p:sp>
      <p:sp>
        <p:nvSpPr>
          <p:cNvPr id="14" name="Shape 12"/>
          <p:cNvSpPr/>
          <p:nvPr/>
        </p:nvSpPr>
        <p:spPr>
          <a:xfrm>
            <a:off x="640080" y="4617720"/>
            <a:ext cx="10911535" cy="1371600"/>
          </a:xfrm>
          <a:prstGeom prst="roundRect">
            <a:avLst>
              <a:gd name="adj" fmla="val 5333"/>
            </a:avLst>
          </a:prstGeom>
          <a:solidFill>
            <a:srgbClr val="F4F5F7"/>
          </a:solidFill>
          <a:ln/>
        </p:spPr>
        <p:txBody>
          <a:bodyPr/>
          <a:lstStyle/>
          <a:p>
            <a:endParaRPr lang="en-DE"/>
          </a:p>
        </p:txBody>
      </p:sp>
      <p:sp>
        <p:nvSpPr>
          <p:cNvPr id="15" name="Shape 13"/>
          <p:cNvSpPr/>
          <p:nvPr/>
        </p:nvSpPr>
        <p:spPr>
          <a:xfrm>
            <a:off x="960120" y="4910328"/>
            <a:ext cx="384048" cy="384048"/>
          </a:xfrm>
          <a:prstGeom prst="ellipse">
            <a:avLst/>
          </a:prstGeom>
          <a:solidFill>
            <a:srgbClr val="2F6FED"/>
          </a:solidFill>
          <a:ln/>
        </p:spPr>
        <p:txBody>
          <a:bodyPr/>
          <a:lstStyle/>
          <a:p>
            <a:endParaRPr lang="en-DE"/>
          </a:p>
        </p:txBody>
      </p:sp>
      <p:sp>
        <p:nvSpPr>
          <p:cNvPr id="16" name="Text 14"/>
          <p:cNvSpPr/>
          <p:nvPr/>
        </p:nvSpPr>
        <p:spPr>
          <a:xfrm>
            <a:off x="960120" y="491032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508760" y="4818888"/>
            <a:ext cx="9677095" cy="320040"/>
          </a:xfrm>
          <a:prstGeom prst="rect">
            <a:avLst/>
          </a:prstGeom>
          <a:noFill/>
          <a:ln/>
        </p:spPr>
        <p:txBody>
          <a:bodyPr wrap="square" lIns="0" tIns="0" rIns="0" bIns="0" rtlCol="0" anchor="ctr"/>
          <a:lstStyle/>
          <a:p>
            <a:pPr marL="0" indent="0">
              <a:buNone/>
            </a:pPr>
            <a:r>
              <a:rPr lang="en-US" sz="1500" b="1" dirty="0">
                <a:solidFill>
                  <a:srgbClr val="111827"/>
                </a:solidFill>
                <a:latin typeface="Calibri" pitchFamily="34" charset="0"/>
                <a:ea typeface="Calibri" pitchFamily="34" charset="-122"/>
                <a:cs typeface="Calibri" pitchFamily="34" charset="-120"/>
              </a:rPr>
              <a:t>Aufnahmen landen zuerst im Zwischenspeicher</a:t>
            </a:r>
            <a:endParaRPr lang="en-US" sz="1500" dirty="0"/>
          </a:p>
        </p:txBody>
      </p:sp>
      <p:sp>
        <p:nvSpPr>
          <p:cNvPr id="18" name="Text 16"/>
          <p:cNvSpPr/>
          <p:nvPr/>
        </p:nvSpPr>
        <p:spPr>
          <a:xfrm>
            <a:off x="1508760" y="5166360"/>
            <a:ext cx="9677095" cy="731520"/>
          </a:xfrm>
          <a:prstGeom prst="rect">
            <a:avLst/>
          </a:prstGeom>
          <a:noFill/>
          <a:ln/>
        </p:spPr>
        <p:txBody>
          <a:bodyPr wrap="square" lIns="0" tIns="0" rIns="0" bIns="0" rtlCol="0" anchor="t"/>
          <a:lstStyle/>
          <a:p>
            <a:pPr marL="0" indent="0">
              <a:buNone/>
            </a:pPr>
            <a:r>
              <a:rPr lang="en-US" sz="1250" dirty="0">
                <a:solidFill>
                  <a:srgbClr val="374151"/>
                </a:solidFill>
                <a:latin typeface="Calibri" pitchFamily="34" charset="0"/>
                <a:ea typeface="Calibri" pitchFamily="34" charset="-122"/>
                <a:cs typeface="Calibri" pitchFamily="34" charset="-120"/>
              </a:rPr>
              <a:t>Das Recorder-Plugin schreibt in einen Bereich, den Android jederzeit leeren darf. Wer die Datei dort liegen lässt, verliert sie irgendwann. Der Umweg über Kopieren und Umbenennen ist kein Selbstzweck, sondern die Bedingung für Persistenz.</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111827"/>
                </a:solidFill>
                <a:latin typeface="Cambria" pitchFamily="34" charset="0"/>
                <a:ea typeface="Cambria" pitchFamily="34" charset="-122"/>
                <a:cs typeface="Cambria" pitchFamily="34" charset="-120"/>
              </a:rPr>
              <a:t>Was wir gerne noch gemacht hätten</a:t>
            </a:r>
            <a:endParaRPr lang="en-US" sz="3200" dirty="0"/>
          </a:p>
        </p:txBody>
      </p:sp>
      <p:sp>
        <p:nvSpPr>
          <p:cNvPr id="4" name="Shape 2"/>
          <p:cNvSpPr/>
          <p:nvPr/>
        </p:nvSpPr>
        <p:spPr>
          <a:xfrm>
            <a:off x="640080" y="1645920"/>
            <a:ext cx="5227168" cy="4023360"/>
          </a:xfrm>
          <a:prstGeom prst="roundRect">
            <a:avLst>
              <a:gd name="adj" fmla="val 1818"/>
            </a:avLst>
          </a:prstGeom>
          <a:solidFill>
            <a:srgbClr val="F4F5F7"/>
          </a:solidFill>
          <a:ln/>
        </p:spPr>
        <p:txBody>
          <a:bodyPr/>
          <a:lstStyle/>
          <a:p>
            <a:endParaRPr lang="en-DE"/>
          </a:p>
        </p:txBody>
      </p:sp>
      <p:sp>
        <p:nvSpPr>
          <p:cNvPr id="5" name="Text 3"/>
          <p:cNvSpPr/>
          <p:nvPr/>
        </p:nvSpPr>
        <p:spPr>
          <a:xfrm>
            <a:off x="960120" y="1874520"/>
            <a:ext cx="4587088" cy="365760"/>
          </a:xfrm>
          <a:prstGeom prst="rect">
            <a:avLst/>
          </a:prstGeom>
          <a:noFill/>
          <a:ln/>
        </p:spPr>
        <p:txBody>
          <a:bodyPr wrap="square" lIns="0" tIns="0" rIns="0" bIns="0" rtlCol="0" anchor="ctr"/>
          <a:lstStyle/>
          <a:p>
            <a:pPr marL="0" indent="0">
              <a:buNone/>
            </a:pPr>
            <a:r>
              <a:rPr lang="en-US" sz="1600" b="1" dirty="0">
                <a:solidFill>
                  <a:srgbClr val="111827"/>
                </a:solidFill>
                <a:latin typeface="Calibri" pitchFamily="34" charset="0"/>
                <a:ea typeface="Calibri" pitchFamily="34" charset="-122"/>
                <a:cs typeface="Calibri" pitchFamily="34" charset="-120"/>
              </a:rPr>
              <a:t>Der Wunsch: dieselbe App für iOS</a:t>
            </a:r>
            <a:endParaRPr lang="en-US" sz="1600" dirty="0"/>
          </a:p>
        </p:txBody>
      </p:sp>
      <p:sp>
        <p:nvSpPr>
          <p:cNvPr id="6" name="Text 4"/>
          <p:cNvSpPr/>
          <p:nvPr/>
        </p:nvSpPr>
        <p:spPr>
          <a:xfrm>
            <a:off x="960120" y="2331720"/>
            <a:ext cx="4587088" cy="3108960"/>
          </a:xfrm>
          <a:prstGeom prst="rect">
            <a:avLst/>
          </a:prstGeom>
          <a:noFill/>
          <a:ln/>
        </p:spPr>
        <p:txBody>
          <a:bodyPr wrap="square" lIns="0" tIns="0" rIns="0" bIns="0" rtlCol="0" anchor="t"/>
          <a:lstStyle/>
          <a:p>
            <a:pPr marL="0" indent="0">
              <a:buNone/>
            </a:pPr>
            <a:r>
              <a:rPr lang="de-DE" sz="1350" noProof="0" dirty="0">
                <a:solidFill>
                  <a:srgbClr val="374151"/>
                </a:solidFill>
                <a:latin typeface="Calibri" pitchFamily="34" charset="0"/>
                <a:ea typeface="Calibri" pitchFamily="34" charset="-122"/>
                <a:cs typeface="Calibri" pitchFamily="34" charset="-120"/>
              </a:rPr>
              <a:t>Genau hier zeigt sich der Vorteil des hybriden Ansatzes. Alle fünf eingesetzten Plugins unterstützen neben Android auch iOS. Der bestehende Anwendungscode hätte dafür nur minimale Anpassungen erfordert.  </a:t>
            </a:r>
          </a:p>
          <a:p>
            <a:pPr marL="0" indent="0">
              <a:buNone/>
            </a:pPr>
            <a:endParaRPr lang="de-DE" sz="1350" noProof="0" dirty="0">
              <a:solidFill>
                <a:srgbClr val="374151"/>
              </a:solidFill>
              <a:latin typeface="Calibri" pitchFamily="34" charset="0"/>
              <a:ea typeface="Calibri" pitchFamily="34" charset="-122"/>
              <a:cs typeface="Calibri" pitchFamily="34" charset="-120"/>
            </a:endParaRPr>
          </a:p>
          <a:p>
            <a:pPr marL="0" indent="0">
              <a:buNone/>
            </a:pPr>
            <a:r>
              <a:rPr lang="de-DE" sz="1350" noProof="0" dirty="0">
                <a:solidFill>
                  <a:srgbClr val="374151"/>
                </a:solidFill>
                <a:latin typeface="Calibri" pitchFamily="34" charset="0"/>
                <a:ea typeface="Calibri" pitchFamily="34" charset="-122"/>
                <a:cs typeface="Calibri" pitchFamily="34" charset="-120"/>
              </a:rPr>
              <a:t>Damit wäre die App mit einer gemeinsamen Codebasis auf zwei Betriebssystemen lauffähig gewesen und hätte die Plattformunabhängigkeit des Ansatzes unmittelbar demonstriert.  </a:t>
            </a:r>
            <a:endParaRPr lang="de-DE" sz="1350" noProof="0" dirty="0"/>
          </a:p>
        </p:txBody>
      </p:sp>
      <p:sp>
        <p:nvSpPr>
          <p:cNvPr id="7" name="Shape 5"/>
          <p:cNvSpPr/>
          <p:nvPr/>
        </p:nvSpPr>
        <p:spPr>
          <a:xfrm>
            <a:off x="6324448" y="1645920"/>
            <a:ext cx="5227168" cy="4023360"/>
          </a:xfrm>
          <a:prstGeom prst="roundRect">
            <a:avLst>
              <a:gd name="adj" fmla="val 1818"/>
            </a:avLst>
          </a:prstGeom>
          <a:solidFill>
            <a:srgbClr val="0F1419"/>
          </a:solidFill>
          <a:ln/>
        </p:spPr>
        <p:txBody>
          <a:bodyPr/>
          <a:lstStyle/>
          <a:p>
            <a:endParaRPr lang="en-DE" dirty="0"/>
          </a:p>
        </p:txBody>
      </p:sp>
      <p:sp>
        <p:nvSpPr>
          <p:cNvPr id="8" name="Text 6"/>
          <p:cNvSpPr/>
          <p:nvPr/>
        </p:nvSpPr>
        <p:spPr>
          <a:xfrm>
            <a:off x="6644488" y="1874520"/>
            <a:ext cx="4587088"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Die Hürde: Geräteabhängigkeit</a:t>
            </a:r>
            <a:endParaRPr lang="en-US" sz="1600" dirty="0"/>
          </a:p>
        </p:txBody>
      </p:sp>
      <p:sp>
        <p:nvSpPr>
          <p:cNvPr id="9" name="Text 7"/>
          <p:cNvSpPr/>
          <p:nvPr/>
        </p:nvSpPr>
        <p:spPr>
          <a:xfrm>
            <a:off x="6644488" y="2331720"/>
            <a:ext cx="4587088" cy="3108960"/>
          </a:xfrm>
          <a:prstGeom prst="rect">
            <a:avLst/>
          </a:prstGeom>
          <a:noFill/>
          <a:ln/>
        </p:spPr>
        <p:txBody>
          <a:bodyPr wrap="square" lIns="0" tIns="0" rIns="0" bIns="0" rtlCol="0" anchor="t"/>
          <a:lstStyle/>
          <a:p>
            <a:pPr marL="342900" indent="-342900">
              <a:spcAft>
                <a:spcPts val="1200"/>
              </a:spcAft>
              <a:buSzPct val="100000"/>
              <a:buChar char="•"/>
            </a:pPr>
            <a:r>
              <a:rPr lang="de-DE" sz="1350" noProof="0" dirty="0">
                <a:solidFill>
                  <a:srgbClr val="E5E7EB"/>
                </a:solidFill>
                <a:latin typeface="Calibri" pitchFamily="34" charset="0"/>
                <a:ea typeface="Calibri" pitchFamily="34" charset="-122"/>
                <a:cs typeface="Calibri" pitchFamily="34" charset="-120"/>
              </a:rPr>
              <a:t>Die Erstellung eines iOS-</a:t>
            </a:r>
            <a:r>
              <a:rPr lang="de-DE" sz="1350" noProof="0" dirty="0" err="1">
                <a:solidFill>
                  <a:srgbClr val="E5E7EB"/>
                </a:solidFill>
                <a:latin typeface="Calibri" pitchFamily="34" charset="0"/>
                <a:ea typeface="Calibri" pitchFamily="34" charset="-122"/>
                <a:cs typeface="Calibri" pitchFamily="34" charset="-120"/>
              </a:rPr>
              <a:t>Builds</a:t>
            </a:r>
            <a:r>
              <a:rPr lang="de-DE" sz="1350" noProof="0" dirty="0">
                <a:solidFill>
                  <a:srgbClr val="E5E7EB"/>
                </a:solidFill>
                <a:latin typeface="Calibri" pitchFamily="34" charset="0"/>
                <a:ea typeface="Calibri" pitchFamily="34" charset="-122"/>
                <a:cs typeface="Calibri" pitchFamily="34" charset="-120"/>
              </a:rPr>
              <a:t> ist ausschließlich auf </a:t>
            </a:r>
            <a:r>
              <a:rPr lang="de-DE" sz="1350" noProof="0" dirty="0" err="1">
                <a:solidFill>
                  <a:srgbClr val="E5E7EB"/>
                </a:solidFill>
                <a:latin typeface="Calibri" pitchFamily="34" charset="0"/>
                <a:ea typeface="Calibri" pitchFamily="34" charset="-122"/>
                <a:cs typeface="Calibri" pitchFamily="34" charset="-120"/>
              </a:rPr>
              <a:t>macOS</a:t>
            </a:r>
            <a:r>
              <a:rPr lang="de-DE" sz="1350" noProof="0" dirty="0">
                <a:solidFill>
                  <a:srgbClr val="E5E7EB"/>
                </a:solidFill>
                <a:latin typeface="Calibri" pitchFamily="34" charset="0"/>
                <a:ea typeface="Calibri" pitchFamily="34" charset="-122"/>
                <a:cs typeface="Calibri" pitchFamily="34" charset="-120"/>
              </a:rPr>
              <a:t> möglich und technisch vorgegeben.  </a:t>
            </a:r>
            <a:endParaRPr lang="de-DE" sz="1350" noProof="0" dirty="0"/>
          </a:p>
          <a:p>
            <a:pPr marL="342900" indent="-342900">
              <a:spcAft>
                <a:spcPts val="1200"/>
              </a:spcAft>
              <a:buSzPct val="100000"/>
              <a:buChar char="•"/>
            </a:pPr>
            <a:r>
              <a:rPr lang="de-DE" sz="1350" noProof="0" dirty="0">
                <a:solidFill>
                  <a:srgbClr val="E5E7EB"/>
                </a:solidFill>
                <a:latin typeface="Calibri" pitchFamily="34" charset="0"/>
                <a:ea typeface="Calibri" pitchFamily="34" charset="-122"/>
                <a:cs typeface="Calibri" pitchFamily="34" charset="-120"/>
              </a:rPr>
              <a:t>Zum Testen der Aufnahme braucht es zusätzlich ein iPhone</a:t>
            </a:r>
            <a:endParaRPr lang="de-DE" sz="1350" noProof="0" dirty="0"/>
          </a:p>
          <a:p>
            <a:pPr marL="342900" indent="-342900">
              <a:spcAft>
                <a:spcPts val="1200"/>
              </a:spcAft>
              <a:buSzPct val="100000"/>
              <a:buChar char="•"/>
            </a:pPr>
            <a:r>
              <a:rPr lang="de-DE" sz="1350" noProof="0" dirty="0">
                <a:solidFill>
                  <a:srgbClr val="E5E7EB"/>
                </a:solidFill>
                <a:latin typeface="Calibri" pitchFamily="34" charset="0"/>
                <a:ea typeface="Calibri" pitchFamily="34" charset="-122"/>
                <a:cs typeface="Calibri" pitchFamily="34" charset="-120"/>
              </a:rPr>
              <a:t>Auch unter Android war die Aussagekraft des Emulators begrenzt, weshalb die Tests auf einem realen Endgerät durchgeführt wurden.  </a:t>
            </a:r>
            <a:endParaRPr lang="de-DE" sz="1350" noProof="0" dirty="0"/>
          </a:p>
        </p:txBody>
      </p:sp>
      <p:sp>
        <p:nvSpPr>
          <p:cNvPr id="10" name="Text 8"/>
          <p:cNvSpPr/>
          <p:nvPr/>
        </p:nvSpPr>
        <p:spPr>
          <a:xfrm>
            <a:off x="640080" y="5897880"/>
            <a:ext cx="10911535" cy="365760"/>
          </a:xfrm>
          <a:prstGeom prst="rect">
            <a:avLst/>
          </a:prstGeom>
          <a:noFill/>
          <a:ln/>
        </p:spPr>
        <p:txBody>
          <a:bodyPr wrap="square" lIns="0" tIns="0" rIns="0" bIns="0" rtlCol="0" anchor="ctr"/>
          <a:lstStyle/>
          <a:p>
            <a:pPr marL="0" indent="0">
              <a:buNone/>
            </a:pPr>
            <a:r>
              <a:rPr lang="en-US" sz="1300" i="1" dirty="0">
                <a:solidFill>
                  <a:srgbClr val="6B7280"/>
                </a:solidFill>
                <a:latin typeface="Calibri" pitchFamily="34" charset="0"/>
                <a:ea typeface="Calibri" pitchFamily="34" charset="-122"/>
                <a:cs typeface="Calibri" pitchFamily="34" charset="-120"/>
              </a:rPr>
              <a:t>Der Nutzen der Plattformunabhängigkeit endet dort, wo die Hardware zum Bauen und Testen fehlt.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0F1419"/>
        </a:solidFill>
        <a:effectLst/>
      </p:bgPr>
    </p:bg>
    <p:spTree>
      <p:nvGrpSpPr>
        <p:cNvPr id="1" name=""/>
        <p:cNvGrpSpPr/>
        <p:nvPr/>
      </p:nvGrpSpPr>
      <p:grpSpPr>
        <a:xfrm>
          <a:off x="0" y="0"/>
          <a:ext cx="0" cy="0"/>
          <a:chOff x="0" y="0"/>
          <a:chExt cx="0" cy="0"/>
        </a:xfrm>
      </p:grpSpPr>
      <p:sp>
        <p:nvSpPr>
          <p:cNvPr id="2" name="Shape 0"/>
          <p:cNvSpPr/>
          <p:nvPr/>
        </p:nvSpPr>
        <p:spPr>
          <a:xfrm>
            <a:off x="640080" y="566928"/>
            <a:ext cx="155448" cy="155448"/>
          </a:xfrm>
          <a:prstGeom prst="ellipse">
            <a:avLst/>
          </a:prstGeom>
          <a:solidFill>
            <a:srgbClr val="E23E3E"/>
          </a:solidFill>
          <a:ln/>
        </p:spPr>
        <p:txBody>
          <a:bodyPr/>
          <a:lstStyle/>
          <a:p>
            <a:endParaRPr lang="en-DE"/>
          </a:p>
        </p:txBody>
      </p:sp>
      <p:sp>
        <p:nvSpPr>
          <p:cNvPr id="3" name="Text 1"/>
          <p:cNvSpPr/>
          <p:nvPr/>
        </p:nvSpPr>
        <p:spPr>
          <a:xfrm>
            <a:off x="932688" y="384048"/>
            <a:ext cx="10618927" cy="54864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Was wir mitnehmen</a:t>
            </a:r>
            <a:endParaRPr lang="en-US" sz="3200" dirty="0"/>
          </a:p>
        </p:txBody>
      </p:sp>
      <p:sp>
        <p:nvSpPr>
          <p:cNvPr id="4" name="Shape 2"/>
          <p:cNvSpPr/>
          <p:nvPr/>
        </p:nvSpPr>
        <p:spPr>
          <a:xfrm>
            <a:off x="640080" y="1600200"/>
            <a:ext cx="384048" cy="384048"/>
          </a:xfrm>
          <a:prstGeom prst="ellipse">
            <a:avLst/>
          </a:prstGeom>
          <a:solidFill>
            <a:srgbClr val="E23E3E"/>
          </a:solidFill>
          <a:ln/>
        </p:spPr>
        <p:txBody>
          <a:bodyPr/>
          <a:lstStyle/>
          <a:p>
            <a:endParaRPr lang="en-DE"/>
          </a:p>
        </p:txBody>
      </p:sp>
      <p:sp>
        <p:nvSpPr>
          <p:cNvPr id="5" name="Text 3"/>
          <p:cNvSpPr/>
          <p:nvPr/>
        </p:nvSpPr>
        <p:spPr>
          <a:xfrm>
            <a:off x="640080" y="1600200"/>
            <a:ext cx="384048" cy="384048"/>
          </a:xfrm>
          <a:prstGeom prst="rect">
            <a:avLst/>
          </a:prstGeom>
          <a:noFill/>
          <a:ln/>
        </p:spPr>
        <p:txBody>
          <a:bodyPr wrap="square" lIns="0" tIns="0" rIns="0" bIns="0" rtlCol="0" anchor="ctr"/>
          <a:lstStyle/>
          <a:p>
            <a:pPr marL="0" indent="0" algn="ctr">
              <a:buNone/>
            </a:pPr>
            <a:endParaRPr lang="en-US" sz="1500" dirty="0"/>
          </a:p>
        </p:txBody>
      </p:sp>
      <p:sp>
        <p:nvSpPr>
          <p:cNvPr id="6" name="Text 4"/>
          <p:cNvSpPr/>
          <p:nvPr/>
        </p:nvSpPr>
        <p:spPr>
          <a:xfrm>
            <a:off x="1188720" y="1581912"/>
            <a:ext cx="4678528" cy="41148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Die Aufgabenstellung ist das Abnahmekriterium</a:t>
            </a:r>
            <a:endParaRPr lang="en-US" sz="1450" dirty="0"/>
          </a:p>
        </p:txBody>
      </p:sp>
      <p:sp>
        <p:nvSpPr>
          <p:cNvPr id="7" name="Text 5"/>
          <p:cNvSpPr/>
          <p:nvPr/>
        </p:nvSpPr>
        <p:spPr>
          <a:xfrm>
            <a:off x="1188720" y="2011680"/>
            <a:ext cx="4678528" cy="868680"/>
          </a:xfrm>
          <a:prstGeom prst="rect">
            <a:avLst/>
          </a:prstGeom>
          <a:noFill/>
          <a:ln/>
        </p:spPr>
        <p:txBody>
          <a:bodyPr wrap="square" lIns="0" tIns="0" rIns="0" bIns="0" rtlCol="0" anchor="t"/>
          <a:lstStyle/>
          <a:p>
            <a:pPr marL="0" indent="0">
              <a:buNone/>
            </a:pPr>
            <a:r>
              <a:rPr lang="en-US" sz="1250" dirty="0">
                <a:solidFill>
                  <a:srgbClr val="9AA4B2"/>
                </a:solidFill>
                <a:latin typeface="Calibri" pitchFamily="34" charset="0"/>
                <a:ea typeface="Calibri" pitchFamily="34" charset="-122"/>
                <a:cs typeface="Calibri" pitchFamily="34" charset="-120"/>
              </a:rPr>
              <a:t>Nicht die laufende App. Wir haben nach der Kurskorrektur jede Anforderung einzeln gegen den Code geprüft.</a:t>
            </a:r>
            <a:endParaRPr lang="en-US" sz="1250" dirty="0"/>
          </a:p>
        </p:txBody>
      </p:sp>
      <p:sp>
        <p:nvSpPr>
          <p:cNvPr id="8" name="Shape 6"/>
          <p:cNvSpPr/>
          <p:nvPr/>
        </p:nvSpPr>
        <p:spPr>
          <a:xfrm>
            <a:off x="6324448" y="1600200"/>
            <a:ext cx="384048" cy="384048"/>
          </a:xfrm>
          <a:prstGeom prst="ellipse">
            <a:avLst/>
          </a:prstGeom>
          <a:solidFill>
            <a:srgbClr val="2F6FED"/>
          </a:solidFill>
          <a:ln/>
        </p:spPr>
        <p:txBody>
          <a:bodyPr/>
          <a:lstStyle/>
          <a:p>
            <a:endParaRPr lang="en-DE"/>
          </a:p>
        </p:txBody>
      </p:sp>
      <p:sp>
        <p:nvSpPr>
          <p:cNvPr id="9" name="Text 7"/>
          <p:cNvSpPr/>
          <p:nvPr/>
        </p:nvSpPr>
        <p:spPr>
          <a:xfrm>
            <a:off x="6324448" y="1600200"/>
            <a:ext cx="384048" cy="384048"/>
          </a:xfrm>
          <a:prstGeom prst="rect">
            <a:avLst/>
          </a:prstGeom>
          <a:noFill/>
          <a:ln/>
        </p:spPr>
        <p:txBody>
          <a:bodyPr wrap="square" lIns="0" tIns="0" rIns="0" bIns="0" rtlCol="0" anchor="ctr"/>
          <a:lstStyle/>
          <a:p>
            <a:pPr marL="0" indent="0" algn="ctr">
              <a:buNone/>
            </a:pPr>
            <a:endParaRPr lang="en-US" sz="1500" dirty="0"/>
          </a:p>
        </p:txBody>
      </p:sp>
      <p:sp>
        <p:nvSpPr>
          <p:cNvPr id="10" name="Text 8"/>
          <p:cNvSpPr/>
          <p:nvPr/>
        </p:nvSpPr>
        <p:spPr>
          <a:xfrm>
            <a:off x="6873088" y="1581912"/>
            <a:ext cx="4678528" cy="41148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KI-Agenten liefern Vorschläge, keine Ergebnisse</a:t>
            </a:r>
            <a:endParaRPr lang="en-US" sz="1450" dirty="0"/>
          </a:p>
        </p:txBody>
      </p:sp>
      <p:sp>
        <p:nvSpPr>
          <p:cNvPr id="11" name="Text 9"/>
          <p:cNvSpPr/>
          <p:nvPr/>
        </p:nvSpPr>
        <p:spPr>
          <a:xfrm>
            <a:off x="6873088" y="2011680"/>
            <a:ext cx="4678528" cy="868680"/>
          </a:xfrm>
          <a:prstGeom prst="rect">
            <a:avLst/>
          </a:prstGeom>
          <a:noFill/>
          <a:ln/>
        </p:spPr>
        <p:txBody>
          <a:bodyPr wrap="square" lIns="0" tIns="0" rIns="0" bIns="0" rtlCol="0" anchor="t"/>
          <a:lstStyle/>
          <a:p>
            <a:pPr marL="0" indent="0">
              <a:buNone/>
            </a:pPr>
            <a:r>
              <a:rPr lang="de-DE" sz="1250" noProof="0" dirty="0">
                <a:solidFill>
                  <a:srgbClr val="9AA4B2"/>
                </a:solidFill>
                <a:latin typeface="Calibri" pitchFamily="34" charset="0"/>
                <a:ea typeface="Calibri" pitchFamily="34" charset="-122"/>
                <a:cs typeface="Calibri" pitchFamily="34" charset="-120"/>
              </a:rPr>
              <a:t>Sie sind stark beim Überblick und bei Routinearbeit, während die fachliche Abnahme bei uns bleibt.  </a:t>
            </a:r>
            <a:endParaRPr lang="de-DE" sz="1250" noProof="0" dirty="0"/>
          </a:p>
        </p:txBody>
      </p:sp>
      <p:sp>
        <p:nvSpPr>
          <p:cNvPr id="12" name="Shape 10"/>
          <p:cNvSpPr/>
          <p:nvPr/>
        </p:nvSpPr>
        <p:spPr>
          <a:xfrm>
            <a:off x="640080" y="3108960"/>
            <a:ext cx="384048" cy="384048"/>
          </a:xfrm>
          <a:prstGeom prst="ellipse">
            <a:avLst/>
          </a:prstGeom>
          <a:solidFill>
            <a:srgbClr val="E23E3E"/>
          </a:solidFill>
          <a:ln/>
        </p:spPr>
        <p:txBody>
          <a:bodyPr/>
          <a:lstStyle/>
          <a:p>
            <a:endParaRPr lang="en-DE"/>
          </a:p>
        </p:txBody>
      </p:sp>
      <p:sp>
        <p:nvSpPr>
          <p:cNvPr id="13" name="Text 11"/>
          <p:cNvSpPr/>
          <p:nvPr/>
        </p:nvSpPr>
        <p:spPr>
          <a:xfrm>
            <a:off x="640080" y="3108960"/>
            <a:ext cx="384048" cy="384048"/>
          </a:xfrm>
          <a:prstGeom prst="rect">
            <a:avLst/>
          </a:prstGeom>
          <a:noFill/>
          <a:ln/>
        </p:spPr>
        <p:txBody>
          <a:bodyPr wrap="square" lIns="0" tIns="0" rIns="0" bIns="0" rtlCol="0" anchor="ctr"/>
          <a:lstStyle/>
          <a:p>
            <a:pPr marL="0" indent="0" algn="ctr">
              <a:buNone/>
            </a:pPr>
            <a:endParaRPr lang="en-US" sz="1500" dirty="0"/>
          </a:p>
        </p:txBody>
      </p:sp>
      <p:sp>
        <p:nvSpPr>
          <p:cNvPr id="14" name="Text 12"/>
          <p:cNvSpPr/>
          <p:nvPr/>
        </p:nvSpPr>
        <p:spPr>
          <a:xfrm>
            <a:off x="1188720" y="3090672"/>
            <a:ext cx="4678528" cy="41148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Fehlermeldungen zeigen das Symptom, nicht die Ursache</a:t>
            </a:r>
            <a:endParaRPr lang="en-US" sz="1450" dirty="0"/>
          </a:p>
        </p:txBody>
      </p:sp>
      <p:sp>
        <p:nvSpPr>
          <p:cNvPr id="15" name="Text 13"/>
          <p:cNvSpPr/>
          <p:nvPr/>
        </p:nvSpPr>
        <p:spPr>
          <a:xfrm>
            <a:off x="1188720" y="3520440"/>
            <a:ext cx="4678528" cy="868680"/>
          </a:xfrm>
          <a:prstGeom prst="rect">
            <a:avLst/>
          </a:prstGeom>
          <a:noFill/>
          <a:ln/>
        </p:spPr>
        <p:txBody>
          <a:bodyPr wrap="square" lIns="0" tIns="0" rIns="0" bIns="0" rtlCol="0" anchor="t"/>
          <a:lstStyle/>
          <a:p>
            <a:pPr marL="0" indent="0">
              <a:buNone/>
            </a:pPr>
            <a:r>
              <a:rPr lang="en-US" sz="1250" dirty="0">
                <a:solidFill>
                  <a:srgbClr val="9AA4B2"/>
                </a:solidFill>
                <a:latin typeface="Calibri" pitchFamily="34" charset="0"/>
                <a:ea typeface="Calibri" pitchFamily="34" charset="-122"/>
                <a:cs typeface="Calibri" pitchFamily="34" charset="-120"/>
              </a:rPr>
              <a:t>Ein Zertifikatsfehler, der in Wahrheit eine veraltete Adresse war, hat uns am längsten aufgehalten.</a:t>
            </a:r>
            <a:endParaRPr lang="en-US" sz="1250" dirty="0"/>
          </a:p>
        </p:txBody>
      </p:sp>
      <p:sp>
        <p:nvSpPr>
          <p:cNvPr id="16" name="Shape 14"/>
          <p:cNvSpPr/>
          <p:nvPr/>
        </p:nvSpPr>
        <p:spPr>
          <a:xfrm>
            <a:off x="6324448" y="3108960"/>
            <a:ext cx="384048" cy="384048"/>
          </a:xfrm>
          <a:prstGeom prst="ellipse">
            <a:avLst/>
          </a:prstGeom>
          <a:solidFill>
            <a:srgbClr val="2F6FED"/>
          </a:solidFill>
          <a:ln/>
        </p:spPr>
        <p:txBody>
          <a:bodyPr/>
          <a:lstStyle/>
          <a:p>
            <a:endParaRPr lang="en-DE"/>
          </a:p>
        </p:txBody>
      </p:sp>
      <p:sp>
        <p:nvSpPr>
          <p:cNvPr id="17" name="Text 15"/>
          <p:cNvSpPr/>
          <p:nvPr/>
        </p:nvSpPr>
        <p:spPr>
          <a:xfrm>
            <a:off x="6324448" y="3108960"/>
            <a:ext cx="384048" cy="384048"/>
          </a:xfrm>
          <a:prstGeom prst="rect">
            <a:avLst/>
          </a:prstGeom>
          <a:noFill/>
          <a:ln/>
        </p:spPr>
        <p:txBody>
          <a:bodyPr wrap="square" lIns="0" tIns="0" rIns="0" bIns="0" rtlCol="0" anchor="ctr"/>
          <a:lstStyle/>
          <a:p>
            <a:pPr marL="0" indent="0" algn="ctr">
              <a:buNone/>
            </a:pPr>
            <a:endParaRPr lang="en-US" sz="1500" dirty="0"/>
          </a:p>
        </p:txBody>
      </p:sp>
      <p:sp>
        <p:nvSpPr>
          <p:cNvPr id="18" name="Text 16"/>
          <p:cNvSpPr/>
          <p:nvPr/>
        </p:nvSpPr>
        <p:spPr>
          <a:xfrm>
            <a:off x="6873088" y="3090672"/>
            <a:ext cx="4678528" cy="41148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Umgebungsprobleme gehören ins Projekt gelöst</a:t>
            </a:r>
            <a:endParaRPr lang="en-US" sz="1450" dirty="0"/>
          </a:p>
        </p:txBody>
      </p:sp>
      <p:sp>
        <p:nvSpPr>
          <p:cNvPr id="19" name="Text 17"/>
          <p:cNvSpPr/>
          <p:nvPr/>
        </p:nvSpPr>
        <p:spPr>
          <a:xfrm>
            <a:off x="6873088" y="3520440"/>
            <a:ext cx="4678528" cy="868680"/>
          </a:xfrm>
          <a:prstGeom prst="rect">
            <a:avLst/>
          </a:prstGeom>
          <a:noFill/>
          <a:ln/>
        </p:spPr>
        <p:txBody>
          <a:bodyPr wrap="square" lIns="0" tIns="0" rIns="0" bIns="0" rtlCol="0" anchor="t"/>
          <a:lstStyle/>
          <a:p>
            <a:pPr marL="0" indent="0">
              <a:buNone/>
            </a:pPr>
            <a:r>
              <a:rPr lang="de-DE" sz="1250" noProof="0" dirty="0">
                <a:solidFill>
                  <a:srgbClr val="9AA4B2"/>
                </a:solidFill>
                <a:latin typeface="Calibri" pitchFamily="34" charset="0"/>
                <a:ea typeface="Calibri" pitchFamily="34" charset="-122"/>
                <a:cs typeface="Calibri" pitchFamily="34" charset="-120"/>
              </a:rPr>
              <a:t>Was auf einem Rechner klemmt, klemmt auch beim nächsten. Festschreiben statt lokal umgehen.  </a:t>
            </a:r>
            <a:endParaRPr lang="de-DE" sz="1250" noProof="0" dirty="0"/>
          </a:p>
        </p:txBody>
      </p:sp>
      <p:sp>
        <p:nvSpPr>
          <p:cNvPr id="25" name="Text 23"/>
          <p:cNvSpPr/>
          <p:nvPr/>
        </p:nvSpPr>
        <p:spPr>
          <a:xfrm>
            <a:off x="640080" y="4620375"/>
            <a:ext cx="384048" cy="384048"/>
          </a:xfrm>
          <a:prstGeom prst="rect">
            <a:avLst/>
          </a:prstGeom>
          <a:noFill/>
          <a:ln/>
        </p:spPr>
        <p:txBody>
          <a:bodyPr wrap="square" lIns="0" tIns="0" rIns="0" bIns="0" rtlCol="0" anchor="ctr"/>
          <a:lstStyle/>
          <a:p>
            <a:pPr marL="0" indent="0" algn="ctr">
              <a:buNone/>
            </a:pPr>
            <a:endParaRPr lang="en-US" sz="1500" dirty="0"/>
          </a:p>
        </p:txBody>
      </p:sp>
      <p:sp>
        <p:nvSpPr>
          <p:cNvPr id="26" name="Text 24"/>
          <p:cNvSpPr/>
          <p:nvPr/>
        </p:nvSpPr>
        <p:spPr>
          <a:xfrm>
            <a:off x="1188720" y="4602087"/>
            <a:ext cx="4678528" cy="41148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Echte Hardware ist durch nichts zu ersetzen</a:t>
            </a:r>
            <a:endParaRPr lang="en-US" sz="1450" dirty="0"/>
          </a:p>
        </p:txBody>
      </p:sp>
      <p:sp>
        <p:nvSpPr>
          <p:cNvPr id="27" name="Text 25"/>
          <p:cNvSpPr/>
          <p:nvPr/>
        </p:nvSpPr>
        <p:spPr>
          <a:xfrm>
            <a:off x="1188720" y="5031855"/>
            <a:ext cx="4678528" cy="868680"/>
          </a:xfrm>
          <a:prstGeom prst="rect">
            <a:avLst/>
          </a:prstGeom>
          <a:noFill/>
          <a:ln/>
        </p:spPr>
        <p:txBody>
          <a:bodyPr wrap="square" lIns="0" tIns="0" rIns="0" bIns="0" rtlCol="0" anchor="t"/>
          <a:lstStyle/>
          <a:p>
            <a:pPr marL="0" indent="0">
              <a:buNone/>
            </a:pPr>
            <a:r>
              <a:rPr lang="en-US" sz="1250" dirty="0">
                <a:solidFill>
                  <a:srgbClr val="9AA4B2"/>
                </a:solidFill>
                <a:latin typeface="Calibri" pitchFamily="34" charset="0"/>
                <a:ea typeface="Calibri" pitchFamily="34" charset="-122"/>
                <a:cs typeface="Calibri" pitchFamily="34" charset="-120"/>
              </a:rPr>
              <a:t>Emulatoren decken Oberfläche und Logik ab, aber nicht das Zusammenspiel mit dem Gerät.</a:t>
            </a:r>
            <a:endParaRPr lang="en-US" sz="1250" dirty="0"/>
          </a:p>
        </p:txBody>
      </p:sp>
      <p:sp>
        <p:nvSpPr>
          <p:cNvPr id="29" name="Shape 10">
            <a:extLst>
              <a:ext uri="{FF2B5EF4-FFF2-40B4-BE49-F238E27FC236}">
                <a16:creationId xmlns:a16="http://schemas.microsoft.com/office/drawing/2014/main" id="{D08AFD38-CC94-6130-B1F9-38737C1D8E71}"/>
              </a:ext>
            </a:extLst>
          </p:cNvPr>
          <p:cNvSpPr/>
          <p:nvPr/>
        </p:nvSpPr>
        <p:spPr>
          <a:xfrm>
            <a:off x="640080" y="4632764"/>
            <a:ext cx="384048" cy="384048"/>
          </a:xfrm>
          <a:prstGeom prst="ellipse">
            <a:avLst/>
          </a:prstGeom>
          <a:solidFill>
            <a:srgbClr val="E23E3E"/>
          </a:solidFill>
          <a:ln/>
        </p:spPr>
        <p:txBody>
          <a:bodyPr/>
          <a:lstStyle/>
          <a:p>
            <a:endParaRPr lang="en-D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0F1419"/>
        </a:solidFill>
        <a:effectLst/>
      </p:bgPr>
    </p:bg>
    <p:spTree>
      <p:nvGrpSpPr>
        <p:cNvPr id="1" name=""/>
        <p:cNvGrpSpPr/>
        <p:nvPr/>
      </p:nvGrpSpPr>
      <p:grpSpPr>
        <a:xfrm>
          <a:off x="0" y="0"/>
          <a:ext cx="0" cy="0"/>
          <a:chOff x="0" y="0"/>
          <a:chExt cx="0" cy="0"/>
        </a:xfrm>
      </p:grpSpPr>
      <p:sp>
        <p:nvSpPr>
          <p:cNvPr id="2" name="Shape 0"/>
          <p:cNvSpPr/>
          <p:nvPr/>
        </p:nvSpPr>
        <p:spPr>
          <a:xfrm>
            <a:off x="640080" y="1554480"/>
            <a:ext cx="365760" cy="365760"/>
          </a:xfrm>
          <a:prstGeom prst="ellipse">
            <a:avLst/>
          </a:prstGeom>
          <a:solidFill>
            <a:srgbClr val="E23E3E"/>
          </a:solidFill>
          <a:ln/>
        </p:spPr>
        <p:txBody>
          <a:bodyPr/>
          <a:lstStyle/>
          <a:p>
            <a:endParaRPr lang="en-DE"/>
          </a:p>
        </p:txBody>
      </p:sp>
      <p:sp>
        <p:nvSpPr>
          <p:cNvPr id="3" name="Text 1"/>
          <p:cNvSpPr/>
          <p:nvPr/>
        </p:nvSpPr>
        <p:spPr>
          <a:xfrm>
            <a:off x="640080" y="2057400"/>
            <a:ext cx="10911535" cy="73152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Fazit</a:t>
            </a:r>
            <a:endParaRPr lang="en-US" sz="4000" dirty="0"/>
          </a:p>
        </p:txBody>
      </p:sp>
      <p:sp>
        <p:nvSpPr>
          <p:cNvPr id="8" name="Shape 6"/>
          <p:cNvSpPr/>
          <p:nvPr/>
        </p:nvSpPr>
        <p:spPr>
          <a:xfrm>
            <a:off x="524117" y="3497581"/>
            <a:ext cx="3393338" cy="1143000"/>
          </a:xfrm>
          <a:prstGeom prst="roundRect">
            <a:avLst>
              <a:gd name="adj" fmla="val 6400"/>
            </a:avLst>
          </a:prstGeom>
          <a:solidFill>
            <a:srgbClr val="242D38"/>
          </a:solidFill>
          <a:ln/>
        </p:spPr>
        <p:txBody>
          <a:bodyPr/>
          <a:lstStyle/>
          <a:p>
            <a:endParaRPr lang="en-DE"/>
          </a:p>
        </p:txBody>
      </p:sp>
      <p:sp>
        <p:nvSpPr>
          <p:cNvPr id="9" name="Text 7"/>
          <p:cNvSpPr/>
          <p:nvPr/>
        </p:nvSpPr>
        <p:spPr>
          <a:xfrm>
            <a:off x="798437" y="3680461"/>
            <a:ext cx="2844698" cy="274320"/>
          </a:xfrm>
          <a:prstGeom prst="rect">
            <a:avLst/>
          </a:prstGeom>
          <a:noFill/>
          <a:ln/>
        </p:spPr>
        <p:txBody>
          <a:bodyPr wrap="square" lIns="0" tIns="0" rIns="0" bIns="0" rtlCol="0" anchor="ctr"/>
          <a:lstStyle/>
          <a:p>
            <a:pPr marL="0" indent="0">
              <a:buNone/>
            </a:pPr>
            <a:r>
              <a:rPr lang="en-US" sz="1150" b="1" dirty="0">
                <a:solidFill>
                  <a:srgbClr val="E23E3E"/>
                </a:solidFill>
                <a:latin typeface="Calibri" pitchFamily="34" charset="0"/>
                <a:ea typeface="Calibri" pitchFamily="34" charset="-122"/>
                <a:cs typeface="Calibri" pitchFamily="34" charset="-120"/>
              </a:rPr>
              <a:t>Offen</a:t>
            </a:r>
            <a:endParaRPr lang="en-US" sz="1150" dirty="0"/>
          </a:p>
        </p:txBody>
      </p:sp>
      <p:sp>
        <p:nvSpPr>
          <p:cNvPr id="10" name="Text 8"/>
          <p:cNvSpPr/>
          <p:nvPr/>
        </p:nvSpPr>
        <p:spPr>
          <a:xfrm>
            <a:off x="798437" y="3982213"/>
            <a:ext cx="2844698" cy="502920"/>
          </a:xfrm>
          <a:prstGeom prst="rect">
            <a:avLst/>
          </a:prstGeom>
          <a:noFill/>
          <a:ln/>
        </p:spPr>
        <p:txBody>
          <a:bodyPr wrap="square" lIns="0" tIns="0" rIns="0" bIns="0" rtlCol="0" anchor="t"/>
          <a:lstStyle/>
          <a:p>
            <a:pPr marL="0" indent="0">
              <a:buNone/>
            </a:pPr>
            <a:r>
              <a:rPr lang="en-US" sz="1300" dirty="0">
                <a:solidFill>
                  <a:srgbClr val="E5E7EB"/>
                </a:solidFill>
                <a:latin typeface="Calibri" pitchFamily="34" charset="0"/>
                <a:ea typeface="Calibri" pitchFamily="34" charset="-122"/>
                <a:cs typeface="Calibri" pitchFamily="34" charset="-120"/>
              </a:rPr>
              <a:t>iOS-Variante, sobald ein Mac verfügbar ist</a:t>
            </a:r>
            <a:endParaRPr lang="en-US" sz="1300" dirty="0"/>
          </a:p>
        </p:txBody>
      </p:sp>
      <p:sp>
        <p:nvSpPr>
          <p:cNvPr id="11" name="Shape 9"/>
          <p:cNvSpPr/>
          <p:nvPr/>
        </p:nvSpPr>
        <p:spPr>
          <a:xfrm>
            <a:off x="524117" y="4934495"/>
            <a:ext cx="3393338" cy="1143000"/>
          </a:xfrm>
          <a:prstGeom prst="roundRect">
            <a:avLst>
              <a:gd name="adj" fmla="val 6400"/>
            </a:avLst>
          </a:prstGeom>
          <a:solidFill>
            <a:srgbClr val="242D38"/>
          </a:solidFill>
          <a:ln/>
        </p:spPr>
        <p:txBody>
          <a:bodyPr/>
          <a:lstStyle/>
          <a:p>
            <a:endParaRPr lang="en-DE"/>
          </a:p>
        </p:txBody>
      </p:sp>
      <p:sp>
        <p:nvSpPr>
          <p:cNvPr id="12" name="Text 10"/>
          <p:cNvSpPr/>
          <p:nvPr/>
        </p:nvSpPr>
        <p:spPr>
          <a:xfrm>
            <a:off x="798437" y="5117375"/>
            <a:ext cx="2844698" cy="274320"/>
          </a:xfrm>
          <a:prstGeom prst="rect">
            <a:avLst/>
          </a:prstGeom>
          <a:noFill/>
          <a:ln/>
        </p:spPr>
        <p:txBody>
          <a:bodyPr wrap="square" lIns="0" tIns="0" rIns="0" bIns="0" rtlCol="0" anchor="ctr"/>
          <a:lstStyle/>
          <a:p>
            <a:pPr marL="0" indent="0">
              <a:buNone/>
            </a:pPr>
            <a:r>
              <a:rPr lang="en-US" sz="1150" b="1" dirty="0">
                <a:solidFill>
                  <a:srgbClr val="E23E3E"/>
                </a:solidFill>
                <a:latin typeface="Calibri" pitchFamily="34" charset="0"/>
                <a:ea typeface="Calibri" pitchFamily="34" charset="-122"/>
                <a:cs typeface="Calibri" pitchFamily="34" charset="-120"/>
              </a:rPr>
              <a:t>Abgabe</a:t>
            </a:r>
            <a:endParaRPr lang="en-US" sz="1150" dirty="0"/>
          </a:p>
        </p:txBody>
      </p:sp>
      <p:sp>
        <p:nvSpPr>
          <p:cNvPr id="13" name="Text 11"/>
          <p:cNvSpPr/>
          <p:nvPr/>
        </p:nvSpPr>
        <p:spPr>
          <a:xfrm>
            <a:off x="798437" y="5419127"/>
            <a:ext cx="2844698" cy="502920"/>
          </a:xfrm>
          <a:prstGeom prst="rect">
            <a:avLst/>
          </a:prstGeom>
          <a:noFill/>
          <a:ln/>
        </p:spPr>
        <p:txBody>
          <a:bodyPr wrap="square" lIns="0" tIns="0" rIns="0" bIns="0" rtlCol="0" anchor="t"/>
          <a:lstStyle/>
          <a:p>
            <a:pPr marL="0" indent="0">
              <a:buNone/>
            </a:pPr>
            <a:r>
              <a:rPr lang="en-US" sz="1300" dirty="0">
                <a:solidFill>
                  <a:srgbClr val="E5E7EB"/>
                </a:solidFill>
                <a:latin typeface="Calibri" pitchFamily="34" charset="0"/>
                <a:ea typeface="Calibri" pitchFamily="34" charset="-122"/>
                <a:cs typeface="Calibri" pitchFamily="34" charset="-120"/>
              </a:rPr>
              <a:t>Öffentliches GitHub-Repository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2898792b-c644-4207-bb78-a08f555def6c}" enabled="0" method="" siteId="{2898792b-c644-4207-bb78-a08f555def6c}" removed="1"/>
</clbl:labelList>
</file>

<file path=docProps/app.xml><?xml version="1.0" encoding="utf-8"?>
<Properties xmlns="http://schemas.openxmlformats.org/officeDocument/2006/extended-properties" xmlns:vt="http://schemas.openxmlformats.org/officeDocument/2006/docPropsVTypes">
  <TotalTime>0</TotalTime>
  <Words>1234</Words>
  <Application>Microsoft Office PowerPoint</Application>
  <PresentationFormat>Breitbild</PresentationFormat>
  <Paragraphs>196</Paragraphs>
  <Slides>14</Slides>
  <Notes>14</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14</vt:i4>
      </vt:variant>
    </vt:vector>
  </HeadingPairs>
  <TitlesOfParts>
    <vt:vector size="19" baseType="lpstr">
      <vt:lpstr>Aptos</vt: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Audio Recorder App</dc:title>
  <dc:subject>PptxGenJS Presentation</dc:subject>
  <dc:creator>Fallstudie Hybride App-Entwicklung</dc:creator>
  <cp:lastModifiedBy>Deren Ilhan</cp:lastModifiedBy>
  <cp:revision>2</cp:revision>
  <dcterms:created xsi:type="dcterms:W3CDTF">2026-08-10T20:50:00Z</dcterms:created>
  <dcterms:modified xsi:type="dcterms:W3CDTF">2026-08-13T14:27:52Z</dcterms:modified>
</cp:coreProperties>
</file>